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main title slide for the full 40‑hour training on Ethical Hacking. As the instructor, simply introduce yourself, the course name, and the overall promise of the course without going into details yet. You can briefly mention that this program will combine theory, demonstrations, and hands‑on thinking exercises about how attackers operate and how defenders can respond. Avoid explaining the agenda in depth here; later slides will unpack the structure and flow of the course.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spark curiosity and set the tone. Ask the question slowly and let it sink in: "What if you could legally think like a hacker?" Follow up with related prompts: How would that change the way you design systems, write code, or use the internet? Would your decisions about passwords, Wi‑Fi, or software updates be different? Emphasize that ethical hacking is not about causing harm, but about gaining the mindset and methods of attackers to strengthen defenses. Engage the audience: ask for a few quick responses or examples where they felt unsure if something online was safe. Do not answer the question fully yet—just build anticipation for how the course will show them structured, legal ways to adopt a hacker’s perspective to protect systems and data.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explicitly answer the curiosity question from the previous slide. Explain that ethical hacking is the disciplined practice of using hacking skills for defensive and protective purposes. Clarify that the goal is to think like an attacker so you can anticipate, detect, and mitigate attacks before real adversaries succeed. Walk through each bullet:</a:t>
            </a:r>
          </a:p>
          <a:p>
            <a:r>
              <a:t>1) Describe that attackers look for misconfigurations, weak passwords, outdated software, and design flaws, and ethical hackers mirror that process.</a:t>
            </a:r>
          </a:p>
          <a:p>
            <a:r>
              <a:t>2) Stress the importance of authorization, written permission, and compliance with laws and policies—without this, the same actions would be illegal.</a:t>
            </a:r>
          </a:p>
          <a:p>
            <a:r>
              <a:t>3) Introduce the idea of structured approaches such as penetration testing lifecycles, standardized methodologies, and reporting formats.</a:t>
            </a:r>
          </a:p>
          <a:p>
            <a:r>
              <a:t>4) Connect offensive findings (discovered vulnerabilities, misconfigurations) to concrete security improvements like patching, hardening, better monitoring, and user awareness.</a:t>
            </a:r>
          </a:p>
          <a:p>
            <a:r>
              <a:t>Set expectations: over 40 hours, learners will explore tools, techniques, and real‑world scenarios so they can apply ethical hacking principles responsibly and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section slide introduces the first major topic: an overview of ethical hacking and its context. Make clear that this block is planned for approximately 4 hours, mixing explanation, discussion, and short scenario exercises. Briefly read through the bullets to show the journey: start with definitions and motivation, then move to what ethical hackers actually do and how they operate ethically within legal frameworks, and finally examine the mindset and basic security concepts that underpin all later technical content. Emphasize that even if participants already know some terminology, this section will align everyone on common language and expectations before diving into tools and attacks.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anchor a precise definition of ethical hacking. Explain that it is a structured way of testing security by imitating methods used by real attackers, but under explicit authorization and agreed scope. Clarify that the objective is not curiosity or bragging rights, but to identify vulnerabilities so they can be fixed. Use simple examples: testing a web application for input validation flaws or checking a corporate Wi‑Fi network for weak encryption. Connect ethical hacking to organizational needs: better risk visibility, prioritization of security investments, and compliance with regulations or industry standards. Ask learners: in their environment, who would benefit from such testing? IT teams, management, auditors, or customers? Encourage them to see ethical hacking as a proactive business practice, not just a technical hobby.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the similarities and differences between ethical and malicious hackers. Both may use port scanning, exploitation frameworks, and custom scripts, but their motives and constraints are opposite. Ethical hackers operate under signed agreements, defined scope, and professional codes of conduct; malicious hackers aim to evade detection and profit from harm. Present a short scenario: two people run the same vulnerability scan against a server—one hired by the company with a contract, the other acting without knowledge or permission. Ask the group which one is legal and why. Emphasize the importance of documentation: written scope, start and end times, allowed and prohibited techniques, and reporting expectations. Reinforce that in this course, everything is discussed from the ethical and lawful perspective.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ethical hacking moves beyond checklist audits by actually demonstrating how an attacker might chain small weaknesses into a serious breach. Use an example: weak password policy plus reused credentials plus an unpatched internal application might together give full access. Describe how exercises validate whether firewalls, intrusion detection, and logging are working as planned. Emphasize that findings from ethical hacking provide concrete, prioritized recommendations—fix high‑impact issues first, then address medium and low risks. Encourage participants to think of ethical hacking as a feedback loop for improving architecture, processes, and user awareness rather than a one‑time test.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clarify what ethical hackers actually do inside organizations or as external consultants. Briefly define typical roles: penetration testers who perform focused assessments, red teamers who simulate real adversaries over time, and researchers who discover vulnerabilities in products and platforms. Stress that clear scope is critical: which systems, applications, networks, and time windows are in play, and which are strictly off‑limits (for example, production databases holding live customer data might have stricter rules). Explain how ethical hackers collaborate with defensive teams, developers, and leadership—sharing findings, explaining impact in business terms, and supporting remediation. Encourage learners to see ethical hacking as a team sport, not a solo activity.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Dive deeper into how scope is defined in practice. Explain that before any testing begins, the ethical hacker and the client agree on a list of in‑scope systems by hostname, IP range, or application name. Stress the importance of marking out‑of‑scope assets such as critical medical devices or highly sensitive production systems where even minor disruption is unacceptable. Discuss how rules of engagement specify which attack techniques are allowed (for example, no denial‑of‑service, no social engineering against customers) and what safeguards must be in place (backups, change windows, monitoring awareness). Highlight the need for clear communication: who to contact if a severe vulnerability is found, how to handle suspected real‑world attacks discovered during testing, and how results will be shared and stored securely.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an ethical hacker’s job is not finished when a vulnerability is discovered. They must communicate clearly with different audiences: technical teams need precise steps to reproduce and fix issues; management needs risk, impact, and priority; compliance teams may need evidence for audits. Give an example: a SQL injection finding should include the vulnerable parameter, sample payload, observed impact, and mitigation options such as parameterized queries and input validation. Emphasize that good collaboration builds trust and increases the likelihood that recommendations are actually implemented. Encourage learners to think beyond the exploit—to the remediation and continuous improvement cycle that strengthens security over time.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anchor the legal and ethical foundation of the course. Emphasize that many hacking techniques can be illegal if performed without proper authorization, even for educational or testing purposes. Mention that laws vary by country and region, covering unauthorized access, data protection, and misuse of tools or information. Stress that written authorization—contracts, statements of work, or internal approvals—is mandatory before testing. Introduce the idea of professional ethics: respecting privacy, minimizing disruption, protecting sensitive data, and reporting issues responsibly. Make it clear that this course does not give anyone permission to attack systems they do not own or control; instead, it teaches knowledge that must be applied within strict legal and ethical boundaries.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Reinforce that authorization is not optional. Explain that a verbal "go ahead" is not enough; there should be signed documentation stating who is authorizing the test, what is being tested, when, and under what conditions. Highlight that this documentation also covers how any collected data will be stored, who can access reports, and how long information is retained. Describe how keeping authorization records protects both the ethical hacker and the organization in case of misunderstandings, system issues, or external scrutiny. Encourage learners to make it a habit: if in doubt, pause and seek written confirmation before proceeding with any testing activity.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practical ethical guidelines that should shape every test. Emphasize privacy: only access data needed to confirm a vulnerability and avoid reading personal or sensitive content beyond what is necessary. Talk about availability: tests should be designed to reduce the risk of outages or slowdowns, especially on production systems; sometimes this means choosing safer techniques or narrower testing windows. Introduce responsible disclosure: when vulnerabilities are found, they must be reported to the right parties in a secure manner, giving them time to fix issues before details are widely shared. Encourage students to see themselves as guardians of trust—people who use powerful technical skills carefully, transparently, and in service of improved security.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shift from roles and rules into mindset and fundamentals. Explain that ethical hackers cultivate curiosity about how systems work and where assumptions might fail. They think about how features can be misused, how small oversights can combine into large weaknesses, and how real humans behave under pressure or confusion. Revisit the classic security goals—confidentiality, integrity, and availability—as the core assets attackers try to compromise. Briefly point out typical attack surfaces: user interfaces, network boundaries, APIs, authentication flows, and physical access points. Set the expectation that later sections will explore concrete examples, but for now the goal is to internalize how an attacker sees systems differently from everyday users or developers.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learners to practice thinking like an attacker. Encourage them to ask: Who does this system trust and why? What inputs can a user or external system control? What if someone deliberately violates expected use? Use examples: entering unexpected characters into a form, sending a web request out of order, or providing extremely large inputs. Describe how attackers visualize systems as graphs of components—clients, servers, databases, third‑party services—with data flowing along paths that may be monitored or unmonitored. Suggest classroom exercises: take a simple web application and ask the group to list every place data enters or leaves and what might go wrong at each boundary. Cultivating this mindset will make the technical techniques in later modules feel natural rather than mechanical.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each core security property with simple, relatable examples. For confidentiality, discuss protecting passwords, customer records, or financial data against unauthorized reading. For integrity, talk about scenarios like unauthorized changes to configuration files, database records, or log entries. For availability, illustrate with denial‑of‑service attacks or misconfigurations that make services inaccessible. Emphasize that security involves balancing these properties: a control that improves confidentiality might add friction or reduce availability. Ethical hackers should consider which properties are most critical for a given system and how attackers might target them. Encourage students to think about a system they use daily and identify which of the three properties would be most damaging if violated.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second major topic, focused on reconnaissance—the phase where ethical hackers quietly collect as much useful information as possible about their targets. Emphasize that this 6‑hour block will be hands‑on in concept, showing how to find publicly available information and how to map visible networks and services. Briefly explain that OSINT leverages search engines, social media, public records, and technical data sources. Network and service discovery involves tools and methods to find live hosts and exposed ports. Web and infrastructure footprinting aim to build a picture of application components, technologies used, and external dependencies. Stress that the quality of information gathered here heavily influences later attack planning and prioritization.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OSINT is about systematically gathering information from publicly accessible sources that anyone can reach without bypassing access controls. Show how simple search engine queries can reveal documentation, configuration files, backup archives, or misindexed pages. Introduce search operators to narrow or widen results. Discuss the value of forums, professional profiles, and social networks for learning about technologies in use, employee roles, and naming conventions. Touch on sources of leaked credentials and data—such as breach repositories—that attackers might mine. Emphasize that ethical hackers must handle any discovered personal or sensitive information carefully, report it responsibly, and avoid spreading or misusing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how search engine "dorking" uses advanced operators (such as restricting to a specific domain and filetype or searching for particular text in titles or URLs) to uncover information that site owners did not intend to expose. Provide conceptual examples, such as targeting publicly reachable configuration files, log snippets, or backup archives. Emphasize that ethical hackers must not download or open clearly sensitive files beyond what is necessary to confirm their exposure, and they should quickly report such findings. Encourage classroom exercises where students think of harmless examples, like finding public documentation or public test pages for well‑known sites, to practice seeing how much can be learned without direct interaction.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how attackers often build profiles of organizations and staff from open information. Job postings may reveal specific technologies, frameworks, or security tools in use. Employee profiles on professional networks might show expertise in particular products, giving hints about the environment. Social posts and organizational charts help map hierarchy and likely decision‑makers. Describe how naming conventions (for example, email formats) can be derived from public contact addresses and then extended to guess other usernames. Stress that ethical hackers use these insights to design realistic tests and social engineering scenarios during authorized engagements, not to intrude into private lives. Remind learners that they must respect privacy and avoid collecting unnecessary personal details.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once targets are identified, ethical hackers perform network discovery to see which systems are active and what services they expose. Conceptually describe how host discovery uses techniques to check which IP addresses respond. Service discovery then probes those addresses to see which ports accept connections, revealing services like web, mail, or databases. Banners and simple fingerprints can indicate software types and versions, which later inform vulnerability research. Stress that, in real environments, these activities must respect scope and intensity limits to avoid overwhelming networks or triggering false‑positive alarms for real incidents. Encourage learners to think of the network as a map that will be gradually filled in with more details.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at a conceptual level how host discovery works: sending lightweight probes and checking which addresses respond, while being careful not to overload networks. Mention that firewalls and intrusion prevention systems can block or alter responses, making some hosts appear offline when they are protected. Encourage comparing discovery results with documented asset lists to identify unknown or unmanaged systems that might be higher risk. Stress that in a professional engagement, the frequency and type of probes must be tailored to the environment’s tolerance and agreed with network owners in advance.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after hosts are identified, ethical hackers look at specific ports to see which services are reachable—such as web servers, file sharing, remote administration, or databases. Describe that certain port numbers are traditionally used for specific protocols, although this is not guaranteed. Discuss how some services present short introductory messages or banners when a connection is made, and these may reveal software versions, default configuration text, or company names. Stress that banner information can be extremely valuable for vulnerability research but also represents a potential information leak for defenders to minimize. Encourage learners to practice thinking about what each exposed service might imply about underlying systems and configuration practices.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web footprinting focuses on understanding how a web application is structured and what components it uses, without yet attempting to exploit anything. Ethical hackers look for all reachable pages and functions, paying attention to URLs, parameters, and navigation flows. They also try to infer which web servers, frameworks, JavaScript libraries, and third‑party services are in use, because these elements may have known weaknesses. Discuss that many applications have hidden or less obvious functions—such as administrative panels, debug endpoints, or old versions of pages—that may not be linked from the main interface but remain accessible. Stress that careful, patient mapping at this stage sets up efficient and targeted testing later.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how ethical hackers build a map of a web application: they track each unique URL, the parameters it accepts, and how users move from one page or function to another. Mention that they pay special attention to where authentication is required, which roles see which features, and how multi‑step workflows (such as checkout or registration) are structured. Emphasize that any place where a user can submit data—forms, query parameters, file uploads, API calls—is a potential input point to test later for validation and handling issues. Encourage learners to imagine drawing a simple diagram of pages and connections first, to avoid missing paths when deeper testing begins.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many clues about the technology stack appear in HTTP headers, cookies, HTML comments, and loaded resources like JavaScript and CSS files. Frameworks and libraries sometimes include distinctive file names, directory structures, or version strings. Ethical hackers use this information to know which general classes of vulnerabilities to consider and which public advisories to review. They may also check for common administrative paths or default endpoints that some frameworks create. Stress that searching for hidden components should be done cautiously, within scope, and without brute‑forcing in a way that could overload the server. Highlight that from a defender’s perspective, reducing unnecessary detail in responses can limit what an attacker can learn at this stage.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shift from raw data collection to structured analysis. Explain that effective ethical hackers do not just gather lists of hosts, ports, and URLs; they organize this information into meaningful groups, such as externally facing systems, key business applications, or legacy components. They then prioritize where to focus deeper testing based on factors like exposure to the internet, sensitivity of data handled, and apparent maturity of configuration. Encourage learners to look for patterns that hint at underlying weaknesses—for example, many outdated services or inconsistent naming conventions can point to poor asset management. Emphasize that good organization at this stage saves time later and supports clearer reporting at the end of an engagement.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reconnaissance results should be stored in a structured format—spreadsheets, simple databases, or specialized tools—rather than scattered notes. Each entry should clearly show what was found, where, and when. Encourage tagging each host or application with estimated relevance (core system versus peripheral) and potential risk based on exposure and data sensitivity. Stress that connecting technical elements to business functions (for example, identifying a server as supporting the payments portal rather than just by hostname) helps later when communicating impact. Suggest that students practice categorizing example findings to build this analytical skill.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how ethical hackers turn reconnaissance into a set of hypotheses about possible weaknesses, rather than jumping straight into arbitrary attacks. For each system or application, they ask questions: Are there outdated components? Are default services exposed? Are there complex inputs with weak validation? Use the earlier technology identification to infer common vulnerability classes associated with specific stacks. Emphasize that this approach leads to focused, efficient testing and reduces noise and unnecessary risk. Encourage trainees to see themselves not just as tool operators but as analysts forming and testing security hypotheses.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this topic as the bridge between information gathering and active exploitation. Explain that over these 6 hours, learners will conceptually explore how ethical hackers interact more directly with targets to extract detailed information and identify weaknesses. Distinguish scanning (systematic probing for open ports and basic characteristics) from enumeration (deeper extraction of service‑specific details like user accounts or shares). Describe how vulnerability assessment uses automated tools and manual checks to match observations against known issues. Stress that raw tool output is only a starting point; ethical hackers must validate findings, assess their real impact, and prioritize what to address, keeping disruption minimal and staying within scope.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clarify the difference between active and passive approaches. Active scanning involves generating network traffic—such as port scans or version checks—to learn about the target’s configuration. Passive observation relies on monitoring existing network flows or analyzing logs without directly interacting with targets. Explain trade‑offs: active methods are more complete but more detectable and potentially disruptive; passive methods are quieter but dependent on what traffic is visible. Emphasize that ethical hackers choose approaches based on engagement goals, environment sensitivity, and rules of engagement. Encourage discussion: in what environments (for example, hospital networks or industrial systems) might aggressive active scans be inappropriate?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not all active scans are equal—ethical hackers tailor how fast and how broadly they scan to minimize risk. They may use lower frequencies, longer timeouts, and smaller batches of targets, especially in fragile environments. Stress that any addresses or devices designated as too critical or off‑limits must be excluded from scan configurations. Discuss the importance of choosing appropriate times to run more intensive checks, such as during maintenance windows agreed with operations teams. Highlight that good communication with network and system administrators before and during scans helps prevent unnecessary alarms and ensures rapid response if unexpected side effects occur.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scenarios where generating additional network traffic is too risky—for example, legacy industrial control systems or life‑critical medical equipment. In such cases, passive monitoring of existing traffic, log analysis, and review of configuration files can reveal much about protocols, services, and potential weaknesses without touching the systems directly. Explain that red teams simulating stealthy attackers may also favor passive methods to avoid triggering alerts. Emphasize that effective passive analysis depends on having access to suitable data sources—network taps, log aggregation, or security monitoring solutions—and the skills to interpret them. Encourage learners to see passive techniques as powerful complements to active tools, not as weaker substitutes.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enumeration goes beyond simple discovery to pull structured information from services and systems. For example, an ethical hacker might query a directory service to list user accounts, groups, or computers, or interact with file sharing protocols to enumerate available shares and permissions. Stress that this phase often reveals misconfigurations: overly permissive access, default accounts, or forgotten shares. Highlight that while enumeration is more intrusive than basic scanning, it can be extremely valuable for mapping attack paths and understanding how a compromise could spread. Always connect these activities back to the need for authorization and minimal necessary access in real‑world engagements.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conceptual examples to show what enumeration can uncover. A directory service might allow unauthenticated queries that list user names, departments, or even password policy settings, providing rich material for targeted attacks. File sharing systems sometimes permit anonymous listing of shares or poorly controlled read access to supposedly internal documents. Email and messaging systems might reveal valid addresses or distribution lists through simple interactions. Emphasize that ethical hackers should carefully document which queries they use and what responses they receive, as these details support both later exploitation planning and remediation advice. Also note that defenders can reduce exposure by tightening default permissions and limiting what unauthenticated or low‑privilege users can see.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enumeration should not only list what exists but also clarify who can see or use each resource. Ethical hackers should consider how systems appear from different perspectives: a completely unauthenticated user, a normal employee account, or an administrative role. Mapping these perspectives reveals whether some roles can access more than they should, or if sensitive operations lack proper separation of duties. Encourage learners to think through the consequences: could a low‑level account read confidential data, change critical settings, or pivot to more privileged systems? This mindset prepares them to evaluate the seriousness of findings later during vulnerability analysis and reporting.</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vulnerability assessment tools compare observed systems and services against large databases of known issues, such as missing patches, insecure configurations, or default settings. These tools are powerful for coverage but are not perfect—they may miss subtle problems and occasionally flag issues that are not truly exploitable. Stress that ethical hackers must learn to interpret tool output critically, checking whether findings are accurate and relevant. Manual examination—looking at configurations, testing inputs thoughtfully, and understanding system design—remains essential to find context‑specific weaknesses. Emphasize that combining automated breadth with manual depth yields the strongest assessments.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how to handle the long lists of vulnerabilities that scanners can produce. Explain that not every high‑severity item in a report is equally urgent in a given environment, and conversely some lower‑labeled items can be crucial if chained together. Stress that critical issues should be validated carefully—confirming that the vulnerable component is actually in use and accessible in the way the scanner assumes. Encourage learners to factor in context such as whether a service is internal only, whether compensating controls exist, and what data or functions are at risk. Highlight that credibility as an ethical hacker depends on accurate, balanced risk communication rather than simply copying tool output into reports.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automated tools excel at pattern‑matching known issues but struggle with nuanced business logic or unusual architectures. Ethical hackers add value by exploring how systems behave under unusual sequences, boundary inputs, or mixed privilege scenarios that scanners cannot simulate. For example, they might examine a multi‑step approval workflow to see if later steps can be reached without proper authorization, or test whether discount codes can be misused. Emphasize that this kind of manual analysis requires understanding the purpose and design of the application or system. Encourage learners to see manual testing as creative problem‑solving guided by the reconnaissance and enumeration work they have already done.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emphasize that identifying vulnerabilities is only the first step; ethical hackers must verify and prioritize them. Validation means reproducing findings in a controlled way, gathering evidence while minimizing risk of disruption. Impact estimation considers what an attacker could realistically achieve by exploiting the issue—what data could be accessed, what functions misused, or what systems taken down. Prioritization then orders issues by severity and likelihood, taking into account compensating controls and business context. Explain that clear prioritization is essential for helping organizations decide where to focus their limited time and resources for fixes.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validation should prove that a vulnerability exists without causing harm. Ethical hackers often design minimal proof‑of‑concept tests that demonstrate the core issue—such as reading a harmless file or altering a noncritical record—rather than targeting real sensitive data. Stress that potentially destructive actions, like deleting data or stressing systems, should be avoided or performed only with explicit approval and careful planning. Highlight the importance of communicating planned validation steps for high‑risk issues with responsible stakeholders so that they can monitor systems and prepare contingency plans if necessary. This cautious approach builds trust and keeps assessments safe.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how to transform a list of validated vulnerabilities into a prioritized action plan. Technical severity considers factors such as remote exploitability, privilege gained, and availability of public exploits. Business impact asks what processes, data, or obligations are affected. Ease of exploitation and exposure look at how difficult it would be for a typical attacker to reach and use the vulnerability. Encourage grouping related findings—for example, several weak password issues—into broader recommendations that are easier for organizations to address holistically. Emphasize that clear, justified prioritization helps recipients of the report take practical, sequenced steps rather than feeling overwhelmed.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this longer 8‑hour topic as the central technical core where earlier reconnaissance and analysis turn into concrete system‑level compromises. Explain that the focus is on how attackers gain initial access, leverage weak or stolen credentials, and then increase their control over systems. Stress that understanding these techniques helps defenders design stronger controls and detect intrusions earlier. Clarify that while actual exploit development and tool use are beyond the conceptual scope here, the course will describe common patterns, what they achieve, and where defenses can be reinforced. Emphasize again that all discussion is framed from the perspective of authorized testing and defense, not unauthorized intrusion.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attackers typically gain access through vulnerable services, weak configurations, or user‑initiated actions (such as opening malicious attachments). Once code execution is achieved—either remotely or through a local user—they aim to create a foothold: a reliable way to return to the compromised environment. Ethical hackers simulate these behaviors in tightly controlled ways to demonstrate risk. Emphasize that even during testing, care must be taken to avoid unnecessary disruption or data access. Discuss that in real engagements, the goal is to show that access can be achieved and maintained, not to fully occupy or manipulate systems as an actual adversary would.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conceptually how attackers turn earlier findings into initial footholds. Vulnerable network services or web applications may allow remote code execution or upload of malicious content. Misconfigurations—like remote administration interfaces exposed with weak controls—can be abused for immediate access. User‑focused approaches include convincing someone to run a harmful attachment or macro or visit a crafted site that exploits browser or plugin vulnerabilities. Emphasize that ethical hackers must design these tests carefully, with explicit approval and safe payloads, often limiting themselves to simple demonstrations that avoid persistent changes. Encourage learners to think through, for each attack surface they have studied, how a determined attacker might turn visibility into control.</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once code execution is obtained, ethical hackers often establish a stable session or channel that lets them interact with the compromised system without repeatedly exploiting the vulnerability. Stress that, unlike malicious attackers, they should avoid spreading further or altering system behavior more than necessary to demonstrate risk. Every action taken—commands run, files accessed, settings changed—should be recorded to support debriefing and allow system owners to review and undo changes if needed. Highlight that this transparent and minimalistic approach is a key difference between ethical engagements and real attacks, even when similar technical mechanisms are used.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focus on credentials, a central element in system hacking. Explain that ethical hackers need to understand how passwords are stored—whether in hashed form, with salts, or in other structures—and how authentication processes verify users. Discuss conceptual categories of password attacks: online guessing and brute‑forcing, offline cracking of captured hashes, and credential reuse across multiple systems. Emphasize that the goal is not to encourage large‑scale password theft but to help organizations see where weak practices, such as simple passwords or storing credentials insecurely, create major risks. Connect the discussion to defensive strategies like strong password policies, multifactor authentication, and secure storage mechanisms.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at a high level that secure systems should never store plain text passwords. Instead, they use one‑way functions to derive hash values, often adding a random salt for each password to prevent reuse of precomputed attack tables. During login, systems recompute this derived value and compare it to the stored one. Emphasize that if weak or obsolete algorithms are used, attackers who obtain hashed password databases can crack them much more quickly. Discuss how ethical hackers review configuration and documentation to see what approaches are in use, and when authorized, might test whether known weak hash types are present in captured samples. Highlight that defenders should keep up‑to‑date with recommended algorithms and parameters.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typical ways attackers misuse credentials. Online guessing targets login interfaces with lists of common passwords or variations on known words or patterns. Offline cracking becomes possible when an attacker gains a copy of password hashes or encrypted vaults, allowing large‑scale attempts without interacting with the live system. Credential stuffing takes previously leaked usernames and passwords from one breach and tests them against other services, exploiting user reuse. Emphasize that ethical hackers, within clear limits, may simulate these attacks carefully to demonstrate how quickly weak or reused passwords fall. Stress the importance of rate limiting, account lockout policies with care for denial‑of‑service, and multifactor authentication as defenses.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initial access often provides only limited user rights. Attackers then look for ways to increase their privileges to gain full control. This may involve exploiting local vulnerabilities, misconfigured services, or weak file and registry permissions. Ethical hackers aim to show that such paths exist, again without causing harm, to motivate corrective action. Stress that over‑privileged accounts and services dramatically increase risk: a single compromised credential or process can immediately expose entire systems. Encourage learners to think of privilege escalation not just as a trick but as a symptom of deeper design and configuration issues that defenders must address.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common conceptual routes to higher privileges. Misconfigured services or scheduled tasks running with elevated rights but referencing writable locations can be hijacked so that attacker‑controlled code runs with those rights. Insecure file or directory permissions may allow modification of critical executables, libraries, or configuration files used by privileged processes. Local operating system vulnerabilities, often patched but sometimes left unaddressed, can provide structured ways to jump to administrative levels. Explain that ethical hackers systematically review these areas on compromised hosts, always balancing the desire to demonstrate impact with the need to avoid destabilizing the system.</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many environments suffer from privilege creep: accounts and services accumulate more access over time than their duties require. When such an account is compromised, attackers can immediately perform high‑impact actions—changing configurations, reading sensitive data, or disabling security controls. Service accounts that run with full administrative rights may be exploited through any vulnerability in the service, turning a small flaw into a system‑wide breach. Emphasize the principle of least privilege as a core defensive measure: giving every account and process only the rights it truly needs. Encourage learners to see privilege escalation not only as an attacker’s step but as a powerful argument for redesigning access models.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highlight, mainly from a defensive learning perspective, how real attackers try to avoid detection and maintain ongoing access after compromise. They may alter logs, disable or tamper with security tools, or embed malicious components that restart automatically. Explain that ethical hackers study these techniques to help defenders design better monitoring and response strategies, but in professional engagements they generally do not erase their own traces. Instead, they provide detailed documentation to support post‑assessment clean‑up and learning. Emphasize that understanding persistence helps defenders look beyond the initial breach to the possibility of hidden, long‑term footholds.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sophisticated attackers aim to erase or distort records of their actions. They may attempt to clear or tamper with operating system and application logs, disable logging services, or alter time stamps. They might try to shut down or bypass antivirus, endpoint detection, or monitoring agents to avoid alerts. Some adversaries go further, carefully spacing actions and mimicking legitimate user patterns to hide in normal traffic. Emphasize that defenders can respond by centralizing logs, monitoring for suspicious gaps or anomalies, and restricting who can alter logging and security configurations. Make clear that ethical hackers should not destroy evidence of their own testing, since transparency and traceability are essential in professional work.</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common persistence mechanisms attackers use to regain access after reboots or logouts, such as adding startup entries, creating scheduled tasks, or registering new services that run automatically. Some may alter authentication components so that backdoor credentials work alongside legitimate ones. Explain that by understanding these patterns, defenders can create baseline inventories of expected startup items and monitor for unauthorized changes. Ethical hackers may, with permission, simulate limited persistence to demonstrate how easy it is for attackers to reenter systems if such controls are absent. Stress that persistence is often what turns a single compromise into a long‑term breach, underscoring the need for detection and regular integrity checks.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this 8‑hour topic as a deep dive into how ethical hackers assess both web applications and underlying networks. Explain that many modern attacks focus on web interfaces and APIs because they sit at the intersection of users, data, and business logic. Input validation, injection vulnerabilities, and session management flaws are among the most impactful issues. At the same time, network‑level weaknesses enable attackers to move between systems, intercept traffic, or bypass segmentation. Emphasize that understanding these patterns helps both developers and infrastructure teams design more resilient systems and identify high‑value security improvements.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frame the main groups of web application attacks. Many issues stem from insufficient validation or incorrect handling of user input, allowing attackers to inject commands or manipulate queries. Others focus on unauthorized access to or modification of data—like bypassing access controls or interfering with transactions. A further category leverages client‑side scripts and browser features to execute code in users’ contexts or trick them into unintended actions. Instead of listing specific vulnerability names, emphasize the underlying ideas: who controls the data, how it is transformed, and where trust boundaries lie. Prepare learners for more detailed conceptual examples in subsequent slides.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many severe vulnerabilities occur when server‑side code incorporates user input directly into sensitive operations. If input is not validated for type, length, and allowed characters, and if it is not safely combined with commands or queries, attackers can alter how the application interacts with databases, file systems, or other services. Highlight that developers sometimes assume input will only be used in one context—such as a database query—while it later appears in different contexts like HTML output or system commands. Ethical hackers test how the application responds to unexpected patterns, sequences, and characters, looking for places where assumptions break down.</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that not all web risks live on the server. When applications include or reflect untrusted content into pages, browsers may execute scripts that attackers control, leading to theft of session information or manipulation of user actions. Some attacks cause browsers to send crafted requests that appear legitimate, exploiting trust relationships between the browser and server. Client‑side storage, such as cookies or local storage, can sometimes be read or altered by malicious scripts if protections are weak. Emphasize that ethical hackers examine how applications use client‑side technologies, especially where data or scripts from users or third parties are injected into pages, and whether security headers and policies are in place to reduce risk.</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injection flaws happen when untrusted data flows into interpreters—components that execute commands or queries—without proper separation between data and instructions. Common interpreters include database engines, command shells, and template processors. The root cause is often weak or missing input validation and unsafe methods of building queries or commands. Contrastingly, robust defenses validate input according to strict expectations and use parameterization or safe APIs to keep data and logic apart. Stress that ethical hackers test how applications respond to crafted inputs in fields like search boxes, login forms, and file paths, looking for signs that the application executes more than intended.</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that one of the first steps in injection testing is mapping where user or external data influences sensitive operations—database queries, system calls, or template rendering. Ethical hackers look for code paths where input appears to be directly combined into these operations without using safe mechanisms. When sending slightly malformed or structured inputs, they pay close attention to error messages, response times, and changes in behavior that suggest deeper processing by an interpreter. Emphasize that, for safety, tests should start with benign payloads designed to reveal behavior rather than directly aiming for destructive effects.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defensive practices that reduce injection risk. Whitelisting acceptable input values and formats—for example, numeric ranges, allowed characters, or structured patterns—gives developers more control than simply trying to block known bad patterns. Parameterized APIs pass data as separate values from the commands or queries, allowing interpreters to treat them as literal data instead of executable code. Normalizing and encoding data before output, such as encoding special characters in HTML or command contexts, ensures that even unexpected inputs are not interpreted as control characters. Emphasize that ethical hackers who understand these patterns can both spot weaknesses and propose practical improvements during reporting.</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web applications use sessions and tokens to remember who a user is across multiple requests. If these identifiers are predictable, exposed, or insufficiently protected, attackers may impersonate users or hijack their sessions. Authentication mechanisms—login forms, multifactor prompts, and password reset flows—have their own pitfalls, such as weak lockout controls, poor recovery processes, or missing checks in alternative login paths. Ethical hackers analyze how tokens are generated, transmitted, stored, and invalidated, as well as how authentication behaves under edge cases, error conditions, and alternative navigation routes. Emphasize that weaknesses here often lead directly to account takeover or privilege escalation.</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that session identifiers should be unpredictable and unique. If they follow simple patterns or are reused across users or devices, attackers might guess or reuse them. Tokens transmitted without adequate encryption or stored in places accessible to untrusted scripts increase the risk of theft. Ethical hackers also check whether sessions expire after appropriate inactivity, whether logging out fully invalidates tokens, and whether sessions are invalidated on key changes like password updates. Highlight that correcting these issues often involves small configuration or coding changes with large security benefits.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even if the main login form appears robust, overall authentication may still be weak. Lack of rate limiting or monitoring allows attackers to attempt many passwords. Password reset flows that rely solely on predictable questions or publicly available data can be abused to take over accounts. Alternate paths, such as legacy login endpoints or single sign‑on integrations, might not enforce the same requirements or checks. Ethical hackers examine each of these flows, trying benign but revealing variations to see where rules differ or break. Emphasize that secure design treats every path into an account with equal care, and that inconsistencies are often where attackers find success.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connect application‑level attacks with underlying network behaviors. Explain that attackers may try to intercept unencrypted communications, perform man‑in‑the‑middle attacks, or alter routing to observe or modify traffic. Weak segmentation or misconfigured network controls can allow a compromise in one area to spread to more sensitive zones. Lateral movement involves using credentials, trust relationships, or poor isolation to pivot from one host to others. Ethical hackers simulate aspects of these behaviors, within agreed constraints, to show how deep an attacker might penetrate if initial defenses fail. Emphasize that strong network design and monitoring can limit how far attacks can spread.</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when data travels without encryption—or with outdated or misconfigured protections—anyone able to observe network paths may read or change it. Man‑in‑the‑middle describes a position where an attacker places themselves between communicating parties to see or alter messages. Ethical hackers may, in controlled tests, demonstrate how login details or sensitive data could be exposed if encryption is absent or poorly configured. Stress that robust use of modern encryption protocols, with proper certificate validation and configuration, largely mitigates these particular risks. Encourage learners to view network encryption not as a luxury but as a baseline requirement for modern systems.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that well‑designed networks separate systems into zones based on sensitivity and function, with controls limiting traffic between them. When segmentation is weak or inconsistently implemented, an attacker who compromises one host can use it as a stepping stone—pivoting through it to scan or access additional systems behind internal firewalls. Ethical hackers analyze how easy or difficult such movement is, demonstrating potential attack paths. Emphasize that segmentation does not prevent every breach but can greatly slow attackers and reduce the blast radius of compromises. Defenders should review which systems truly need direct communication and enforce stricter boundaries elsewhere.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this 4‑hour topic as a reminder that not all attacks happen purely in software or from afar. Wireless networks extend organizational boundaries into the air, making misconfigurations and weak encryption particularly risky. Social engineering leverages human trust and habits rather than code, often serving as a companion to technical attacks. Physical security determines who can access devices, servers, and spaces, and weak controls here can bypass even strong digital protections. Emphasize that ethical hacking should consider all these dimensions and that effective security strategies integrate technical measures with user education and physical safeguards.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wireless networks broadcast signals beyond physical walls, potentially exposing services and authentication mechanisms to anyone within range. Poorly configured Wi‑Fi—such as open networks without encryption or shared passwords used widely—makes eavesdropping and unauthorized access much easier. Older encryption technologies and weak pre‑shared keys can be attacked with relatively modest resources. Rogue access points that mimic legitimate ones can trick users into connecting, exposing their traffic or credentials. Ethical hackers assess these risks by surveying wireless environments, analyzing configurations, and testing client behaviors, always within clearly defined perimeters and with consent.</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typical configuration mistakes that weaken wireless security. Networks sometimes remain open for convenience, or use easy‑to‑guess shared passwords that never change, enabling unauthorized users to connect. Administration interfaces for access points or controllers may be exposed over the same wireless networks, giving attackers a direct path to change settings if credentials are weak. Guest networks are occasionally bridged improperly into internal segments instead of being isolated, allowing an outsider who connects as a guest to discover and reach sensitive systems. Emphasize that ethical hackers review these aspects carefully, and defenders can make substantial gains through straightforward configuration improvements and network design changes.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attackers can set up their own access points broadcasting the same names as legitimate networks, hoping that users’ devices automatically connect based on remembered network identifiers. Once connected to a rogue device, users may unwittingly send sensitive traffic or credentials through an attacker’s equipment. Ethical hackers may, under strict rules, simulate or model such scenarios to show organizations how trusting behaviors and auto‑connect features increase risk. They also observe how users react to certificate warnings or connection issues, which can reveal training gaps. Emphasize that technical countermeasures, such as wireless intrusion detection, must be accompanied by clear user guidance on safe connection practices.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highlight that even well‑secured systems can be compromised if people can be tricked into helping attackers. Social engineering relies on influencing human behavior through urgency, authority, curiosity, or helpfulness. Techniques include deceptive emails or messages, calls where attackers pose as trusted staff, and in‑person interactions that bypass normal verification. Ethical social engineering tests, when properly authorized, can reveal weaknesses in processes and training, helping organizations strengthen both their culture and procedures. Emphasize the sensitivity of this domain: tests must be carefully designed to avoid undue distress, reputational harm, or targeting of vulnerable groups.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social engineers craft messages and scenarios that elicit quick, unreflective responses. Urgent warnings about account closure, security incidents, or deadlines can push recipients to act before thinking. Impersonating managers, colleagues, or official organizations leverages authority and familiarity to lower defenses. Tempting offers, interesting attachments, or intriguing subject lines appeal to curiosity and the desire for rewards. Ethical hackers study these patterns to design realistic but controlled tests, and to educate staff on how to recognize and resist such manipulations. Encourage learners to reflect on examples they may have seen in their own communications and how they reacted.</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how ethical social engineering assessments differ from malicious campaigns. They are performed with the knowledge and consent of organizational leadership, under clear rules that define who may be targeted and which themes are off‑limits. Sensitive topics—such as health scares, personal threats, or highly emotional content—should generally be avoided to prevent real distress. Emphasize that the primary goal of such tests is learning: identifying process gaps, training needs, and areas where clear guidance is lacking. Outcomes should be fed into constructive awareness programs rather than used to shame or punish individuals who fall for simulated attacks. This approach fosters a culture of shared responsibility for security.</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physical access often equates to high compromise potential: attackers with hands on devices can bypass many digital protections through direct interaction, booting from external media, or stealing hardware. Common physical attack vectors include following authorized staff into secure areas without badging (tailgating), borrowing or cloning access badges, and exploiting unattended or unlocked devices. Ethical hackers may be asked to assess physical controls through observation, testing of access processes, or checking device handling practices, always within a carefully defined scope. Emphasize that strong logical security cannot fully compensate for weak physical protection and vice versa; they must reinforce each other.</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that many physical security weaknesses arise from routine habits rather than dramatic break‑ins. Employees might leave workstations unlocked when stepping away, allowing anyone nearby to access systems with their credentials. Printed documents containing confidential information may be left on printers, desks, or in open bins. Doors to restricted spaces may be propped open for convenience, or visitor badges may not be clearly distinct from staff badges. Ethical hackers observing workplaces often note such practices and report them as risk factors. Encourage learners to view their own environments through this lens and consider simple changes that significantly strengthen everyday security.</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effective security requires harmonized policies that govern how devices and materials are stored, transported, and disposed of. Laptops and portable drives should be protected with both encryption and physical measures such as locks and secure cabinets. Entrances and sensitive areas can use badges, biometrics, and logging, supported by surveillance where appropriate. Equally important, staff should feel empowered and trained to question unfamiliar individuals in secure spaces or report suspicious behaviors without fear of reprisal. Ethical hackers reviewing physical security should consider whether these elements are present and how they function together, rather than focusing only on isolated controls.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tie together wireless, social engineering, and physical aspects into a coherent strategy. Emphasize that people are both a frequent target for attackers and an essential line of defense when properly supported. Technical controls—like email filtering, multi‑factor authentication, and device encryption—can reduce the impact of mistakes but cannot eliminate the need for informed decision‑making. Organizations should design processes that make secure choices the default and provide clear, easy paths for reporting concerns. Ethical hackers can provide valuable insights into how real users behave under testing and how policies and tools support or hinder them. Encourage learners to think of security culture as an ongoing practice, reinforced by regular feedback, drills, and recognition of positive behaviors.</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repeatedly blaming users for security incidents is counterproductive. Instead, organizations should recognize that everyone, including experts, can make mistakes under pressure or confusion. Systems and processes should be designed with this in mind—for example, by warning users before risky actions, offering easy ways to verify unusual requests, and limiting the damage a single misstep can cause. When incidents or test failures occur, they should be treated as chances to improve training, interfaces, and policies, not as grounds for punishment except in cases of deliberate misconduct. Ethical hackers reporting on social engineering or physical findings should adopt this constructive tone, focusing on systemic fixes and supportive education.</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how organizations can turn ethical hacking and security assessments into iterative improvement cycles. After each engagement—whether technical, social, or physical—results should be communicated in ways that highlight specific, achievable changes rather than simply listing failures. Follow‑up assessments can measure whether these changes reduce risk or improve user responses. It is important to acknowledge and celebrate progress, such as lower click‑through rates on simulated phishing or better adherence to badge policies, to encourage continued effort. Ethical hackers can support this process by providing clear metrics, trend analysis, and practical recommendations tailored to the organization’s context.</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this final 4‑hour topic as the bridge from technical activities to long‑term professional practice. Emphasize that ethical hacking is valuable only if findings are communicated effectively and turned into better defenses. Clear reporting, tailored to different audiences, is therefore a core skill. Additionally, understanding how attackers operate provides deep insight into building stronger security architectures and processes. Finally, many learners are interested in pursuing ethical hacking as part of their careers; this section will outline common roles, certifications, and learning paths, and underline the importance of ongoing, responsible development of skills.</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different stakeholders—executives, technical teams, and auditors—have distinct information needs. A good report is structured so that each audience can quickly find relevant content. Typically, this means high‑level summaries for leadership, detailed technical sections for implementers, and clearly organized evidence for compliance or governance. Essential components include the engagement scope, methodology, key findings, detailed vulnerability descriptions, proof‑of‑concept evidence, and prioritized recommendations. Emphasize that risk should be communicated clearly, in both technical and business terms, without exaggeration or downplaying. Ethical hackers must balance precision with readability, avoiding jargon where unnecessary and explaining terms when they are required.</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a typical structure for professional reports. An executive summary provides a concise overview of the engagement, major strengths and weaknesses, and highest‑priority issues, often on a single page. The scope and methodology section outlines what was tested, how, under what constraints, and what was not covered—critical for managing expectations and interpreting results. The main body presents each finding in a consistent format: title, description, affected assets, risk rating, impact, likelihood, steps to reproduce, and recommended remediation. Emphasize that clear organization allows readers to navigate directly to sections they care about and helps future reviewers or auditors understand how conclusions were reached.</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practical writing guidance. Ethical hackers should avoid assuming all readers share their technical background; complex issues should be explained with analogies or step‑by‑step breakdowns. Each finding should lead naturally to actions: configuration changes, code fixes, process adjustments, or policy updates. Where possible, suggest both immediate mitigations (such as disabling a vulnerable feature) and longer‑term design changes (such as revising authentication flows). Highlighting quick wins that substantially reduce risk can motivate early action and demonstrate the value of the assessment. Encourage learners to view reporting as part of their professional craft, not an afterthought.</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each successful or potential attack path uncovered during ethical hacking reveals not just a point‑in‑time weakness but also underlying control gaps. For example, a privilege escalation path might indicate poor patching practices and overly permissive configurations. Ethical hackers can work with defenders to trace these paths backward, identifying where processes, training, or architecture failed. This analysis helps organizations move from fixing individual bugs to strengthening systemic defenses, such as improving change management, standardizing hardening baselines, or enhancing monitoring coverage. Emphasize that ethical hacking is most valuable when it informs strategic decisions, not just tactical patches.</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how to look beyond isolated issues. Finding multiple instances of weak passwords, misconfigured access controls, or unpatched software in different parts of the environment suggests broader policy, tooling, or cultural problems. Ethical hackers should cluster such findings and highlight themes—for example, inconsistent application of security baselines or lack of secure development training. Addressing these root causes can prevent entire classes of vulnerabilities from recurring, providing better long‑term value than fixing each instance separately. Encourage learners to practice reading between the lines of their own or sample reports to identify such systemic patterns.</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ethical hacking exercises reveal where layered defenses held and where they were bypassed. If an attack path succeeded with little or no detection, defenders should examine which tools or processes could have raised alerts and why they did not. Conversely, if certain controls effectively blocked or slowed attacks, those successes can guide expansion of similar measures. Ethical hackers and defenders can collaborate to replay key steps and monitor what logs, events, or anomalies are generated, then adjust monitoring rules and response playbooks accordingly. This process turns theoretical defense‑in‑depth designs into evidence‑based strategies grounded in how real attacks unfold.</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provide an overview of how learners can apply ethical hacking knowledge professionally. Typical roles include penetration testers, red team operators, security consultants, and roles that blend offensive understanding with defensive responsibilities such as threat hunters. All require solid grounding in operating systems, networking, programming or scripting, and security fundamentals. Certifications, while not mandatory, can signal baseline knowledge and commitment to employers; they often cover both conceptual and practical areas. Emphasize that real competence comes from sustained learning, ethical practice, and experience rather than from any single credential.</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how offensive skills are applied in different job types. Dedicated penetration testers focus on testing specific systems, applications, or networks against defined scopes. Red teamers simulate more realistic, goal‑driven adversaries who may blend technical attacks with social engineering and long‑term campaigns. Security consultants often perform assessments but also help design controls, policies, and roadmaps. Defensive roles such as security operations analysts, incident responders, and threat hunters also benefit greatly from an attacker mindset, as it helps them interpret alerts and predict adversary behavior. Encourage learners to think about where their interests—technical depth, communication, strategy—fit within this spectrum.</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strong ethical hackers typically build from firm basics: understanding how operating systems manage processes and memory, how networks route traffic and apply protocols, and how applications are designed and coded. From there, they engage in structured learning—online courses, books, labs, and capture‑the‑flag exercises—to apply concepts practically. Participating in communities, whether online or local, can provide mentorship and exposure to diverse perspectives. Certifications can organize study efforts and demonstrate knowledge but should be seen as milestones in an ongoing journey rather than final goals. Emphasize the importance of practicing legally and ethically at all times, using labs, training platforms, and clearly authorized environments.</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the topic by stressing that ethical hacking is not static. New technologies, attack techniques, and defensive tools appear continuously. Professionals must commit to regular learning through reading, experimentation, courses, and interaction with peers. Equally important is maintaining personal integrity: keeping engagements confidential, respecting legal and ethical boundaries, and avoiding misuse of knowledge. Many ethical hackers contribute to the broader community by responsibly disclosing vulnerabilities, sharing research, mentoring newcomers, or improving open‑source tools. Encourage learners to envision their role not just as testers but as long‑term stewards of security in the organizations and communities they serve.</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Offer practical suggestions for continuous development. Recommend setting aside consistent time each week to follow security news, read technical articles, or work through structured learning materials. Stress the importance of using dedicated lab systems and training platforms for experimentation rather than production networks or unauthorized targets. Encourage keeping a personal journal or notes from each assessment or learning project, capturing what worked, what surprised you, and how you might approach similar problems differently in the future. This reflective practice deepens understanding and builds a personal knowledge base over time.</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ethical hackers are often entrusted with sensitive details about vulnerabilities and organizational weaknesses. Protecting this information is a core professional obligation; it should be stored securely and shared only with authorized parties. Responsible disclosure practices require coordinating with affected organizations and vendors, allowing reasonable time for fixes before public discussion. When sharing knowledge through talks, posts, or tools, professionals should consider how to maximize defensive value without handing easy blueprints to less‑skilled attackers. Emphasize that a reputation for reliability, discretion, and constructive contribution is one of the most valuable assets in a security career.</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final title slide to close the 40‑hour ethical hacking course. Summarize, in your spoken remarks rather than on the slide, the journey from foundational concepts and legal frameworks through reconnaissance, exploitation techniques, web and network attacks, wireless and social engineering considerations, and finally reporting and career development. Invite questions and discussion about how participants can apply what they have learned in their roles while staying within legal and ethical boundaries. Encourage them to continue studying, practicing in safe environments, and contributing to stronger security in their organizations and communities.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lgn="ctr">
              <a:defRPr sz="4600" b="1">
                <a:solidFill>
                  <a:srgbClr val="0B3D91"/>
                </a:solidFill>
              </a:defRPr>
            </a:pPr>
            <a:r>
              <a:t>Ethical hacking</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What if you could legally think like a hacker?</a:t>
            </a:r>
          </a:p>
        </p:txBody>
      </p:sp>
      <p:sp>
        <p:nvSpPr>
          <p:cNvPr id="3" name="Content Placeholder 2"/>
          <p:cNvSpPr>
            <a:spLocks noGrp="1"/>
          </p:cNvSpPr>
          <p:nvPr>
            <p:ph idx="1"/>
          </p:nvPr>
        </p:nvSpPr>
        <p:spPr/>
        <p:txBody>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Ethical hacking: thinking offensively to defend better</a:t>
            </a:r>
          </a:p>
        </p:txBody>
      </p:sp>
      <p:sp>
        <p:nvSpPr>
          <p:cNvPr id="3" name="Content Placeholder 2"/>
          <p:cNvSpPr>
            <a:spLocks noGrp="1"/>
          </p:cNvSpPr>
          <p:nvPr>
            <p:ph idx="1"/>
          </p:nvPr>
        </p:nvSpPr>
        <p:spPr/>
        <p:txBody>
          <a:bodyPr/>
          <a:lstStyle/>
          <a:p/>
          <a:p>
            <a:pPr lvl="1" algn="l">
              <a:defRPr sz="2000" b="0">
                <a:solidFill>
                  <a:srgbClr val="222222"/>
                </a:solidFill>
              </a:defRPr>
            </a:pPr>
            <a:r>
              <a:t>Understand how attackers discover and exploit weaknesses</a:t>
            </a:r>
          </a:p>
          <a:p>
            <a:pPr lvl="1" algn="l">
              <a:defRPr sz="2000" b="0">
                <a:solidFill>
                  <a:srgbClr val="222222"/>
                </a:solidFill>
              </a:defRPr>
            </a:pPr>
            <a:r>
              <a:t>Apply hacking techniques within legal and professional boundaries</a:t>
            </a:r>
          </a:p>
          <a:p>
            <a:pPr lvl="1" algn="l">
              <a:defRPr sz="2000" b="0">
                <a:solidFill>
                  <a:srgbClr val="222222"/>
                </a:solidFill>
              </a:defRPr>
            </a:pPr>
            <a:r>
              <a:t>Use structured methodologies to assess and improve security</a:t>
            </a:r>
          </a:p>
          <a:p>
            <a:pPr lvl="1" algn="l">
              <a:defRPr sz="2000" b="0">
                <a:solidFill>
                  <a:srgbClr val="222222"/>
                </a:solidFill>
              </a:defRPr>
            </a:pPr>
            <a:r>
              <a:t>Turn offensive insights into practical defensive measures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defRPr sz="4000" b="1">
                <a:solidFill>
                  <a:srgbClr val="00796B"/>
                </a:solidFill>
              </a:defRPr>
            </a:pPr>
            <a:r>
              <a:t>Introduction to Ethical Hacking (4 hrs)</a:t>
            </a:r>
          </a:p>
        </p:txBody>
      </p:sp>
      <p:sp>
        <p:nvSpPr>
          <p:cNvPr id="3" name="Content Placeholder 2"/>
          <p:cNvSpPr>
            <a:spLocks noGrp="1"/>
          </p:cNvSpPr>
          <p:nvPr>
            <p:ph idx="1"/>
          </p:nvPr>
        </p:nvSpPr>
        <p:spPr/>
        <p:txBody>
          <a:bodyPr/>
          <a:lstStyle/>
          <a:p/>
          <a:p>
            <a:pPr lvl="1" algn="l">
              <a:defRPr sz="2000" b="0">
                <a:solidFill>
                  <a:srgbClr val="222222"/>
                </a:solidFill>
              </a:defRPr>
            </a:pPr>
            <a:r>
              <a:t>What is ethical hacking and why it matters</a:t>
            </a:r>
          </a:p>
          <a:p>
            <a:pPr lvl="1" algn="l">
              <a:defRPr sz="2000" b="0">
                <a:solidFill>
                  <a:srgbClr val="222222"/>
                </a:solidFill>
              </a:defRPr>
            </a:pPr>
            <a:r>
              <a:t>Roles, responsibilities, and scope of ethical hackers</a:t>
            </a:r>
          </a:p>
          <a:p>
            <a:pPr lvl="1" algn="l">
              <a:defRPr sz="2000" b="0">
                <a:solidFill>
                  <a:srgbClr val="222222"/>
                </a:solidFill>
              </a:defRPr>
            </a:pPr>
            <a:r>
              <a:t>Legal and professional considerations</a:t>
            </a:r>
          </a:p>
          <a:p>
            <a:pPr lvl="1" algn="l">
              <a:defRPr sz="2000" b="0">
                <a:solidFill>
                  <a:srgbClr val="222222"/>
                </a:solidFill>
              </a:defRPr>
            </a:pPr>
            <a:r>
              <a:t>The hacking mindset and security fundamentals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What is ethical hacking and why it matters</a:t>
            </a:r>
          </a:p>
        </p:txBody>
      </p:sp>
      <p:sp>
        <p:nvSpPr>
          <p:cNvPr id="3" name="Content Placeholder 2"/>
          <p:cNvSpPr>
            <a:spLocks noGrp="1"/>
          </p:cNvSpPr>
          <p:nvPr>
            <p:ph idx="1"/>
          </p:nvPr>
        </p:nvSpPr>
        <p:spPr/>
        <p:txBody>
          <a:bodyPr/>
          <a:lstStyle/>
          <a:p/>
          <a:p>
            <a:pPr lvl="1" algn="l">
              <a:defRPr sz="2000" b="0">
                <a:solidFill>
                  <a:srgbClr val="222222"/>
                </a:solidFill>
              </a:defRPr>
            </a:pPr>
            <a:r>
              <a:t>Security testing that mimics real attackers—but with permission</a:t>
            </a:r>
          </a:p>
          <a:p>
            <a:pPr lvl="1" algn="l">
              <a:defRPr sz="2000" b="0">
                <a:solidFill>
                  <a:srgbClr val="222222"/>
                </a:solidFill>
              </a:defRPr>
            </a:pPr>
            <a:r>
              <a:t>Focus on finding weaknesses before criminals do</a:t>
            </a:r>
          </a:p>
          <a:p>
            <a:pPr lvl="1" algn="l">
              <a:defRPr sz="2000" b="0">
                <a:solidFill>
                  <a:srgbClr val="222222"/>
                </a:solidFill>
              </a:defRPr>
            </a:pPr>
            <a:r>
              <a:t>Supports risk management and informed security decisions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Ethical vs malicious hacking</a:t>
            </a:r>
          </a:p>
        </p:txBody>
      </p:sp>
      <p:sp>
        <p:nvSpPr>
          <p:cNvPr id="3" name="Content Placeholder 2"/>
          <p:cNvSpPr>
            <a:spLocks noGrp="1"/>
          </p:cNvSpPr>
          <p:nvPr>
            <p:ph idx="1"/>
          </p:nvPr>
        </p:nvSpPr>
        <p:spPr/>
        <p:txBody>
          <a:bodyPr/>
          <a:lstStyle/>
          <a:p/>
          <a:p>
            <a:pPr lvl="1" algn="l">
              <a:defRPr sz="2000" b="0">
                <a:solidFill>
                  <a:srgbClr val="222222"/>
                </a:solidFill>
              </a:defRPr>
            </a:pPr>
            <a:r>
              <a:t>Shared techniques, different intentions and constraints</a:t>
            </a:r>
          </a:p>
          <a:p>
            <a:pPr lvl="1" algn="l">
              <a:defRPr sz="2000" b="0">
                <a:solidFill>
                  <a:srgbClr val="222222"/>
                </a:solidFill>
              </a:defRPr>
            </a:pPr>
            <a:r>
              <a:t>Authorization and documented scope separate legal from illegal</a:t>
            </a:r>
          </a:p>
          <a:p>
            <a:pPr lvl="1" algn="l">
              <a:defRPr sz="2000" b="0">
                <a:solidFill>
                  <a:srgbClr val="222222"/>
                </a:solidFill>
              </a:defRPr>
            </a:pPr>
            <a:r>
              <a:t>Ethical hackers report and help remediate issues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How ethical hacking improves security</a:t>
            </a:r>
          </a:p>
        </p:txBody>
      </p:sp>
      <p:sp>
        <p:nvSpPr>
          <p:cNvPr id="3" name="Content Placeholder 2"/>
          <p:cNvSpPr>
            <a:spLocks noGrp="1"/>
          </p:cNvSpPr>
          <p:nvPr>
            <p:ph idx="1"/>
          </p:nvPr>
        </p:nvSpPr>
        <p:spPr/>
        <p:txBody>
          <a:bodyPr/>
          <a:lstStyle/>
          <a:p/>
          <a:p>
            <a:pPr lvl="1" algn="l">
              <a:defRPr sz="2000" b="0">
                <a:solidFill>
                  <a:srgbClr val="222222"/>
                </a:solidFill>
              </a:defRPr>
            </a:pPr>
            <a:r>
              <a:t>Reveals real‑world attack paths, not just theoretical risks</a:t>
            </a:r>
          </a:p>
          <a:p>
            <a:pPr lvl="1" algn="l">
              <a:defRPr sz="2000" b="0">
                <a:solidFill>
                  <a:srgbClr val="222222"/>
                </a:solidFill>
              </a:defRPr>
            </a:pPr>
            <a:r>
              <a:t>Tests effectiveness of controls, monitoring, and response</a:t>
            </a:r>
          </a:p>
          <a:p>
            <a:pPr lvl="1" algn="l">
              <a:defRPr sz="2000" b="0">
                <a:solidFill>
                  <a:srgbClr val="222222"/>
                </a:solidFill>
              </a:defRPr>
            </a:pPr>
            <a:r>
              <a:t>Provides evidence to prioritize fixes and investments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Roles, responsibilities, and scope of ethical hackers</a:t>
            </a:r>
          </a:p>
        </p:txBody>
      </p:sp>
      <p:sp>
        <p:nvSpPr>
          <p:cNvPr id="3" name="Content Placeholder 2"/>
          <p:cNvSpPr>
            <a:spLocks noGrp="1"/>
          </p:cNvSpPr>
          <p:nvPr>
            <p:ph idx="1"/>
          </p:nvPr>
        </p:nvSpPr>
        <p:spPr/>
        <p:txBody>
          <a:bodyPr/>
          <a:lstStyle/>
          <a:p/>
          <a:p>
            <a:pPr lvl="1" algn="l">
              <a:defRPr sz="2000" b="0">
                <a:solidFill>
                  <a:srgbClr val="222222"/>
                </a:solidFill>
              </a:defRPr>
            </a:pPr>
            <a:r>
              <a:t>Common roles: penetration testers, red teamers, security researchers</a:t>
            </a:r>
          </a:p>
          <a:p>
            <a:pPr lvl="1" algn="l">
              <a:defRPr sz="2000" b="0">
                <a:solidFill>
                  <a:srgbClr val="222222"/>
                </a:solidFill>
              </a:defRPr>
            </a:pPr>
            <a:r>
              <a:t>Defining clear scope, targets, and limitations</a:t>
            </a:r>
          </a:p>
          <a:p>
            <a:pPr lvl="1" algn="l">
              <a:defRPr sz="2000" b="0">
                <a:solidFill>
                  <a:srgbClr val="222222"/>
                </a:solidFill>
              </a:defRPr>
            </a:pPr>
            <a:r>
              <a:t>Working with blue teams, developers, and management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Defining scope and rules of engagement</a:t>
            </a:r>
          </a:p>
        </p:txBody>
      </p:sp>
      <p:sp>
        <p:nvSpPr>
          <p:cNvPr id="3" name="Content Placeholder 2"/>
          <p:cNvSpPr>
            <a:spLocks noGrp="1"/>
          </p:cNvSpPr>
          <p:nvPr>
            <p:ph idx="1"/>
          </p:nvPr>
        </p:nvSpPr>
        <p:spPr/>
        <p:txBody>
          <a:bodyPr/>
          <a:lstStyle/>
          <a:p/>
          <a:p>
            <a:pPr lvl="1" algn="l">
              <a:defRPr sz="2000" b="0">
                <a:solidFill>
                  <a:srgbClr val="222222"/>
                </a:solidFill>
              </a:defRPr>
            </a:pPr>
            <a:r>
              <a:t>Identify in‑scope assets and explicitly exclude sensitive systems</a:t>
            </a:r>
          </a:p>
          <a:p>
            <a:pPr lvl="1" algn="l">
              <a:defRPr sz="2000" b="0">
                <a:solidFill>
                  <a:srgbClr val="222222"/>
                </a:solidFill>
              </a:defRPr>
            </a:pPr>
            <a:r>
              <a:t>Agree on allowed techniques and safe‑guards</a:t>
            </a:r>
          </a:p>
          <a:p>
            <a:pPr lvl="1" algn="l">
              <a:defRPr sz="2000" b="0">
                <a:solidFill>
                  <a:srgbClr val="222222"/>
                </a:solidFill>
              </a:defRPr>
            </a:pPr>
            <a:r>
              <a:t>Plan communication, escalation, and reporting channels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Collaboration with defenders and stakeholders</a:t>
            </a:r>
          </a:p>
        </p:txBody>
      </p:sp>
      <p:sp>
        <p:nvSpPr>
          <p:cNvPr id="3" name="Content Placeholder 2"/>
          <p:cNvSpPr>
            <a:spLocks noGrp="1"/>
          </p:cNvSpPr>
          <p:nvPr>
            <p:ph idx="1"/>
          </p:nvPr>
        </p:nvSpPr>
        <p:spPr/>
        <p:txBody>
          <a:bodyPr/>
          <a:lstStyle/>
          <a:p/>
          <a:p>
            <a:pPr lvl="1" algn="l">
              <a:defRPr sz="2000" b="0">
                <a:solidFill>
                  <a:srgbClr val="222222"/>
                </a:solidFill>
              </a:defRPr>
            </a:pPr>
            <a:r>
              <a:t>Share findings in language each audience understands</a:t>
            </a:r>
          </a:p>
          <a:p>
            <a:pPr lvl="1" algn="l">
              <a:defRPr sz="2000" b="0">
                <a:solidFill>
                  <a:srgbClr val="222222"/>
                </a:solidFill>
              </a:defRPr>
            </a:pPr>
            <a:r>
              <a:t>Support remediation with clear technical details</a:t>
            </a:r>
          </a:p>
          <a:p>
            <a:pPr lvl="1" algn="l">
              <a:defRPr sz="2000" b="0">
                <a:solidFill>
                  <a:srgbClr val="222222"/>
                </a:solidFill>
              </a:defRPr>
            </a:pPr>
            <a:r>
              <a:t>Use lessons learned to refine future assessments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Legal and professional considerations</a:t>
            </a:r>
          </a:p>
        </p:txBody>
      </p:sp>
      <p:sp>
        <p:nvSpPr>
          <p:cNvPr id="3" name="Content Placeholder 2"/>
          <p:cNvSpPr>
            <a:spLocks noGrp="1"/>
          </p:cNvSpPr>
          <p:nvPr>
            <p:ph idx="1"/>
          </p:nvPr>
        </p:nvSpPr>
        <p:spPr/>
        <p:txBody>
          <a:bodyPr/>
          <a:lstStyle/>
          <a:p/>
          <a:p>
            <a:pPr lvl="1" algn="l">
              <a:defRPr sz="2000" b="0">
                <a:solidFill>
                  <a:srgbClr val="222222"/>
                </a:solidFill>
              </a:defRPr>
            </a:pPr>
            <a:r>
              <a:t>Understanding laws, regulations, and organizational policies</a:t>
            </a:r>
          </a:p>
          <a:p>
            <a:pPr lvl="1" algn="l">
              <a:defRPr sz="2000" b="0">
                <a:solidFill>
                  <a:srgbClr val="222222"/>
                </a:solidFill>
              </a:defRPr>
            </a:pPr>
            <a:r>
              <a:t>Importance of written authorization and contracts</a:t>
            </a:r>
          </a:p>
          <a:p>
            <a:pPr lvl="1" algn="l">
              <a:defRPr sz="2000" b="0">
                <a:solidFill>
                  <a:srgbClr val="222222"/>
                </a:solidFill>
              </a:defRPr>
            </a:pPr>
            <a:r>
              <a:t>Ethical codes of conduct and responsible behavior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Authorization, consent, and documentation</a:t>
            </a:r>
          </a:p>
        </p:txBody>
      </p:sp>
      <p:sp>
        <p:nvSpPr>
          <p:cNvPr id="3" name="Content Placeholder 2"/>
          <p:cNvSpPr>
            <a:spLocks noGrp="1"/>
          </p:cNvSpPr>
          <p:nvPr>
            <p:ph idx="1"/>
          </p:nvPr>
        </p:nvSpPr>
        <p:spPr/>
        <p:txBody>
          <a:bodyPr/>
          <a:lstStyle/>
          <a:p/>
          <a:p>
            <a:pPr lvl="1" algn="l">
              <a:defRPr sz="2000" b="0">
                <a:solidFill>
                  <a:srgbClr val="222222"/>
                </a:solidFill>
              </a:defRPr>
            </a:pPr>
            <a:r>
              <a:t>Never test without explicit written permission</a:t>
            </a:r>
          </a:p>
          <a:p>
            <a:pPr lvl="1" algn="l">
              <a:defRPr sz="2000" b="0">
                <a:solidFill>
                  <a:srgbClr val="222222"/>
                </a:solidFill>
              </a:defRPr>
            </a:pPr>
            <a:r>
              <a:t>Document scope, timing, and data handling rules</a:t>
            </a:r>
          </a:p>
          <a:p>
            <a:pPr lvl="1" algn="l">
              <a:defRPr sz="2000" b="0">
                <a:solidFill>
                  <a:srgbClr val="222222"/>
                </a:solidFill>
              </a:defRPr>
            </a:pPr>
            <a:r>
              <a:t>Retain evidence of authorization for accountability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Ethical principles in hacking practice</a:t>
            </a:r>
          </a:p>
        </p:txBody>
      </p:sp>
      <p:sp>
        <p:nvSpPr>
          <p:cNvPr id="3" name="Content Placeholder 2"/>
          <p:cNvSpPr>
            <a:spLocks noGrp="1"/>
          </p:cNvSpPr>
          <p:nvPr>
            <p:ph idx="1"/>
          </p:nvPr>
        </p:nvSpPr>
        <p:spPr/>
        <p:txBody>
          <a:bodyPr/>
          <a:lstStyle/>
          <a:p/>
          <a:p>
            <a:pPr lvl="1" algn="l">
              <a:defRPr sz="2000" b="0">
                <a:solidFill>
                  <a:srgbClr val="222222"/>
                </a:solidFill>
              </a:defRPr>
            </a:pPr>
            <a:r>
              <a:t>Respect privacy and avoid unnecessary data exposure</a:t>
            </a:r>
          </a:p>
          <a:p>
            <a:pPr lvl="1" algn="l">
              <a:defRPr sz="2000" b="0">
                <a:solidFill>
                  <a:srgbClr val="222222"/>
                </a:solidFill>
              </a:defRPr>
            </a:pPr>
            <a:r>
              <a:t>Minimize impact on availability and performance</a:t>
            </a:r>
          </a:p>
          <a:p>
            <a:pPr lvl="1" algn="l">
              <a:defRPr sz="2000" b="0">
                <a:solidFill>
                  <a:srgbClr val="222222"/>
                </a:solidFill>
              </a:defRPr>
            </a:pPr>
            <a:r>
              <a:t>Disclose vulnerabilities responsibly and securely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The hacking mindset and security fundamentals</a:t>
            </a:r>
          </a:p>
        </p:txBody>
      </p:sp>
      <p:sp>
        <p:nvSpPr>
          <p:cNvPr id="3" name="Content Placeholder 2"/>
          <p:cNvSpPr>
            <a:spLocks noGrp="1"/>
          </p:cNvSpPr>
          <p:nvPr>
            <p:ph idx="1"/>
          </p:nvPr>
        </p:nvSpPr>
        <p:spPr/>
        <p:txBody>
          <a:bodyPr/>
          <a:lstStyle/>
          <a:p/>
          <a:p>
            <a:pPr lvl="1" algn="l">
              <a:defRPr sz="2000" b="0">
                <a:solidFill>
                  <a:srgbClr val="222222"/>
                </a:solidFill>
              </a:defRPr>
            </a:pPr>
            <a:r>
              <a:t>Thinking like an attacker: curiosity, persistence, and creativity</a:t>
            </a:r>
          </a:p>
          <a:p>
            <a:pPr lvl="1" algn="l">
              <a:defRPr sz="2000" b="0">
                <a:solidFill>
                  <a:srgbClr val="222222"/>
                </a:solidFill>
              </a:defRPr>
            </a:pPr>
            <a:r>
              <a:t>Basic security goals: confidentiality, integrity, availability</a:t>
            </a:r>
          </a:p>
          <a:p>
            <a:pPr lvl="1" algn="l">
              <a:defRPr sz="2000" b="0">
                <a:solidFill>
                  <a:srgbClr val="222222"/>
                </a:solidFill>
              </a:defRPr>
            </a:pPr>
            <a:r>
              <a:t>High‑level overview of common attack surfaces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Adopting an attacker’s perspective</a:t>
            </a:r>
          </a:p>
        </p:txBody>
      </p:sp>
      <p:sp>
        <p:nvSpPr>
          <p:cNvPr id="3" name="Content Placeholder 2"/>
          <p:cNvSpPr>
            <a:spLocks noGrp="1"/>
          </p:cNvSpPr>
          <p:nvPr>
            <p:ph idx="1"/>
          </p:nvPr>
        </p:nvSpPr>
        <p:spPr/>
        <p:txBody>
          <a:bodyPr/>
          <a:lstStyle/>
          <a:p/>
          <a:p>
            <a:pPr lvl="1" algn="l">
              <a:defRPr sz="2000" b="0">
                <a:solidFill>
                  <a:srgbClr val="222222"/>
                </a:solidFill>
              </a:defRPr>
            </a:pPr>
            <a:r>
              <a:t>Question assumptions about trust and input</a:t>
            </a:r>
          </a:p>
          <a:p>
            <a:pPr lvl="1" algn="l">
              <a:defRPr sz="2000" b="0">
                <a:solidFill>
                  <a:srgbClr val="222222"/>
                </a:solidFill>
              </a:defRPr>
            </a:pPr>
            <a:r>
              <a:t>Look for what happens in unexpected or error cases</a:t>
            </a:r>
          </a:p>
          <a:p>
            <a:pPr lvl="1" algn="l">
              <a:defRPr sz="2000" b="0">
                <a:solidFill>
                  <a:srgbClr val="222222"/>
                </a:solidFill>
              </a:defRPr>
            </a:pPr>
            <a:r>
              <a:t>Map systems as interconnected components and data flows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Core security properties and trade‑offs</a:t>
            </a:r>
          </a:p>
        </p:txBody>
      </p:sp>
      <p:sp>
        <p:nvSpPr>
          <p:cNvPr id="3" name="Content Placeholder 2"/>
          <p:cNvSpPr>
            <a:spLocks noGrp="1"/>
          </p:cNvSpPr>
          <p:nvPr>
            <p:ph idx="1"/>
          </p:nvPr>
        </p:nvSpPr>
        <p:spPr/>
        <p:txBody>
          <a:bodyPr/>
          <a:lstStyle/>
          <a:p/>
          <a:p>
            <a:pPr lvl="1" algn="l">
              <a:defRPr sz="2000" b="0">
                <a:solidFill>
                  <a:srgbClr val="222222"/>
                </a:solidFill>
              </a:defRPr>
            </a:pPr>
            <a:r>
              <a:t>Confidentiality: keeping data accessible only to authorized parties</a:t>
            </a:r>
          </a:p>
          <a:p>
            <a:pPr lvl="1" algn="l">
              <a:defRPr sz="2000" b="0">
                <a:solidFill>
                  <a:srgbClr val="222222"/>
                </a:solidFill>
              </a:defRPr>
            </a:pPr>
            <a:r>
              <a:t>Integrity: ensuring data and systems are not tampered with</a:t>
            </a:r>
          </a:p>
          <a:p>
            <a:pPr lvl="1" algn="l">
              <a:defRPr sz="2000" b="0">
                <a:solidFill>
                  <a:srgbClr val="222222"/>
                </a:solidFill>
              </a:defRPr>
            </a:pPr>
            <a:r>
              <a:t>Availability: keeping services reliable and responsive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defRPr sz="4000" b="1">
                <a:solidFill>
                  <a:srgbClr val="00796B"/>
                </a:solidFill>
              </a:defRPr>
            </a:pPr>
            <a:r>
              <a:t>Reconnaissance and Information Gathering (6 hrs)</a:t>
            </a:r>
          </a:p>
        </p:txBody>
      </p:sp>
      <p:sp>
        <p:nvSpPr>
          <p:cNvPr id="3" name="Content Placeholder 2"/>
          <p:cNvSpPr>
            <a:spLocks noGrp="1"/>
          </p:cNvSpPr>
          <p:nvPr>
            <p:ph idx="1"/>
          </p:nvPr>
        </p:nvSpPr>
        <p:spPr/>
        <p:txBody>
          <a:bodyPr/>
          <a:lstStyle/>
          <a:p/>
          <a:p>
            <a:pPr lvl="1" algn="l">
              <a:defRPr sz="2000" b="0">
                <a:solidFill>
                  <a:srgbClr val="222222"/>
                </a:solidFill>
              </a:defRPr>
            </a:pPr>
            <a:r>
              <a:t>Open‑source intelligence (OSINT) techniques</a:t>
            </a:r>
          </a:p>
          <a:p>
            <a:pPr lvl="1" algn="l">
              <a:defRPr sz="2000" b="0">
                <a:solidFill>
                  <a:srgbClr val="222222"/>
                </a:solidFill>
              </a:defRPr>
            </a:pPr>
            <a:r>
              <a:t>Network and service discovery</a:t>
            </a:r>
          </a:p>
          <a:p>
            <a:pPr lvl="1" algn="l">
              <a:defRPr sz="2000" b="0">
                <a:solidFill>
                  <a:srgbClr val="222222"/>
                </a:solidFill>
              </a:defRPr>
            </a:pPr>
            <a:r>
              <a:t>Footprinting web applications and infrastructure</a:t>
            </a:r>
          </a:p>
          <a:p>
            <a:pPr lvl="1" algn="l">
              <a:defRPr sz="2000" b="0">
                <a:solidFill>
                  <a:srgbClr val="222222"/>
                </a:solidFill>
              </a:defRPr>
            </a:pPr>
            <a:r>
              <a:t>Organizing and analyzing gathered data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Open‑source intelligence (OSINT) techniques</a:t>
            </a:r>
          </a:p>
        </p:txBody>
      </p:sp>
      <p:sp>
        <p:nvSpPr>
          <p:cNvPr id="3" name="Content Placeholder 2"/>
          <p:cNvSpPr>
            <a:spLocks noGrp="1"/>
          </p:cNvSpPr>
          <p:nvPr>
            <p:ph idx="1"/>
          </p:nvPr>
        </p:nvSpPr>
        <p:spPr/>
        <p:txBody>
          <a:bodyPr/>
          <a:lstStyle/>
          <a:p/>
          <a:p>
            <a:pPr lvl="1" algn="l">
              <a:defRPr sz="2000" b="0">
                <a:solidFill>
                  <a:srgbClr val="222222"/>
                </a:solidFill>
              </a:defRPr>
            </a:pPr>
            <a:r>
              <a:t>Using search engines and advanced queries</a:t>
            </a:r>
          </a:p>
          <a:p>
            <a:pPr lvl="1" algn="l">
              <a:defRPr sz="2000" b="0">
                <a:solidFill>
                  <a:srgbClr val="222222"/>
                </a:solidFill>
              </a:defRPr>
            </a:pPr>
            <a:r>
              <a:t>Leveraging public records, forums, and social media</a:t>
            </a:r>
          </a:p>
          <a:p>
            <a:pPr lvl="1" algn="l">
              <a:defRPr sz="2000" b="0">
                <a:solidFill>
                  <a:srgbClr val="222222"/>
                </a:solidFill>
              </a:defRPr>
            </a:pPr>
            <a:r>
              <a:t>Identifying leaked credentials and exposed data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Search engine dorking for security insights</a:t>
            </a:r>
          </a:p>
        </p:txBody>
      </p:sp>
      <p:sp>
        <p:nvSpPr>
          <p:cNvPr id="3" name="Content Placeholder 2"/>
          <p:cNvSpPr>
            <a:spLocks noGrp="1"/>
          </p:cNvSpPr>
          <p:nvPr>
            <p:ph idx="1"/>
          </p:nvPr>
        </p:nvSpPr>
        <p:spPr/>
        <p:txBody>
          <a:bodyPr/>
          <a:lstStyle/>
          <a:p/>
          <a:p>
            <a:pPr lvl="1" algn="l">
              <a:defRPr sz="2000" b="0">
                <a:solidFill>
                  <a:srgbClr val="222222"/>
                </a:solidFill>
              </a:defRPr>
            </a:pPr>
            <a:r>
              <a:t>Combine site filters with filetype and keywords</a:t>
            </a:r>
          </a:p>
          <a:p>
            <a:pPr lvl="1" algn="l">
              <a:defRPr sz="2000" b="0">
                <a:solidFill>
                  <a:srgbClr val="222222"/>
                </a:solidFill>
              </a:defRPr>
            </a:pPr>
            <a:r>
              <a:t>Locate exposed configuration or backup files</a:t>
            </a:r>
          </a:p>
          <a:p>
            <a:pPr lvl="1" algn="l">
              <a:defRPr sz="2000" b="0">
                <a:solidFill>
                  <a:srgbClr val="222222"/>
                </a:solidFill>
              </a:defRPr>
            </a:pPr>
            <a:r>
              <a:t>Discover forgotten subdomains and web pages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Profiling people and technologies from public sources</a:t>
            </a:r>
          </a:p>
        </p:txBody>
      </p:sp>
      <p:sp>
        <p:nvSpPr>
          <p:cNvPr id="3" name="Content Placeholder 2"/>
          <p:cNvSpPr>
            <a:spLocks noGrp="1"/>
          </p:cNvSpPr>
          <p:nvPr>
            <p:ph idx="1"/>
          </p:nvPr>
        </p:nvSpPr>
        <p:spPr/>
        <p:txBody>
          <a:bodyPr/>
          <a:lstStyle/>
          <a:p/>
          <a:p>
            <a:pPr lvl="1" algn="l">
              <a:defRPr sz="2000" b="0">
                <a:solidFill>
                  <a:srgbClr val="222222"/>
                </a:solidFill>
              </a:defRPr>
            </a:pPr>
            <a:r>
              <a:t>Infer technology stacks from job posts and profiles</a:t>
            </a:r>
          </a:p>
          <a:p>
            <a:pPr lvl="1" algn="l">
              <a:defRPr sz="2000" b="0">
                <a:solidFill>
                  <a:srgbClr val="222222"/>
                </a:solidFill>
              </a:defRPr>
            </a:pPr>
            <a:r>
              <a:t>Use social media to map roles and relationships</a:t>
            </a:r>
          </a:p>
          <a:p>
            <a:pPr lvl="1" algn="l">
              <a:defRPr sz="2000" b="0">
                <a:solidFill>
                  <a:srgbClr val="222222"/>
                </a:solidFill>
              </a:defRPr>
            </a:pPr>
            <a:r>
              <a:t>Identify naming conventions and possible usernames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Network and service discovery</a:t>
            </a:r>
          </a:p>
        </p:txBody>
      </p:sp>
      <p:sp>
        <p:nvSpPr>
          <p:cNvPr id="3" name="Content Placeholder 2"/>
          <p:cNvSpPr>
            <a:spLocks noGrp="1"/>
          </p:cNvSpPr>
          <p:nvPr>
            <p:ph idx="1"/>
          </p:nvPr>
        </p:nvSpPr>
        <p:spPr/>
        <p:txBody>
          <a:bodyPr/>
          <a:lstStyle/>
          <a:p/>
          <a:p>
            <a:pPr lvl="1" algn="l">
              <a:defRPr sz="2000" b="0">
                <a:solidFill>
                  <a:srgbClr val="222222"/>
                </a:solidFill>
              </a:defRPr>
            </a:pPr>
            <a:r>
              <a:t>Identifying live hosts on a network</a:t>
            </a:r>
          </a:p>
          <a:p>
            <a:pPr lvl="1" algn="l">
              <a:defRPr sz="2000" b="0">
                <a:solidFill>
                  <a:srgbClr val="222222"/>
                </a:solidFill>
              </a:defRPr>
            </a:pPr>
            <a:r>
              <a:t>Discovering open ports and running services</a:t>
            </a:r>
          </a:p>
          <a:p>
            <a:pPr lvl="1" algn="l">
              <a:defRPr sz="2000" b="0">
                <a:solidFill>
                  <a:srgbClr val="222222"/>
                </a:solidFill>
              </a:defRPr>
            </a:pPr>
            <a:r>
              <a:t>Interpreting banners and basic fingerprints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Host discovery concepts</a:t>
            </a:r>
          </a:p>
        </p:txBody>
      </p:sp>
      <p:sp>
        <p:nvSpPr>
          <p:cNvPr id="3" name="Content Placeholder 2"/>
          <p:cNvSpPr>
            <a:spLocks noGrp="1"/>
          </p:cNvSpPr>
          <p:nvPr>
            <p:ph idx="1"/>
          </p:nvPr>
        </p:nvSpPr>
        <p:spPr/>
        <p:txBody>
          <a:bodyPr/>
          <a:lstStyle/>
          <a:p/>
          <a:p>
            <a:pPr lvl="1" algn="l">
              <a:defRPr sz="2000" b="0">
                <a:solidFill>
                  <a:srgbClr val="222222"/>
                </a:solidFill>
              </a:defRPr>
            </a:pPr>
            <a:r>
              <a:t>Use non‑intrusive probes to detect active systems</a:t>
            </a:r>
          </a:p>
          <a:p>
            <a:pPr lvl="1" algn="l">
              <a:defRPr sz="2000" b="0">
                <a:solidFill>
                  <a:srgbClr val="222222"/>
                </a:solidFill>
              </a:defRPr>
            </a:pPr>
            <a:r>
              <a:t>Understand impact of firewalls and filtering</a:t>
            </a:r>
          </a:p>
          <a:p>
            <a:pPr lvl="1" algn="l">
              <a:defRPr sz="2000" b="0">
                <a:solidFill>
                  <a:srgbClr val="222222"/>
                </a:solidFill>
              </a:defRPr>
            </a:pPr>
            <a:r>
              <a:t>Correlate network visibility with documented assets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Enumerating ports and basic service details</a:t>
            </a:r>
          </a:p>
        </p:txBody>
      </p:sp>
      <p:sp>
        <p:nvSpPr>
          <p:cNvPr id="3" name="Content Placeholder 2"/>
          <p:cNvSpPr>
            <a:spLocks noGrp="1"/>
          </p:cNvSpPr>
          <p:nvPr>
            <p:ph idx="1"/>
          </p:nvPr>
        </p:nvSpPr>
        <p:spPr/>
        <p:txBody>
          <a:bodyPr/>
          <a:lstStyle/>
          <a:p/>
          <a:p>
            <a:pPr lvl="1" algn="l">
              <a:defRPr sz="2000" b="0">
                <a:solidFill>
                  <a:srgbClr val="222222"/>
                </a:solidFill>
              </a:defRPr>
            </a:pPr>
            <a:r>
              <a:t>Scan for commonly used ports and protocols</a:t>
            </a:r>
          </a:p>
          <a:p>
            <a:pPr lvl="1" algn="l">
              <a:defRPr sz="2000" b="0">
                <a:solidFill>
                  <a:srgbClr val="222222"/>
                </a:solidFill>
              </a:defRPr>
            </a:pPr>
            <a:r>
              <a:t>Recognize typical services from port numbers</a:t>
            </a:r>
          </a:p>
          <a:p>
            <a:pPr lvl="1" algn="l">
              <a:defRPr sz="2000" b="0">
                <a:solidFill>
                  <a:srgbClr val="222222"/>
                </a:solidFill>
              </a:defRPr>
            </a:pPr>
            <a:r>
              <a:t>Use banner information to infer versions and products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Footprinting web applications and infrastructure</a:t>
            </a:r>
          </a:p>
        </p:txBody>
      </p:sp>
      <p:sp>
        <p:nvSpPr>
          <p:cNvPr id="3" name="Content Placeholder 2"/>
          <p:cNvSpPr>
            <a:spLocks noGrp="1"/>
          </p:cNvSpPr>
          <p:nvPr>
            <p:ph idx="1"/>
          </p:nvPr>
        </p:nvSpPr>
        <p:spPr/>
        <p:txBody>
          <a:bodyPr/>
          <a:lstStyle/>
          <a:p/>
          <a:p>
            <a:pPr lvl="1" algn="l">
              <a:defRPr sz="2000" b="0">
                <a:solidFill>
                  <a:srgbClr val="222222"/>
                </a:solidFill>
              </a:defRPr>
            </a:pPr>
            <a:r>
              <a:t>Mapping visible web structure and entry points</a:t>
            </a:r>
          </a:p>
          <a:p>
            <a:pPr lvl="1" algn="l">
              <a:defRPr sz="2000" b="0">
                <a:solidFill>
                  <a:srgbClr val="222222"/>
                </a:solidFill>
              </a:defRPr>
            </a:pPr>
            <a:r>
              <a:t>Identifying technologies, frameworks, and third‑party components</a:t>
            </a:r>
          </a:p>
          <a:p>
            <a:pPr lvl="1" algn="l">
              <a:defRPr sz="2000" b="0">
                <a:solidFill>
                  <a:srgbClr val="222222"/>
                </a:solidFill>
              </a:defRPr>
            </a:pPr>
            <a:r>
              <a:t>Discovering hidden or less obvious interfaces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Web structure and entry point mapping</a:t>
            </a:r>
          </a:p>
        </p:txBody>
      </p:sp>
      <p:sp>
        <p:nvSpPr>
          <p:cNvPr id="3" name="Content Placeholder 2"/>
          <p:cNvSpPr>
            <a:spLocks noGrp="1"/>
          </p:cNvSpPr>
          <p:nvPr>
            <p:ph idx="1"/>
          </p:nvPr>
        </p:nvSpPr>
        <p:spPr/>
        <p:txBody>
          <a:bodyPr/>
          <a:lstStyle/>
          <a:p/>
          <a:p>
            <a:pPr lvl="1" algn="l">
              <a:defRPr sz="2000" b="0">
                <a:solidFill>
                  <a:srgbClr val="222222"/>
                </a:solidFill>
              </a:defRPr>
            </a:pPr>
            <a:r>
              <a:t>List all reachable URLs and key parameters</a:t>
            </a:r>
          </a:p>
          <a:p>
            <a:pPr lvl="1" algn="l">
              <a:defRPr sz="2000" b="0">
                <a:solidFill>
                  <a:srgbClr val="222222"/>
                </a:solidFill>
              </a:defRPr>
            </a:pPr>
            <a:r>
              <a:t>Note authentication, role‑based access, and workflows</a:t>
            </a:r>
          </a:p>
          <a:p>
            <a:pPr lvl="1" algn="l">
              <a:defRPr sz="2000" b="0">
                <a:solidFill>
                  <a:srgbClr val="222222"/>
                </a:solidFill>
              </a:defRPr>
            </a:pPr>
            <a:r>
              <a:t>Identify user input points for later testing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Identifying technologies and hidden components</a:t>
            </a:r>
          </a:p>
        </p:txBody>
      </p:sp>
      <p:sp>
        <p:nvSpPr>
          <p:cNvPr id="3" name="Content Placeholder 2"/>
          <p:cNvSpPr>
            <a:spLocks noGrp="1"/>
          </p:cNvSpPr>
          <p:nvPr>
            <p:ph idx="1"/>
          </p:nvPr>
        </p:nvSpPr>
        <p:spPr/>
        <p:txBody>
          <a:bodyPr/>
          <a:lstStyle/>
          <a:p/>
          <a:p>
            <a:pPr lvl="1" algn="l">
              <a:defRPr sz="2000" b="0">
                <a:solidFill>
                  <a:srgbClr val="222222"/>
                </a:solidFill>
              </a:defRPr>
            </a:pPr>
            <a:r>
              <a:t>Observe headers, cookies, and visible resources</a:t>
            </a:r>
          </a:p>
          <a:p>
            <a:pPr lvl="1" algn="l">
              <a:defRPr sz="2000" b="0">
                <a:solidFill>
                  <a:srgbClr val="222222"/>
                </a:solidFill>
              </a:defRPr>
            </a:pPr>
            <a:r>
              <a:t>Spot framework signatures and library versions</a:t>
            </a:r>
          </a:p>
          <a:p>
            <a:pPr lvl="1" algn="l">
              <a:defRPr sz="2000" b="0">
                <a:solidFill>
                  <a:srgbClr val="222222"/>
                </a:solidFill>
              </a:defRPr>
            </a:pPr>
            <a:r>
              <a:t>Probe for common admin paths and leftover test pages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Organizing and analyzing gathered data</a:t>
            </a:r>
          </a:p>
        </p:txBody>
      </p:sp>
      <p:sp>
        <p:nvSpPr>
          <p:cNvPr id="3" name="Content Placeholder 2"/>
          <p:cNvSpPr>
            <a:spLocks noGrp="1"/>
          </p:cNvSpPr>
          <p:nvPr>
            <p:ph idx="1"/>
          </p:nvPr>
        </p:nvSpPr>
        <p:spPr/>
        <p:txBody>
          <a:bodyPr/>
          <a:lstStyle/>
          <a:p/>
          <a:p>
            <a:pPr lvl="1" algn="l">
              <a:defRPr sz="2000" b="0">
                <a:solidFill>
                  <a:srgbClr val="222222"/>
                </a:solidFill>
              </a:defRPr>
            </a:pPr>
            <a:r>
              <a:t>Consolidating findings into logical target groups</a:t>
            </a:r>
          </a:p>
          <a:p>
            <a:pPr lvl="1" algn="l">
              <a:defRPr sz="2000" b="0">
                <a:solidFill>
                  <a:srgbClr val="222222"/>
                </a:solidFill>
              </a:defRPr>
            </a:pPr>
            <a:r>
              <a:t>Prioritizing based on exposure and potential impact</a:t>
            </a:r>
          </a:p>
          <a:p>
            <a:pPr lvl="1" algn="l">
              <a:defRPr sz="2000" b="0">
                <a:solidFill>
                  <a:srgbClr val="222222"/>
                </a:solidFill>
              </a:defRPr>
            </a:pPr>
            <a:r>
              <a:t>Recognizing patterns that suggest misconfigurations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Structuring reconnaissance results</a:t>
            </a:r>
          </a:p>
        </p:txBody>
      </p:sp>
      <p:sp>
        <p:nvSpPr>
          <p:cNvPr id="3" name="Content Placeholder 2"/>
          <p:cNvSpPr>
            <a:spLocks noGrp="1"/>
          </p:cNvSpPr>
          <p:nvPr>
            <p:ph idx="1"/>
          </p:nvPr>
        </p:nvSpPr>
        <p:spPr/>
        <p:txBody>
          <a:bodyPr/>
          <a:lstStyle/>
          <a:p/>
          <a:p>
            <a:pPr lvl="1" algn="l">
              <a:defRPr sz="2000" b="0">
                <a:solidFill>
                  <a:srgbClr val="222222"/>
                </a:solidFill>
              </a:defRPr>
            </a:pPr>
            <a:r>
              <a:t>Maintain inventories of hosts, services, and applications</a:t>
            </a:r>
          </a:p>
          <a:p>
            <a:pPr lvl="1" algn="l">
              <a:defRPr sz="2000" b="0">
                <a:solidFill>
                  <a:srgbClr val="222222"/>
                </a:solidFill>
              </a:defRPr>
            </a:pPr>
            <a:r>
              <a:t>Tag entries with relevance and potential risk</a:t>
            </a:r>
          </a:p>
          <a:p>
            <a:pPr lvl="1" algn="l">
              <a:defRPr sz="2000" b="0">
                <a:solidFill>
                  <a:srgbClr val="222222"/>
                </a:solidFill>
              </a:defRPr>
            </a:pPr>
            <a:r>
              <a:t>Link technical data to business context where possible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From raw data to testing hypotheses</a:t>
            </a:r>
          </a:p>
        </p:txBody>
      </p:sp>
      <p:sp>
        <p:nvSpPr>
          <p:cNvPr id="3" name="Content Placeholder 2"/>
          <p:cNvSpPr>
            <a:spLocks noGrp="1"/>
          </p:cNvSpPr>
          <p:nvPr>
            <p:ph idx="1"/>
          </p:nvPr>
        </p:nvSpPr>
        <p:spPr/>
        <p:txBody>
          <a:bodyPr/>
          <a:lstStyle/>
          <a:p/>
          <a:p>
            <a:pPr lvl="1" algn="l">
              <a:defRPr sz="2000" b="0">
                <a:solidFill>
                  <a:srgbClr val="222222"/>
                </a:solidFill>
              </a:defRPr>
            </a:pPr>
            <a:r>
              <a:t>Formulate questions each target raises</a:t>
            </a:r>
          </a:p>
          <a:p>
            <a:pPr lvl="1" algn="l">
              <a:defRPr sz="2000" b="0">
                <a:solidFill>
                  <a:srgbClr val="222222"/>
                </a:solidFill>
              </a:defRPr>
            </a:pPr>
            <a:r>
              <a:t>Identify likely weaknesses from technology choices</a:t>
            </a:r>
          </a:p>
          <a:p>
            <a:pPr lvl="1" algn="l">
              <a:defRPr sz="2000" b="0">
                <a:solidFill>
                  <a:srgbClr val="222222"/>
                </a:solidFill>
              </a:defRPr>
            </a:pPr>
            <a:r>
              <a:t>Plan focused next steps instead of random probing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defRPr sz="4000" b="1">
                <a:solidFill>
                  <a:srgbClr val="00796B"/>
                </a:solidFill>
              </a:defRPr>
            </a:pPr>
            <a:r>
              <a:t>Scanning, Enumeration, and Vulnerability Analysis (6 hrs)</a:t>
            </a:r>
          </a:p>
        </p:txBody>
      </p:sp>
      <p:sp>
        <p:nvSpPr>
          <p:cNvPr id="3" name="Content Placeholder 2"/>
          <p:cNvSpPr>
            <a:spLocks noGrp="1"/>
          </p:cNvSpPr>
          <p:nvPr>
            <p:ph idx="1"/>
          </p:nvPr>
        </p:nvSpPr>
        <p:spPr/>
        <p:txBody>
          <a:bodyPr/>
          <a:lstStyle/>
          <a:p/>
          <a:p>
            <a:pPr lvl="1" algn="l">
              <a:defRPr sz="2000" b="0">
                <a:solidFill>
                  <a:srgbClr val="222222"/>
                </a:solidFill>
              </a:defRPr>
            </a:pPr>
            <a:r>
              <a:t>Active scanning versus passive observation</a:t>
            </a:r>
          </a:p>
          <a:p>
            <a:pPr lvl="1" algn="l">
              <a:defRPr sz="2000" b="0">
                <a:solidFill>
                  <a:srgbClr val="222222"/>
                </a:solidFill>
              </a:defRPr>
            </a:pPr>
            <a:r>
              <a:t>Enumerating services, users, and shares</a:t>
            </a:r>
          </a:p>
          <a:p>
            <a:pPr lvl="1" algn="l">
              <a:defRPr sz="2000" b="0">
                <a:solidFill>
                  <a:srgbClr val="222222"/>
                </a:solidFill>
              </a:defRPr>
            </a:pPr>
            <a:r>
              <a:t>Automated and manual vulnerability assessment</a:t>
            </a:r>
          </a:p>
          <a:p>
            <a:pPr lvl="1" algn="l">
              <a:defRPr sz="2000" b="0">
                <a:solidFill>
                  <a:srgbClr val="222222"/>
                </a:solidFill>
              </a:defRPr>
            </a:pPr>
            <a:r>
              <a:t>Validating and prioritizing discovered issues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Active scanning versus passive observation</a:t>
            </a:r>
          </a:p>
        </p:txBody>
      </p:sp>
      <p:sp>
        <p:nvSpPr>
          <p:cNvPr id="3" name="Content Placeholder 2"/>
          <p:cNvSpPr>
            <a:spLocks noGrp="1"/>
          </p:cNvSpPr>
          <p:nvPr>
            <p:ph idx="1"/>
          </p:nvPr>
        </p:nvSpPr>
        <p:spPr/>
        <p:txBody>
          <a:bodyPr/>
          <a:lstStyle/>
          <a:p/>
          <a:p>
            <a:pPr lvl="1" algn="l">
              <a:defRPr sz="2000" b="0">
                <a:solidFill>
                  <a:srgbClr val="222222"/>
                </a:solidFill>
              </a:defRPr>
            </a:pPr>
            <a:r>
              <a:t>Active techniques send traffic to provoke responses</a:t>
            </a:r>
          </a:p>
          <a:p>
            <a:pPr lvl="1" algn="l">
              <a:defRPr sz="2000" b="0">
                <a:solidFill>
                  <a:srgbClr val="222222"/>
                </a:solidFill>
              </a:defRPr>
            </a:pPr>
            <a:r>
              <a:t>Passive methods observe existing traffic and data</a:t>
            </a:r>
          </a:p>
          <a:p>
            <a:pPr lvl="1" algn="l">
              <a:defRPr sz="2000" b="0">
                <a:solidFill>
                  <a:srgbClr val="222222"/>
                </a:solidFill>
              </a:defRPr>
            </a:pPr>
            <a:r>
              <a:t>Balancing thoroughness with stealth and safety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Designing safe active scans</a:t>
            </a:r>
          </a:p>
        </p:txBody>
      </p:sp>
      <p:sp>
        <p:nvSpPr>
          <p:cNvPr id="3" name="Content Placeholder 2"/>
          <p:cNvSpPr>
            <a:spLocks noGrp="1"/>
          </p:cNvSpPr>
          <p:nvPr>
            <p:ph idx="1"/>
          </p:nvPr>
        </p:nvSpPr>
        <p:spPr/>
        <p:txBody>
          <a:bodyPr/>
          <a:lstStyle/>
          <a:p/>
          <a:p>
            <a:pPr lvl="1" algn="l">
              <a:defRPr sz="2000" b="0">
                <a:solidFill>
                  <a:srgbClr val="222222"/>
                </a:solidFill>
              </a:defRPr>
            </a:pPr>
            <a:r>
              <a:t>Limit intensity and concurrency to avoid overload</a:t>
            </a:r>
          </a:p>
          <a:p>
            <a:pPr lvl="1" algn="l">
              <a:defRPr sz="2000" b="0">
                <a:solidFill>
                  <a:srgbClr val="222222"/>
                </a:solidFill>
              </a:defRPr>
            </a:pPr>
            <a:r>
              <a:t>Respect blacklisted ranges and sensitive systems</a:t>
            </a:r>
          </a:p>
          <a:p>
            <a:pPr lvl="1" algn="l">
              <a:defRPr sz="2000" b="0">
                <a:solidFill>
                  <a:srgbClr val="222222"/>
                </a:solidFill>
              </a:defRPr>
            </a:pPr>
            <a:r>
              <a:t>Schedule during agreed maintenance or low‑traffic windows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When passive techniques are preferable</a:t>
            </a:r>
          </a:p>
        </p:txBody>
      </p:sp>
      <p:sp>
        <p:nvSpPr>
          <p:cNvPr id="3" name="Content Placeholder 2"/>
          <p:cNvSpPr>
            <a:spLocks noGrp="1"/>
          </p:cNvSpPr>
          <p:nvPr>
            <p:ph idx="1"/>
          </p:nvPr>
        </p:nvSpPr>
        <p:spPr/>
        <p:txBody>
          <a:bodyPr/>
          <a:lstStyle/>
          <a:p/>
          <a:p>
            <a:pPr lvl="1" algn="l">
              <a:defRPr sz="2000" b="0">
                <a:solidFill>
                  <a:srgbClr val="222222"/>
                </a:solidFill>
              </a:defRPr>
            </a:pPr>
            <a:r>
              <a:t>Highly sensitive or legacy systems with low tolerance for change</a:t>
            </a:r>
          </a:p>
          <a:p>
            <a:pPr lvl="1" algn="l">
              <a:defRPr sz="2000" b="0">
                <a:solidFill>
                  <a:srgbClr val="222222"/>
                </a:solidFill>
              </a:defRPr>
            </a:pPr>
            <a:r>
              <a:t>Environments where detection risk must be minimized</a:t>
            </a:r>
          </a:p>
          <a:p>
            <a:pPr lvl="1" algn="l">
              <a:defRPr sz="2000" b="0">
                <a:solidFill>
                  <a:srgbClr val="222222"/>
                </a:solidFill>
              </a:defRPr>
            </a:pPr>
            <a:r>
              <a:t>Situations with access to rich log or monitoring data</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Enumerating services, users, and shares</a:t>
            </a:r>
          </a:p>
        </p:txBody>
      </p:sp>
      <p:sp>
        <p:nvSpPr>
          <p:cNvPr id="3" name="Content Placeholder 2"/>
          <p:cNvSpPr>
            <a:spLocks noGrp="1"/>
          </p:cNvSpPr>
          <p:nvPr>
            <p:ph idx="1"/>
          </p:nvPr>
        </p:nvSpPr>
        <p:spPr/>
        <p:txBody>
          <a:bodyPr/>
          <a:lstStyle/>
          <a:p/>
          <a:p>
            <a:pPr lvl="1" algn="l">
              <a:defRPr sz="2000" b="0">
                <a:solidFill>
                  <a:srgbClr val="222222"/>
                </a:solidFill>
              </a:defRPr>
            </a:pPr>
            <a:r>
              <a:t>Extracting detailed information from network services</a:t>
            </a:r>
          </a:p>
          <a:p>
            <a:pPr lvl="1" algn="l">
              <a:defRPr sz="2000" b="0">
                <a:solidFill>
                  <a:srgbClr val="222222"/>
                </a:solidFill>
              </a:defRPr>
            </a:pPr>
            <a:r>
              <a:t>Identifying user accounts and group structures</a:t>
            </a:r>
          </a:p>
          <a:p>
            <a:pPr lvl="1" algn="l">
              <a:defRPr sz="2000" b="0">
                <a:solidFill>
                  <a:srgbClr val="222222"/>
                </a:solidFill>
              </a:defRPr>
            </a:pPr>
            <a:r>
              <a:t>Listing shared resources and accessible data</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Service‑specific enumeration examples</a:t>
            </a:r>
          </a:p>
        </p:txBody>
      </p:sp>
      <p:sp>
        <p:nvSpPr>
          <p:cNvPr id="3" name="Content Placeholder 2"/>
          <p:cNvSpPr>
            <a:spLocks noGrp="1"/>
          </p:cNvSpPr>
          <p:nvPr>
            <p:ph idx="1"/>
          </p:nvPr>
        </p:nvSpPr>
        <p:spPr/>
        <p:txBody>
          <a:bodyPr/>
          <a:lstStyle/>
          <a:p/>
          <a:p>
            <a:pPr lvl="1" algn="l">
              <a:defRPr sz="2000" b="0">
                <a:solidFill>
                  <a:srgbClr val="222222"/>
                </a:solidFill>
              </a:defRPr>
            </a:pPr>
            <a:r>
              <a:t>Directory services revealing user and group details</a:t>
            </a:r>
          </a:p>
          <a:p>
            <a:pPr lvl="1" algn="l">
              <a:defRPr sz="2000" b="0">
                <a:solidFill>
                  <a:srgbClr val="222222"/>
                </a:solidFill>
              </a:defRPr>
            </a:pPr>
            <a:r>
              <a:t>File sharing protocols exposing listable shares</a:t>
            </a:r>
          </a:p>
          <a:p>
            <a:pPr lvl="1" algn="l">
              <a:defRPr sz="2000" b="0">
                <a:solidFill>
                  <a:srgbClr val="222222"/>
                </a:solidFill>
              </a:defRPr>
            </a:pPr>
            <a:r>
              <a:t>Email and messaging systems leaking address data</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Assessing access levels and potential impact</a:t>
            </a:r>
          </a:p>
        </p:txBody>
      </p:sp>
      <p:sp>
        <p:nvSpPr>
          <p:cNvPr id="3" name="Content Placeholder 2"/>
          <p:cNvSpPr>
            <a:spLocks noGrp="1"/>
          </p:cNvSpPr>
          <p:nvPr>
            <p:ph idx="1"/>
          </p:nvPr>
        </p:nvSpPr>
        <p:spPr/>
        <p:txBody>
          <a:bodyPr/>
          <a:lstStyle/>
          <a:p/>
          <a:p>
            <a:pPr lvl="1" algn="l">
              <a:defRPr sz="2000" b="0">
                <a:solidFill>
                  <a:srgbClr val="222222"/>
                </a:solidFill>
              </a:defRPr>
            </a:pPr>
            <a:r>
              <a:t>Differentiate between anonymous, user, and admin views</a:t>
            </a:r>
          </a:p>
          <a:p>
            <a:pPr lvl="1" algn="l">
              <a:defRPr sz="2000" b="0">
                <a:solidFill>
                  <a:srgbClr val="222222"/>
                </a:solidFill>
              </a:defRPr>
            </a:pPr>
            <a:r>
              <a:t>Map which data or functions each role can reach</a:t>
            </a:r>
          </a:p>
          <a:p>
            <a:pPr lvl="1" algn="l">
              <a:defRPr sz="2000" b="0">
                <a:solidFill>
                  <a:srgbClr val="222222"/>
                </a:solidFill>
              </a:defRPr>
            </a:pPr>
            <a:r>
              <a:t>Spot privilege imbalances and misassigned rights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Automated and manual vulnerability assessment</a:t>
            </a:r>
          </a:p>
        </p:txBody>
      </p:sp>
      <p:sp>
        <p:nvSpPr>
          <p:cNvPr id="3" name="Content Placeholder 2"/>
          <p:cNvSpPr>
            <a:spLocks noGrp="1"/>
          </p:cNvSpPr>
          <p:nvPr>
            <p:ph idx="1"/>
          </p:nvPr>
        </p:nvSpPr>
        <p:spPr/>
        <p:txBody>
          <a:bodyPr/>
          <a:lstStyle/>
          <a:p/>
          <a:p>
            <a:pPr lvl="1" algn="l">
              <a:defRPr sz="2000" b="0">
                <a:solidFill>
                  <a:srgbClr val="222222"/>
                </a:solidFill>
              </a:defRPr>
            </a:pPr>
            <a:r>
              <a:t>Using scanners to identify known weaknesses</a:t>
            </a:r>
          </a:p>
          <a:p>
            <a:pPr lvl="1" algn="l">
              <a:defRPr sz="2000" b="0">
                <a:solidFill>
                  <a:srgbClr val="222222"/>
                </a:solidFill>
              </a:defRPr>
            </a:pPr>
            <a:r>
              <a:t>Recognizing limitations and false positives</a:t>
            </a:r>
          </a:p>
          <a:p>
            <a:pPr lvl="1" algn="l">
              <a:defRPr sz="2000" b="0">
                <a:solidFill>
                  <a:srgbClr val="222222"/>
                </a:solidFill>
              </a:defRPr>
            </a:pPr>
            <a:r>
              <a:t>Augmenting tools with manual checks and reasoning</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Interpreting scanner findings responsibly</a:t>
            </a:r>
          </a:p>
        </p:txBody>
      </p:sp>
      <p:sp>
        <p:nvSpPr>
          <p:cNvPr id="3" name="Content Placeholder 2"/>
          <p:cNvSpPr>
            <a:spLocks noGrp="1"/>
          </p:cNvSpPr>
          <p:nvPr>
            <p:ph idx="1"/>
          </p:nvPr>
        </p:nvSpPr>
        <p:spPr/>
        <p:txBody>
          <a:bodyPr/>
          <a:lstStyle/>
          <a:p/>
          <a:p>
            <a:pPr lvl="1" algn="l">
              <a:defRPr sz="2000" b="0">
                <a:solidFill>
                  <a:srgbClr val="222222"/>
                </a:solidFill>
              </a:defRPr>
            </a:pPr>
            <a:r>
              <a:t>Validate critical issues before sounding alarms</a:t>
            </a:r>
          </a:p>
          <a:p>
            <a:pPr lvl="1" algn="l">
              <a:defRPr sz="2000" b="0">
                <a:solidFill>
                  <a:srgbClr val="222222"/>
                </a:solidFill>
              </a:defRPr>
            </a:pPr>
            <a:r>
              <a:t>Consider environmental context and exposure</a:t>
            </a:r>
          </a:p>
          <a:p>
            <a:pPr lvl="1" algn="l">
              <a:defRPr sz="2000" b="0">
                <a:solidFill>
                  <a:srgbClr val="222222"/>
                </a:solidFill>
              </a:defRPr>
            </a:pPr>
            <a:r>
              <a:t>Avoid inflating severity based solely on tool labels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Complementing tools with targeted manual testing</a:t>
            </a:r>
          </a:p>
        </p:txBody>
      </p:sp>
      <p:sp>
        <p:nvSpPr>
          <p:cNvPr id="3" name="Content Placeholder 2"/>
          <p:cNvSpPr>
            <a:spLocks noGrp="1"/>
          </p:cNvSpPr>
          <p:nvPr>
            <p:ph idx="1"/>
          </p:nvPr>
        </p:nvSpPr>
        <p:spPr/>
        <p:txBody>
          <a:bodyPr/>
          <a:lstStyle/>
          <a:p/>
          <a:p>
            <a:pPr lvl="1" algn="l">
              <a:defRPr sz="2000" b="0">
                <a:solidFill>
                  <a:srgbClr val="222222"/>
                </a:solidFill>
              </a:defRPr>
            </a:pPr>
            <a:r>
              <a:t>Explore edge cases and complex workflows</a:t>
            </a:r>
          </a:p>
          <a:p>
            <a:pPr lvl="1" algn="l">
              <a:defRPr sz="2000" b="0">
                <a:solidFill>
                  <a:srgbClr val="222222"/>
                </a:solidFill>
              </a:defRPr>
            </a:pPr>
            <a:r>
              <a:t>Test assumptions tools cannot model well</a:t>
            </a:r>
          </a:p>
          <a:p>
            <a:pPr lvl="1" algn="l">
              <a:defRPr sz="2000" b="0">
                <a:solidFill>
                  <a:srgbClr val="222222"/>
                </a:solidFill>
              </a:defRPr>
            </a:pPr>
            <a:r>
              <a:t>Look for custom logic and business‑specific flaws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Validating and prioritizing discovered issues</a:t>
            </a:r>
          </a:p>
        </p:txBody>
      </p:sp>
      <p:sp>
        <p:nvSpPr>
          <p:cNvPr id="3" name="Content Placeholder 2"/>
          <p:cNvSpPr>
            <a:spLocks noGrp="1"/>
          </p:cNvSpPr>
          <p:nvPr>
            <p:ph idx="1"/>
          </p:nvPr>
        </p:nvSpPr>
        <p:spPr/>
        <p:txBody>
          <a:bodyPr/>
          <a:lstStyle/>
          <a:p/>
          <a:p>
            <a:pPr lvl="1" algn="l">
              <a:defRPr sz="2000" b="0">
                <a:solidFill>
                  <a:srgbClr val="222222"/>
                </a:solidFill>
              </a:defRPr>
            </a:pPr>
            <a:r>
              <a:t>Confirm that vulnerabilities are real and reproducible</a:t>
            </a:r>
          </a:p>
          <a:p>
            <a:pPr lvl="1" algn="l">
              <a:defRPr sz="2000" b="0">
                <a:solidFill>
                  <a:srgbClr val="222222"/>
                </a:solidFill>
              </a:defRPr>
            </a:pPr>
            <a:r>
              <a:t>Estimate potential impact on confidentiality, integrity, availability</a:t>
            </a:r>
          </a:p>
          <a:p>
            <a:pPr lvl="1" algn="l">
              <a:defRPr sz="2000" b="0">
                <a:solidFill>
                  <a:srgbClr val="222222"/>
                </a:solidFill>
              </a:defRPr>
            </a:pPr>
            <a:r>
              <a:t>Rank issues to guide remediation efforts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Safe validation techniques</a:t>
            </a:r>
          </a:p>
        </p:txBody>
      </p:sp>
      <p:sp>
        <p:nvSpPr>
          <p:cNvPr id="3" name="Content Placeholder 2"/>
          <p:cNvSpPr>
            <a:spLocks noGrp="1"/>
          </p:cNvSpPr>
          <p:nvPr>
            <p:ph idx="1"/>
          </p:nvPr>
        </p:nvSpPr>
        <p:spPr/>
        <p:txBody>
          <a:bodyPr/>
          <a:lstStyle/>
          <a:p/>
          <a:p>
            <a:pPr lvl="1" algn="l">
              <a:defRPr sz="2000" b="0">
                <a:solidFill>
                  <a:srgbClr val="222222"/>
                </a:solidFill>
              </a:defRPr>
            </a:pPr>
            <a:r>
              <a:t>Use minimal proof‑of‑concept steps to confirm behavior</a:t>
            </a:r>
          </a:p>
          <a:p>
            <a:pPr lvl="1" algn="l">
              <a:defRPr sz="2000" b="0">
                <a:solidFill>
                  <a:srgbClr val="222222"/>
                </a:solidFill>
              </a:defRPr>
            </a:pPr>
            <a:r>
              <a:t>Avoid destructive or irreversible actions</a:t>
            </a:r>
          </a:p>
          <a:p>
            <a:pPr lvl="1" algn="l">
              <a:defRPr sz="2000" b="0">
                <a:solidFill>
                  <a:srgbClr val="222222"/>
                </a:solidFill>
              </a:defRPr>
            </a:pPr>
            <a:r>
              <a:t>Coordinate with stakeholders before high‑risk tests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Ranking vulnerabilities for action</a:t>
            </a:r>
          </a:p>
        </p:txBody>
      </p:sp>
      <p:sp>
        <p:nvSpPr>
          <p:cNvPr id="3" name="Content Placeholder 2"/>
          <p:cNvSpPr>
            <a:spLocks noGrp="1"/>
          </p:cNvSpPr>
          <p:nvPr>
            <p:ph idx="1"/>
          </p:nvPr>
        </p:nvSpPr>
        <p:spPr/>
        <p:txBody>
          <a:bodyPr/>
          <a:lstStyle/>
          <a:p/>
          <a:p>
            <a:pPr lvl="1" algn="l">
              <a:defRPr sz="2000" b="0">
                <a:solidFill>
                  <a:srgbClr val="222222"/>
                </a:solidFill>
              </a:defRPr>
            </a:pPr>
            <a:r>
              <a:t>Combine technical severity with business impact</a:t>
            </a:r>
          </a:p>
          <a:p>
            <a:pPr lvl="1" algn="l">
              <a:defRPr sz="2000" b="0">
                <a:solidFill>
                  <a:srgbClr val="222222"/>
                </a:solidFill>
              </a:defRPr>
            </a:pPr>
            <a:r>
              <a:t>Account for ease of exploitation and exposure</a:t>
            </a:r>
          </a:p>
          <a:p>
            <a:pPr lvl="1" algn="l">
              <a:defRPr sz="2000" b="0">
                <a:solidFill>
                  <a:srgbClr val="222222"/>
                </a:solidFill>
              </a:defRPr>
            </a:pPr>
            <a:r>
              <a:t>Group related issues into meaningful remediation items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defRPr sz="4000" b="1">
                <a:solidFill>
                  <a:srgbClr val="00796B"/>
                </a:solidFill>
              </a:defRPr>
            </a:pPr>
            <a:r>
              <a:t>System Hacking, Passwords, and Privilege Escalation (8 hrs)</a:t>
            </a:r>
          </a:p>
        </p:txBody>
      </p:sp>
      <p:sp>
        <p:nvSpPr>
          <p:cNvPr id="3" name="Content Placeholder 2"/>
          <p:cNvSpPr>
            <a:spLocks noGrp="1"/>
          </p:cNvSpPr>
          <p:nvPr>
            <p:ph idx="1"/>
          </p:nvPr>
        </p:nvSpPr>
        <p:spPr/>
        <p:txBody>
          <a:bodyPr/>
          <a:lstStyle/>
          <a:p/>
          <a:p>
            <a:pPr lvl="1" algn="l">
              <a:defRPr sz="2000" b="0">
                <a:solidFill>
                  <a:srgbClr val="222222"/>
                </a:solidFill>
              </a:defRPr>
            </a:pPr>
            <a:r>
              <a:t>Gaining and maintaining access to systems</a:t>
            </a:r>
          </a:p>
          <a:p>
            <a:pPr lvl="1" algn="l">
              <a:defRPr sz="2000" b="0">
                <a:solidFill>
                  <a:srgbClr val="222222"/>
                </a:solidFill>
              </a:defRPr>
            </a:pPr>
            <a:r>
              <a:t>Password attacks and credential abuse</a:t>
            </a:r>
          </a:p>
          <a:p>
            <a:pPr lvl="1" algn="l">
              <a:defRPr sz="2000" b="0">
                <a:solidFill>
                  <a:srgbClr val="222222"/>
                </a:solidFill>
              </a:defRPr>
            </a:pPr>
            <a:r>
              <a:t>Escalating privileges on compromised hosts</a:t>
            </a:r>
          </a:p>
          <a:p>
            <a:pPr lvl="1" algn="l">
              <a:defRPr sz="2000" b="0">
                <a:solidFill>
                  <a:srgbClr val="222222"/>
                </a:solidFill>
              </a:defRPr>
            </a:pPr>
            <a:r>
              <a:t>Covering tracks and understanding persistence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Gaining and maintaining access to systems</a:t>
            </a:r>
          </a:p>
        </p:txBody>
      </p:sp>
      <p:sp>
        <p:nvSpPr>
          <p:cNvPr id="3" name="Content Placeholder 2"/>
          <p:cNvSpPr>
            <a:spLocks noGrp="1"/>
          </p:cNvSpPr>
          <p:nvPr>
            <p:ph idx="1"/>
          </p:nvPr>
        </p:nvSpPr>
        <p:spPr/>
        <p:txBody>
          <a:bodyPr/>
          <a:lstStyle/>
          <a:p/>
          <a:p>
            <a:pPr lvl="1" algn="l">
              <a:defRPr sz="2000" b="0">
                <a:solidFill>
                  <a:srgbClr val="222222"/>
                </a:solidFill>
              </a:defRPr>
            </a:pPr>
            <a:r>
              <a:t>Common paths to initial system compromise</a:t>
            </a:r>
          </a:p>
          <a:p>
            <a:pPr lvl="1" algn="l">
              <a:defRPr sz="2000" b="0">
                <a:solidFill>
                  <a:srgbClr val="222222"/>
                </a:solidFill>
              </a:defRPr>
            </a:pPr>
            <a:r>
              <a:t>Executing code and establishing footholds</a:t>
            </a:r>
          </a:p>
          <a:p>
            <a:pPr lvl="1" algn="l">
              <a:defRPr sz="2000" b="0">
                <a:solidFill>
                  <a:srgbClr val="222222"/>
                </a:solidFill>
              </a:defRPr>
            </a:pPr>
            <a:r>
              <a:t>Maintaining access while limiting damage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Paths to initial compromise</a:t>
            </a:r>
          </a:p>
        </p:txBody>
      </p:sp>
      <p:sp>
        <p:nvSpPr>
          <p:cNvPr id="3" name="Content Placeholder 2"/>
          <p:cNvSpPr>
            <a:spLocks noGrp="1"/>
          </p:cNvSpPr>
          <p:nvPr>
            <p:ph idx="1"/>
          </p:nvPr>
        </p:nvSpPr>
        <p:spPr/>
        <p:txBody>
          <a:bodyPr/>
          <a:lstStyle/>
          <a:p/>
          <a:p>
            <a:pPr lvl="1" algn="l">
              <a:defRPr sz="2000" b="0">
                <a:solidFill>
                  <a:srgbClr val="222222"/>
                </a:solidFill>
              </a:defRPr>
            </a:pPr>
            <a:r>
              <a:t>Exploiting vulnerable services or applications</a:t>
            </a:r>
          </a:p>
          <a:p>
            <a:pPr lvl="1" algn="l">
              <a:defRPr sz="2000" b="0">
                <a:solidFill>
                  <a:srgbClr val="222222"/>
                </a:solidFill>
              </a:defRPr>
            </a:pPr>
            <a:r>
              <a:t>Leveraging misconfigurations and default settings</a:t>
            </a:r>
          </a:p>
          <a:p>
            <a:pPr lvl="1" algn="l">
              <a:defRPr sz="2000" b="0">
                <a:solidFill>
                  <a:srgbClr val="222222"/>
                </a:solidFill>
              </a:defRPr>
            </a:pPr>
            <a:r>
              <a:t>Triggering user‑initiated execution via phishing or files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Establishing and managing footholds</a:t>
            </a:r>
          </a:p>
        </p:txBody>
      </p:sp>
      <p:sp>
        <p:nvSpPr>
          <p:cNvPr id="3" name="Content Placeholder 2"/>
          <p:cNvSpPr>
            <a:spLocks noGrp="1"/>
          </p:cNvSpPr>
          <p:nvPr>
            <p:ph idx="1"/>
          </p:nvPr>
        </p:nvSpPr>
        <p:spPr/>
        <p:txBody>
          <a:bodyPr/>
          <a:lstStyle/>
          <a:p/>
          <a:p>
            <a:pPr lvl="1" algn="l">
              <a:defRPr sz="2000" b="0">
                <a:solidFill>
                  <a:srgbClr val="222222"/>
                </a:solidFill>
              </a:defRPr>
            </a:pPr>
            <a:r>
              <a:t>Create controlled access channels to compromised systems</a:t>
            </a:r>
          </a:p>
          <a:p>
            <a:pPr lvl="1" algn="l">
              <a:defRPr sz="2000" b="0">
                <a:solidFill>
                  <a:srgbClr val="222222"/>
                </a:solidFill>
              </a:defRPr>
            </a:pPr>
            <a:r>
              <a:t>Avoid unnecessary elevation or lateral movement</a:t>
            </a:r>
          </a:p>
          <a:p>
            <a:pPr lvl="1" algn="l">
              <a:defRPr sz="2000" b="0">
                <a:solidFill>
                  <a:srgbClr val="222222"/>
                </a:solidFill>
              </a:defRPr>
            </a:pPr>
            <a:r>
              <a:t>Document every step for later review and remediation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Password attacks and credential abuse</a:t>
            </a:r>
          </a:p>
        </p:txBody>
      </p:sp>
      <p:sp>
        <p:nvSpPr>
          <p:cNvPr id="3" name="Content Placeholder 2"/>
          <p:cNvSpPr>
            <a:spLocks noGrp="1"/>
          </p:cNvSpPr>
          <p:nvPr>
            <p:ph idx="1"/>
          </p:nvPr>
        </p:nvSpPr>
        <p:spPr/>
        <p:txBody>
          <a:bodyPr/>
          <a:lstStyle/>
          <a:p/>
          <a:p>
            <a:pPr lvl="1" algn="l">
              <a:defRPr sz="2000" b="0">
                <a:solidFill>
                  <a:srgbClr val="222222"/>
                </a:solidFill>
              </a:defRPr>
            </a:pPr>
            <a:r>
              <a:t>Understanding password storage and authentication flows</a:t>
            </a:r>
          </a:p>
          <a:p>
            <a:pPr lvl="1" algn="l">
              <a:defRPr sz="2000" b="0">
                <a:solidFill>
                  <a:srgbClr val="222222"/>
                </a:solidFill>
              </a:defRPr>
            </a:pPr>
            <a:r>
              <a:t>Guessing, cracking, and reusing credentials</a:t>
            </a:r>
          </a:p>
          <a:p>
            <a:pPr lvl="1" algn="l">
              <a:defRPr sz="2000" b="0">
                <a:solidFill>
                  <a:srgbClr val="222222"/>
                </a:solidFill>
              </a:defRPr>
            </a:pPr>
            <a:r>
              <a:t>Protecting against common password‑related attacks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How passwords are stored and verified</a:t>
            </a:r>
          </a:p>
        </p:txBody>
      </p:sp>
      <p:sp>
        <p:nvSpPr>
          <p:cNvPr id="3" name="Content Placeholder 2"/>
          <p:cNvSpPr>
            <a:spLocks noGrp="1"/>
          </p:cNvSpPr>
          <p:nvPr>
            <p:ph idx="1"/>
          </p:nvPr>
        </p:nvSpPr>
        <p:spPr/>
        <p:txBody>
          <a:bodyPr/>
          <a:lstStyle/>
          <a:p/>
          <a:p>
            <a:pPr lvl="1" algn="l">
              <a:defRPr sz="2000" b="0">
                <a:solidFill>
                  <a:srgbClr val="222222"/>
                </a:solidFill>
              </a:defRPr>
            </a:pPr>
            <a:r>
              <a:t>Hashing and salting concepts for password storage</a:t>
            </a:r>
          </a:p>
          <a:p>
            <a:pPr lvl="1" algn="l">
              <a:defRPr sz="2000" b="0">
                <a:solidFill>
                  <a:srgbClr val="222222"/>
                </a:solidFill>
              </a:defRPr>
            </a:pPr>
            <a:r>
              <a:t>Authentication checks compare derived values, not plain text</a:t>
            </a:r>
          </a:p>
          <a:p>
            <a:pPr lvl="1" algn="l">
              <a:defRPr sz="2000" b="0">
                <a:solidFill>
                  <a:srgbClr val="222222"/>
                </a:solidFill>
              </a:defRPr>
            </a:pPr>
            <a:r>
              <a:t>Weak or outdated algorithms enable faster cracking</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Common credential attack patterns</a:t>
            </a:r>
          </a:p>
        </p:txBody>
      </p:sp>
      <p:sp>
        <p:nvSpPr>
          <p:cNvPr id="3" name="Content Placeholder 2"/>
          <p:cNvSpPr>
            <a:spLocks noGrp="1"/>
          </p:cNvSpPr>
          <p:nvPr>
            <p:ph idx="1"/>
          </p:nvPr>
        </p:nvSpPr>
        <p:spPr/>
        <p:txBody>
          <a:bodyPr/>
          <a:lstStyle/>
          <a:p/>
          <a:p>
            <a:pPr lvl="1" algn="l">
              <a:defRPr sz="2000" b="0">
                <a:solidFill>
                  <a:srgbClr val="222222"/>
                </a:solidFill>
              </a:defRPr>
            </a:pPr>
            <a:r>
              <a:t>Online guessing using dictionaries and simple variations</a:t>
            </a:r>
          </a:p>
          <a:p>
            <a:pPr lvl="1" algn="l">
              <a:defRPr sz="2000" b="0">
                <a:solidFill>
                  <a:srgbClr val="222222"/>
                </a:solidFill>
              </a:defRPr>
            </a:pPr>
            <a:r>
              <a:t>Offline cracking when hashes or encrypted stores are obtained</a:t>
            </a:r>
          </a:p>
          <a:p>
            <a:pPr lvl="1" algn="l">
              <a:defRPr sz="2000" b="0">
                <a:solidFill>
                  <a:srgbClr val="222222"/>
                </a:solidFill>
              </a:defRPr>
            </a:pPr>
            <a:r>
              <a:t>Credential stuffing across multiple services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Escalating privileges on compromised hosts</a:t>
            </a:r>
          </a:p>
        </p:txBody>
      </p:sp>
      <p:sp>
        <p:nvSpPr>
          <p:cNvPr id="3" name="Content Placeholder 2"/>
          <p:cNvSpPr>
            <a:spLocks noGrp="1"/>
          </p:cNvSpPr>
          <p:nvPr>
            <p:ph idx="1"/>
          </p:nvPr>
        </p:nvSpPr>
        <p:spPr/>
        <p:txBody>
          <a:bodyPr/>
          <a:lstStyle/>
          <a:p/>
          <a:p>
            <a:pPr lvl="1" algn="l">
              <a:defRPr sz="2000" b="0">
                <a:solidFill>
                  <a:srgbClr val="222222"/>
                </a:solidFill>
              </a:defRPr>
            </a:pPr>
            <a:r>
              <a:t>From low‑privileged footholds to administrative control</a:t>
            </a:r>
          </a:p>
          <a:p>
            <a:pPr lvl="1" algn="l">
              <a:defRPr sz="2000" b="0">
                <a:solidFill>
                  <a:srgbClr val="222222"/>
                </a:solidFill>
              </a:defRPr>
            </a:pPr>
            <a:r>
              <a:t>Abusing misconfigurations and local weaknesses</a:t>
            </a:r>
          </a:p>
          <a:p>
            <a:pPr lvl="1" algn="l">
              <a:defRPr sz="2000" b="0">
                <a:solidFill>
                  <a:srgbClr val="222222"/>
                </a:solidFill>
              </a:defRPr>
            </a:pPr>
            <a:r>
              <a:t>Understanding the risks of excessive privileges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Privilege escalation techniques in concept</a:t>
            </a:r>
          </a:p>
        </p:txBody>
      </p:sp>
      <p:sp>
        <p:nvSpPr>
          <p:cNvPr id="3" name="Content Placeholder 2"/>
          <p:cNvSpPr>
            <a:spLocks noGrp="1"/>
          </p:cNvSpPr>
          <p:nvPr>
            <p:ph idx="1"/>
          </p:nvPr>
        </p:nvSpPr>
        <p:spPr/>
        <p:txBody>
          <a:bodyPr/>
          <a:lstStyle/>
          <a:p/>
          <a:p>
            <a:pPr lvl="1" algn="l">
              <a:defRPr sz="2000" b="0">
                <a:solidFill>
                  <a:srgbClr val="222222"/>
                </a:solidFill>
              </a:defRPr>
            </a:pPr>
            <a:r>
              <a:t>Search for misconfigured services or scheduled tasks</a:t>
            </a:r>
          </a:p>
          <a:p>
            <a:pPr lvl="1" algn="l">
              <a:defRPr sz="2000" b="0">
                <a:solidFill>
                  <a:srgbClr val="222222"/>
                </a:solidFill>
              </a:defRPr>
            </a:pPr>
            <a:r>
              <a:t>Leverage insecure file or directory permissions</a:t>
            </a:r>
          </a:p>
          <a:p>
            <a:pPr lvl="1" algn="l">
              <a:defRPr sz="2000" b="0">
                <a:solidFill>
                  <a:srgbClr val="222222"/>
                </a:solidFill>
              </a:defRPr>
            </a:pPr>
            <a:r>
              <a:t>Exploit local vulnerabilities in the operating system</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Risks of over‑privileged accounts and services</a:t>
            </a:r>
          </a:p>
        </p:txBody>
      </p:sp>
      <p:sp>
        <p:nvSpPr>
          <p:cNvPr id="3" name="Content Placeholder 2"/>
          <p:cNvSpPr>
            <a:spLocks noGrp="1"/>
          </p:cNvSpPr>
          <p:nvPr>
            <p:ph idx="1"/>
          </p:nvPr>
        </p:nvSpPr>
        <p:spPr/>
        <p:txBody>
          <a:bodyPr/>
          <a:lstStyle/>
          <a:p/>
          <a:p>
            <a:pPr lvl="1" algn="l">
              <a:defRPr sz="2000" b="0">
                <a:solidFill>
                  <a:srgbClr val="222222"/>
                </a:solidFill>
              </a:defRPr>
            </a:pPr>
            <a:r>
              <a:t>Single account compromise leading to full system takeover</a:t>
            </a:r>
          </a:p>
          <a:p>
            <a:pPr lvl="1" algn="l">
              <a:defRPr sz="2000" b="0">
                <a:solidFill>
                  <a:srgbClr val="222222"/>
                </a:solidFill>
              </a:defRPr>
            </a:pPr>
            <a:r>
              <a:t>Services running with more rights than needed</a:t>
            </a:r>
          </a:p>
          <a:p>
            <a:pPr lvl="1" algn="l">
              <a:defRPr sz="2000" b="0">
                <a:solidFill>
                  <a:srgbClr val="222222"/>
                </a:solidFill>
              </a:defRPr>
            </a:pPr>
            <a:r>
              <a:t>Difficulty containing breaches without proper privilege separation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Covering tracks and understanding persistence</a:t>
            </a:r>
          </a:p>
        </p:txBody>
      </p:sp>
      <p:sp>
        <p:nvSpPr>
          <p:cNvPr id="3" name="Content Placeholder 2"/>
          <p:cNvSpPr>
            <a:spLocks noGrp="1"/>
          </p:cNvSpPr>
          <p:nvPr>
            <p:ph idx="1"/>
          </p:nvPr>
        </p:nvSpPr>
        <p:spPr/>
        <p:txBody>
          <a:bodyPr/>
          <a:lstStyle/>
          <a:p/>
          <a:p>
            <a:pPr lvl="1" algn="l">
              <a:defRPr sz="2000" b="0">
                <a:solidFill>
                  <a:srgbClr val="222222"/>
                </a:solidFill>
              </a:defRPr>
            </a:pPr>
            <a:r>
              <a:t>What attackers do to hide activities</a:t>
            </a:r>
          </a:p>
          <a:p>
            <a:pPr lvl="1" algn="l">
              <a:defRPr sz="2000" b="0">
                <a:solidFill>
                  <a:srgbClr val="222222"/>
                </a:solidFill>
              </a:defRPr>
            </a:pPr>
            <a:r>
              <a:t>Ways adversaries establish long‑term presence</a:t>
            </a:r>
          </a:p>
          <a:p>
            <a:pPr lvl="1" algn="l">
              <a:defRPr sz="2000" b="0">
                <a:solidFill>
                  <a:srgbClr val="222222"/>
                </a:solidFill>
              </a:defRPr>
            </a:pPr>
            <a:r>
              <a:t>Why ethical hackers must document rather than conceal</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Attacker techniques for hiding evidence</a:t>
            </a:r>
          </a:p>
        </p:txBody>
      </p:sp>
      <p:sp>
        <p:nvSpPr>
          <p:cNvPr id="3" name="Content Placeholder 2"/>
          <p:cNvSpPr>
            <a:spLocks noGrp="1"/>
          </p:cNvSpPr>
          <p:nvPr>
            <p:ph idx="1"/>
          </p:nvPr>
        </p:nvSpPr>
        <p:spPr/>
        <p:txBody>
          <a:bodyPr/>
          <a:lstStyle/>
          <a:p/>
          <a:p>
            <a:pPr lvl="1" algn="l">
              <a:defRPr sz="2000" b="0">
                <a:solidFill>
                  <a:srgbClr val="222222"/>
                </a:solidFill>
              </a:defRPr>
            </a:pPr>
            <a:r>
              <a:t>Modifying or deleting event logs and traces</a:t>
            </a:r>
          </a:p>
          <a:p>
            <a:pPr lvl="1" algn="l">
              <a:defRPr sz="2000" b="0">
                <a:solidFill>
                  <a:srgbClr val="222222"/>
                </a:solidFill>
              </a:defRPr>
            </a:pPr>
            <a:r>
              <a:t>Disabling or bypassing security monitoring tools</a:t>
            </a:r>
          </a:p>
          <a:p>
            <a:pPr lvl="1" algn="l">
              <a:defRPr sz="2000" b="0">
                <a:solidFill>
                  <a:srgbClr val="222222"/>
                </a:solidFill>
              </a:defRPr>
            </a:pPr>
            <a:r>
              <a:t>Blending malicious activity with normal behavior</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Persistence mechanisms and defensive insights</a:t>
            </a:r>
          </a:p>
        </p:txBody>
      </p:sp>
      <p:sp>
        <p:nvSpPr>
          <p:cNvPr id="3" name="Content Placeholder 2"/>
          <p:cNvSpPr>
            <a:spLocks noGrp="1"/>
          </p:cNvSpPr>
          <p:nvPr>
            <p:ph idx="1"/>
          </p:nvPr>
        </p:nvSpPr>
        <p:spPr/>
        <p:txBody>
          <a:bodyPr/>
          <a:lstStyle/>
          <a:p/>
          <a:p>
            <a:pPr lvl="1" algn="l">
              <a:defRPr sz="2000" b="0">
                <a:solidFill>
                  <a:srgbClr val="222222"/>
                </a:solidFill>
              </a:defRPr>
            </a:pPr>
            <a:r>
              <a:t>Startup items, scheduled tasks, and service registrations</a:t>
            </a:r>
          </a:p>
          <a:p>
            <a:pPr lvl="1" algn="l">
              <a:defRPr sz="2000" b="0">
                <a:solidFill>
                  <a:srgbClr val="222222"/>
                </a:solidFill>
              </a:defRPr>
            </a:pPr>
            <a:r>
              <a:t>Malicious changes to authentication components</a:t>
            </a:r>
          </a:p>
          <a:p>
            <a:pPr lvl="1" algn="l">
              <a:defRPr sz="2000" b="0">
                <a:solidFill>
                  <a:srgbClr val="222222"/>
                </a:solidFill>
              </a:defRPr>
            </a:pPr>
            <a:r>
              <a:t>Using persistence knowledge to design better monitoring</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defRPr sz="4000" b="1">
                <a:solidFill>
                  <a:srgbClr val="00796B"/>
                </a:solidFill>
              </a:defRPr>
            </a:pPr>
            <a:r>
              <a:t>Web Application and Network Attacks (8 hrs)</a:t>
            </a:r>
          </a:p>
        </p:txBody>
      </p:sp>
      <p:sp>
        <p:nvSpPr>
          <p:cNvPr id="3" name="Content Placeholder 2"/>
          <p:cNvSpPr>
            <a:spLocks noGrp="1"/>
          </p:cNvSpPr>
          <p:nvPr>
            <p:ph idx="1"/>
          </p:nvPr>
        </p:nvSpPr>
        <p:spPr/>
        <p:txBody>
          <a:bodyPr/>
          <a:lstStyle/>
          <a:p/>
          <a:p>
            <a:pPr lvl="1" algn="l">
              <a:defRPr sz="2000" b="0">
                <a:solidFill>
                  <a:srgbClr val="222222"/>
                </a:solidFill>
              </a:defRPr>
            </a:pPr>
            <a:r>
              <a:t>Core web application attack categories</a:t>
            </a:r>
          </a:p>
          <a:p>
            <a:pPr lvl="1" algn="l">
              <a:defRPr sz="2000" b="0">
                <a:solidFill>
                  <a:srgbClr val="222222"/>
                </a:solidFill>
              </a:defRPr>
            </a:pPr>
            <a:r>
              <a:t>Input validation and injection flaws</a:t>
            </a:r>
          </a:p>
          <a:p>
            <a:pPr lvl="1" algn="l">
              <a:defRPr sz="2000" b="0">
                <a:solidFill>
                  <a:srgbClr val="222222"/>
                </a:solidFill>
              </a:defRPr>
            </a:pPr>
            <a:r>
              <a:t>Session management and authentication weaknesses</a:t>
            </a:r>
          </a:p>
          <a:p>
            <a:pPr lvl="1" algn="l">
              <a:defRPr sz="2000" b="0">
                <a:solidFill>
                  <a:srgbClr val="222222"/>
                </a:solidFill>
              </a:defRPr>
            </a:pPr>
            <a:r>
              <a:t>Network‑level attacks and lateral movement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Core web application attack categories</a:t>
            </a:r>
          </a:p>
        </p:txBody>
      </p:sp>
      <p:sp>
        <p:nvSpPr>
          <p:cNvPr id="3" name="Content Placeholder 2"/>
          <p:cNvSpPr>
            <a:spLocks noGrp="1"/>
          </p:cNvSpPr>
          <p:nvPr>
            <p:ph idx="1"/>
          </p:nvPr>
        </p:nvSpPr>
        <p:spPr/>
        <p:txBody>
          <a:bodyPr/>
          <a:lstStyle/>
          <a:p/>
          <a:p>
            <a:pPr lvl="1" algn="l">
              <a:defRPr sz="2000" b="0">
                <a:solidFill>
                  <a:srgbClr val="222222"/>
                </a:solidFill>
              </a:defRPr>
            </a:pPr>
            <a:r>
              <a:t>Attacks targeting how input is handled and processed</a:t>
            </a:r>
          </a:p>
          <a:p>
            <a:pPr lvl="1" algn="l">
              <a:defRPr sz="2000" b="0">
                <a:solidFill>
                  <a:srgbClr val="222222"/>
                </a:solidFill>
              </a:defRPr>
            </a:pPr>
            <a:r>
              <a:t>Flaws that expose or corrupt application data</a:t>
            </a:r>
          </a:p>
          <a:p>
            <a:pPr lvl="1" algn="l">
              <a:defRPr sz="2000" b="0">
                <a:solidFill>
                  <a:srgbClr val="222222"/>
                </a:solidFill>
              </a:defRPr>
            </a:pPr>
            <a:r>
              <a:t>Issues arising from client‑side code and browser behavior</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Server‑side input handling issues</a:t>
            </a:r>
          </a:p>
        </p:txBody>
      </p:sp>
      <p:sp>
        <p:nvSpPr>
          <p:cNvPr id="3" name="Content Placeholder 2"/>
          <p:cNvSpPr>
            <a:spLocks noGrp="1"/>
          </p:cNvSpPr>
          <p:nvPr>
            <p:ph idx="1"/>
          </p:nvPr>
        </p:nvSpPr>
        <p:spPr/>
        <p:txBody>
          <a:bodyPr/>
          <a:lstStyle/>
          <a:p/>
          <a:p>
            <a:pPr lvl="1" algn="l">
              <a:defRPr sz="2000" b="0">
                <a:solidFill>
                  <a:srgbClr val="222222"/>
                </a:solidFill>
              </a:defRPr>
            </a:pPr>
            <a:r>
              <a:t>Trusting user input without proper checks</a:t>
            </a:r>
          </a:p>
          <a:p>
            <a:pPr lvl="1" algn="l">
              <a:defRPr sz="2000" b="0">
                <a:solidFill>
                  <a:srgbClr val="222222"/>
                </a:solidFill>
              </a:defRPr>
            </a:pPr>
            <a:r>
              <a:t>Combining user data directly into commands or queries</a:t>
            </a:r>
          </a:p>
          <a:p>
            <a:pPr lvl="1" algn="l">
              <a:defRPr sz="2000" b="0">
                <a:solidFill>
                  <a:srgbClr val="222222"/>
                </a:solidFill>
              </a:defRPr>
            </a:pPr>
            <a:r>
              <a:t>Assuming input will only be used in one context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Client‑side and browser‑driven risks</a:t>
            </a:r>
          </a:p>
        </p:txBody>
      </p:sp>
      <p:sp>
        <p:nvSpPr>
          <p:cNvPr id="3" name="Content Placeholder 2"/>
          <p:cNvSpPr>
            <a:spLocks noGrp="1"/>
          </p:cNvSpPr>
          <p:nvPr>
            <p:ph idx="1"/>
          </p:nvPr>
        </p:nvSpPr>
        <p:spPr/>
        <p:txBody>
          <a:bodyPr/>
          <a:lstStyle/>
          <a:p/>
          <a:p>
            <a:pPr lvl="1" algn="l">
              <a:defRPr sz="2000" b="0">
                <a:solidFill>
                  <a:srgbClr val="222222"/>
                </a:solidFill>
              </a:defRPr>
            </a:pPr>
            <a:r>
              <a:t>Executing untrusted scripts in the user’s browser</a:t>
            </a:r>
          </a:p>
          <a:p>
            <a:pPr lvl="1" algn="l">
              <a:defRPr sz="2000" b="0">
                <a:solidFill>
                  <a:srgbClr val="222222"/>
                </a:solidFill>
              </a:defRPr>
            </a:pPr>
            <a:r>
              <a:t>Tricking browsers into sending unintended requests</a:t>
            </a:r>
          </a:p>
          <a:p>
            <a:pPr lvl="1" algn="l">
              <a:defRPr sz="2000" b="0">
                <a:solidFill>
                  <a:srgbClr val="222222"/>
                </a:solidFill>
              </a:defRPr>
            </a:pPr>
            <a:r>
              <a:t>Abusing stored data like cookies or local storage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Input validation and injection flaws</a:t>
            </a:r>
          </a:p>
        </p:txBody>
      </p:sp>
      <p:sp>
        <p:nvSpPr>
          <p:cNvPr id="3" name="Content Placeholder 2"/>
          <p:cNvSpPr>
            <a:spLocks noGrp="1"/>
          </p:cNvSpPr>
          <p:nvPr>
            <p:ph idx="1"/>
          </p:nvPr>
        </p:nvSpPr>
        <p:spPr/>
        <p:txBody>
          <a:bodyPr/>
          <a:lstStyle/>
          <a:p/>
          <a:p>
            <a:pPr lvl="1" algn="l">
              <a:defRPr sz="2000" b="0">
                <a:solidFill>
                  <a:srgbClr val="222222"/>
                </a:solidFill>
              </a:defRPr>
            </a:pPr>
            <a:r>
              <a:t>Understanding trusted versus untrusted data</a:t>
            </a:r>
          </a:p>
          <a:p>
            <a:pPr lvl="1" algn="l">
              <a:defRPr sz="2000" b="0">
                <a:solidFill>
                  <a:srgbClr val="222222"/>
                </a:solidFill>
              </a:defRPr>
            </a:pPr>
            <a:r>
              <a:t>Concept of injection into queries and commands</a:t>
            </a:r>
          </a:p>
          <a:p>
            <a:pPr lvl="1" algn="l">
              <a:defRPr sz="2000" b="0">
                <a:solidFill>
                  <a:srgbClr val="222222"/>
                </a:solidFill>
              </a:defRPr>
            </a:pPr>
            <a:r>
              <a:t>Defensive patterns to reduce injection risk</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Untrusted data flowing into interpreters</a:t>
            </a:r>
          </a:p>
        </p:txBody>
      </p:sp>
      <p:sp>
        <p:nvSpPr>
          <p:cNvPr id="3" name="Content Placeholder 2"/>
          <p:cNvSpPr>
            <a:spLocks noGrp="1"/>
          </p:cNvSpPr>
          <p:nvPr>
            <p:ph idx="1"/>
          </p:nvPr>
        </p:nvSpPr>
        <p:spPr/>
        <p:txBody>
          <a:bodyPr/>
          <a:lstStyle/>
          <a:p/>
          <a:p>
            <a:pPr lvl="1" algn="l">
              <a:defRPr sz="2000" b="0">
                <a:solidFill>
                  <a:srgbClr val="222222"/>
                </a:solidFill>
              </a:defRPr>
            </a:pPr>
            <a:r>
              <a:t>Identify where external input influences critical operations</a:t>
            </a:r>
          </a:p>
          <a:p>
            <a:pPr lvl="1" algn="l">
              <a:defRPr sz="2000" b="0">
                <a:solidFill>
                  <a:srgbClr val="222222"/>
                </a:solidFill>
              </a:defRPr>
            </a:pPr>
            <a:r>
              <a:t>Check for direct concatenation into query or command strings</a:t>
            </a:r>
          </a:p>
          <a:p>
            <a:pPr lvl="1" algn="l">
              <a:defRPr sz="2000" b="0">
                <a:solidFill>
                  <a:srgbClr val="222222"/>
                </a:solidFill>
              </a:defRPr>
            </a:pPr>
            <a:r>
              <a:t>Observe error messages and behavioral anomalies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Patterns for robust input handling</a:t>
            </a:r>
          </a:p>
        </p:txBody>
      </p:sp>
      <p:sp>
        <p:nvSpPr>
          <p:cNvPr id="3" name="Content Placeholder 2"/>
          <p:cNvSpPr>
            <a:spLocks noGrp="1"/>
          </p:cNvSpPr>
          <p:nvPr>
            <p:ph idx="1"/>
          </p:nvPr>
        </p:nvSpPr>
        <p:spPr/>
        <p:txBody>
          <a:bodyPr/>
          <a:lstStyle/>
          <a:p/>
          <a:p>
            <a:pPr lvl="1" algn="l">
              <a:defRPr sz="2000" b="0">
                <a:solidFill>
                  <a:srgbClr val="222222"/>
                </a:solidFill>
              </a:defRPr>
            </a:pPr>
            <a:r>
              <a:t>Validate input based on whitelists, not just blacklists</a:t>
            </a:r>
          </a:p>
          <a:p>
            <a:pPr lvl="1" algn="l">
              <a:defRPr sz="2000" b="0">
                <a:solidFill>
                  <a:srgbClr val="222222"/>
                </a:solidFill>
              </a:defRPr>
            </a:pPr>
            <a:r>
              <a:t>Use parameterized APIs instead of building raw strings</a:t>
            </a:r>
          </a:p>
          <a:p>
            <a:pPr lvl="1" algn="l">
              <a:defRPr sz="2000" b="0">
                <a:solidFill>
                  <a:srgbClr val="222222"/>
                </a:solidFill>
              </a:defRPr>
            </a:pPr>
            <a:r>
              <a:t>Normalize and encode data before using it in new contexts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Session management and authentication weaknesses</a:t>
            </a:r>
          </a:p>
        </p:txBody>
      </p:sp>
      <p:sp>
        <p:nvSpPr>
          <p:cNvPr id="3" name="Content Placeholder 2"/>
          <p:cNvSpPr>
            <a:spLocks noGrp="1"/>
          </p:cNvSpPr>
          <p:nvPr>
            <p:ph idx="1"/>
          </p:nvPr>
        </p:nvSpPr>
        <p:spPr/>
        <p:txBody>
          <a:bodyPr/>
          <a:lstStyle/>
          <a:p/>
          <a:p>
            <a:pPr lvl="1" algn="l">
              <a:defRPr sz="2000" b="0">
                <a:solidFill>
                  <a:srgbClr val="222222"/>
                </a:solidFill>
              </a:defRPr>
            </a:pPr>
            <a:r>
              <a:t>How sessions represent logged‑in users</a:t>
            </a:r>
          </a:p>
          <a:p>
            <a:pPr lvl="1" algn="l">
              <a:defRPr sz="2000" b="0">
                <a:solidFill>
                  <a:srgbClr val="222222"/>
                </a:solidFill>
              </a:defRPr>
            </a:pPr>
            <a:r>
              <a:t>Common session and token handling mistakes</a:t>
            </a:r>
          </a:p>
          <a:p>
            <a:pPr lvl="1" algn="l">
              <a:defRPr sz="2000" b="0">
                <a:solidFill>
                  <a:srgbClr val="222222"/>
                </a:solidFill>
              </a:defRPr>
            </a:pPr>
            <a:r>
              <a:t>Authentication flows and their failure points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Session handling pitfalls</a:t>
            </a:r>
          </a:p>
        </p:txBody>
      </p:sp>
      <p:sp>
        <p:nvSpPr>
          <p:cNvPr id="3" name="Content Placeholder 2"/>
          <p:cNvSpPr>
            <a:spLocks noGrp="1"/>
          </p:cNvSpPr>
          <p:nvPr>
            <p:ph idx="1"/>
          </p:nvPr>
        </p:nvSpPr>
        <p:spPr/>
        <p:txBody>
          <a:bodyPr/>
          <a:lstStyle/>
          <a:p/>
          <a:p>
            <a:pPr lvl="1" algn="l">
              <a:defRPr sz="2000" b="0">
                <a:solidFill>
                  <a:srgbClr val="222222"/>
                </a:solidFill>
              </a:defRPr>
            </a:pPr>
            <a:r>
              <a:t>Predictable or reusable session identifiers</a:t>
            </a:r>
          </a:p>
          <a:p>
            <a:pPr lvl="1" algn="l">
              <a:defRPr sz="2000" b="0">
                <a:solidFill>
                  <a:srgbClr val="222222"/>
                </a:solidFill>
              </a:defRPr>
            </a:pPr>
            <a:r>
              <a:t>Insecure transport or storage of tokens</a:t>
            </a:r>
          </a:p>
          <a:p>
            <a:pPr lvl="1" algn="l">
              <a:defRPr sz="2000" b="0">
                <a:solidFill>
                  <a:srgbClr val="222222"/>
                </a:solidFill>
              </a:defRPr>
            </a:pPr>
            <a:r>
              <a:t>Improper session termination and timeout behavior</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Authentication and recovery design flaws</a:t>
            </a:r>
          </a:p>
        </p:txBody>
      </p:sp>
      <p:sp>
        <p:nvSpPr>
          <p:cNvPr id="3" name="Content Placeholder 2"/>
          <p:cNvSpPr>
            <a:spLocks noGrp="1"/>
          </p:cNvSpPr>
          <p:nvPr>
            <p:ph idx="1"/>
          </p:nvPr>
        </p:nvSpPr>
        <p:spPr/>
        <p:txBody>
          <a:bodyPr/>
          <a:lstStyle/>
          <a:p/>
          <a:p>
            <a:pPr lvl="1" algn="l">
              <a:defRPr sz="2000" b="0">
                <a:solidFill>
                  <a:srgbClr val="222222"/>
                </a:solidFill>
              </a:defRPr>
            </a:pPr>
            <a:r>
              <a:t>Weak or missing protections against guessing attacks</a:t>
            </a:r>
          </a:p>
          <a:p>
            <a:pPr lvl="1" algn="l">
              <a:defRPr sz="2000" b="0">
                <a:solidFill>
                  <a:srgbClr val="222222"/>
                </a:solidFill>
              </a:defRPr>
            </a:pPr>
            <a:r>
              <a:t>Insecure password reset or account recovery processes</a:t>
            </a:r>
          </a:p>
          <a:p>
            <a:pPr lvl="1" algn="l">
              <a:defRPr sz="2000" b="0">
                <a:solidFill>
                  <a:srgbClr val="222222"/>
                </a:solidFill>
              </a:defRPr>
            </a:pPr>
            <a:r>
              <a:t>Alternate login paths without equivalent safeguards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Network‑level attacks and lateral movement</a:t>
            </a:r>
          </a:p>
        </p:txBody>
      </p:sp>
      <p:sp>
        <p:nvSpPr>
          <p:cNvPr id="3" name="Content Placeholder 2"/>
          <p:cNvSpPr>
            <a:spLocks noGrp="1"/>
          </p:cNvSpPr>
          <p:nvPr>
            <p:ph idx="1"/>
          </p:nvPr>
        </p:nvSpPr>
        <p:spPr/>
        <p:txBody>
          <a:bodyPr/>
          <a:lstStyle/>
          <a:p/>
          <a:p>
            <a:pPr lvl="1" algn="l">
              <a:defRPr sz="2000" b="0">
                <a:solidFill>
                  <a:srgbClr val="222222"/>
                </a:solidFill>
              </a:defRPr>
            </a:pPr>
            <a:r>
              <a:t>Intercepting or redirecting network traffic</a:t>
            </a:r>
          </a:p>
          <a:p>
            <a:pPr lvl="1" algn="l">
              <a:defRPr sz="2000" b="0">
                <a:solidFill>
                  <a:srgbClr val="222222"/>
                </a:solidFill>
              </a:defRPr>
            </a:pPr>
            <a:r>
              <a:t>Bypassing segmentation and reaching internal assets</a:t>
            </a:r>
          </a:p>
          <a:p>
            <a:pPr lvl="1" algn="l">
              <a:defRPr sz="2000" b="0">
                <a:solidFill>
                  <a:srgbClr val="222222"/>
                </a:solidFill>
              </a:defRPr>
            </a:pPr>
            <a:r>
              <a:t>Moving from one compromised system to others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Traffic interception and manipulation</a:t>
            </a:r>
          </a:p>
        </p:txBody>
      </p:sp>
      <p:sp>
        <p:nvSpPr>
          <p:cNvPr id="3" name="Content Placeholder 2"/>
          <p:cNvSpPr>
            <a:spLocks noGrp="1"/>
          </p:cNvSpPr>
          <p:nvPr>
            <p:ph idx="1"/>
          </p:nvPr>
        </p:nvSpPr>
        <p:spPr/>
        <p:txBody>
          <a:bodyPr/>
          <a:lstStyle/>
          <a:p/>
          <a:p>
            <a:pPr lvl="1" algn="l">
              <a:defRPr sz="2000" b="0">
                <a:solidFill>
                  <a:srgbClr val="222222"/>
                </a:solidFill>
              </a:defRPr>
            </a:pPr>
            <a:r>
              <a:t>Risks of unencrypted or weakly protected communications</a:t>
            </a:r>
          </a:p>
          <a:p>
            <a:pPr lvl="1" algn="l">
              <a:defRPr sz="2000" b="0">
                <a:solidFill>
                  <a:srgbClr val="222222"/>
                </a:solidFill>
              </a:defRPr>
            </a:pPr>
            <a:r>
              <a:t>Concept of man‑in‑the‑middle positioning</a:t>
            </a:r>
          </a:p>
          <a:p>
            <a:pPr lvl="1" algn="l">
              <a:defRPr sz="2000" b="0">
                <a:solidFill>
                  <a:srgbClr val="222222"/>
                </a:solidFill>
              </a:defRPr>
            </a:pPr>
            <a:r>
              <a:t>Defensive role of strong encryption and verification</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Segmentation, pivoting, and containment</a:t>
            </a:r>
          </a:p>
        </p:txBody>
      </p:sp>
      <p:sp>
        <p:nvSpPr>
          <p:cNvPr id="3" name="Content Placeholder 2"/>
          <p:cNvSpPr>
            <a:spLocks noGrp="1"/>
          </p:cNvSpPr>
          <p:nvPr>
            <p:ph idx="1"/>
          </p:nvPr>
        </p:nvSpPr>
        <p:spPr/>
        <p:txBody>
          <a:bodyPr/>
          <a:lstStyle/>
          <a:p/>
          <a:p>
            <a:pPr lvl="1" algn="l">
              <a:defRPr sz="2000" b="0">
                <a:solidFill>
                  <a:srgbClr val="222222"/>
                </a:solidFill>
              </a:defRPr>
            </a:pPr>
            <a:r>
              <a:t>Network zones to limit direct access between systems</a:t>
            </a:r>
          </a:p>
          <a:p>
            <a:pPr lvl="1" algn="l">
              <a:defRPr sz="2000" b="0">
                <a:solidFill>
                  <a:srgbClr val="222222"/>
                </a:solidFill>
              </a:defRPr>
            </a:pPr>
            <a:r>
              <a:t>Using one compromised host to reach others</a:t>
            </a:r>
          </a:p>
          <a:p>
            <a:pPr lvl="1" algn="l">
              <a:defRPr sz="2000" b="0">
                <a:solidFill>
                  <a:srgbClr val="222222"/>
                </a:solidFill>
              </a:defRPr>
            </a:pPr>
            <a:r>
              <a:t>Designing segmentation to slow and contain attacks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defRPr sz="4000" b="1">
                <a:solidFill>
                  <a:srgbClr val="00796B"/>
                </a:solidFill>
              </a:defRPr>
            </a:pPr>
            <a:r>
              <a:t>Wireless, Social Engineering, and Physical Security (4 hrs)</a:t>
            </a:r>
          </a:p>
        </p:txBody>
      </p:sp>
      <p:sp>
        <p:nvSpPr>
          <p:cNvPr id="3" name="Content Placeholder 2"/>
          <p:cNvSpPr>
            <a:spLocks noGrp="1"/>
          </p:cNvSpPr>
          <p:nvPr>
            <p:ph idx="1"/>
          </p:nvPr>
        </p:nvSpPr>
        <p:spPr/>
        <p:txBody>
          <a:bodyPr/>
          <a:lstStyle/>
          <a:p/>
          <a:p>
            <a:pPr lvl="1" algn="l">
              <a:defRPr sz="2000" b="0">
                <a:solidFill>
                  <a:srgbClr val="222222"/>
                </a:solidFill>
              </a:defRPr>
            </a:pPr>
            <a:r>
              <a:t>Wireless network security weaknesses</a:t>
            </a:r>
          </a:p>
          <a:p>
            <a:pPr lvl="1" algn="l">
              <a:defRPr sz="2000" b="0">
                <a:solidFill>
                  <a:srgbClr val="222222"/>
                </a:solidFill>
              </a:defRPr>
            </a:pPr>
            <a:r>
              <a:t>Social engineering attack techniques</a:t>
            </a:r>
          </a:p>
          <a:p>
            <a:pPr lvl="1" algn="l">
              <a:defRPr sz="2000" b="0">
                <a:solidFill>
                  <a:srgbClr val="222222"/>
                </a:solidFill>
              </a:defRPr>
            </a:pPr>
            <a:r>
              <a:t>Physical security risks and controls</a:t>
            </a:r>
          </a:p>
          <a:p>
            <a:pPr lvl="1" algn="l">
              <a:defRPr sz="2000" b="0">
                <a:solidFill>
                  <a:srgbClr val="222222"/>
                </a:solidFill>
              </a:defRPr>
            </a:pPr>
            <a:r>
              <a:t>Integrating human and technical defenses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Wireless network security weaknesses</a:t>
            </a:r>
          </a:p>
        </p:txBody>
      </p:sp>
      <p:sp>
        <p:nvSpPr>
          <p:cNvPr id="3" name="Content Placeholder 2"/>
          <p:cNvSpPr>
            <a:spLocks noGrp="1"/>
          </p:cNvSpPr>
          <p:nvPr>
            <p:ph idx="1"/>
          </p:nvPr>
        </p:nvSpPr>
        <p:spPr/>
        <p:txBody>
          <a:bodyPr/>
          <a:lstStyle/>
          <a:p/>
          <a:p>
            <a:pPr lvl="1" algn="l">
              <a:defRPr sz="2000" b="0">
                <a:solidFill>
                  <a:srgbClr val="222222"/>
                </a:solidFill>
              </a:defRPr>
            </a:pPr>
            <a:r>
              <a:t>Risks of poorly configured Wi‑Fi networks</a:t>
            </a:r>
          </a:p>
          <a:p>
            <a:pPr lvl="1" algn="l">
              <a:defRPr sz="2000" b="0">
                <a:solidFill>
                  <a:srgbClr val="222222"/>
                </a:solidFill>
              </a:defRPr>
            </a:pPr>
            <a:r>
              <a:t>Attacks on older or weak encryption standards</a:t>
            </a:r>
          </a:p>
          <a:p>
            <a:pPr lvl="1" algn="l">
              <a:defRPr sz="2000" b="0">
                <a:solidFill>
                  <a:srgbClr val="222222"/>
                </a:solidFill>
              </a:defRPr>
            </a:pPr>
            <a:r>
              <a:t>Exploiting rogue access points and client behavior</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Common Wi‑Fi misconfigurations</a:t>
            </a:r>
          </a:p>
        </p:txBody>
      </p:sp>
      <p:sp>
        <p:nvSpPr>
          <p:cNvPr id="3" name="Content Placeholder 2"/>
          <p:cNvSpPr>
            <a:spLocks noGrp="1"/>
          </p:cNvSpPr>
          <p:nvPr>
            <p:ph idx="1"/>
          </p:nvPr>
        </p:nvSpPr>
        <p:spPr/>
        <p:txBody>
          <a:bodyPr/>
          <a:lstStyle/>
          <a:p/>
          <a:p>
            <a:pPr lvl="1" algn="l">
              <a:defRPr sz="2000" b="0">
                <a:solidFill>
                  <a:srgbClr val="222222"/>
                </a:solidFill>
              </a:defRPr>
            </a:pPr>
            <a:r>
              <a:t>Networks left open or using shared simple keys</a:t>
            </a:r>
          </a:p>
          <a:p>
            <a:pPr lvl="1" algn="l">
              <a:defRPr sz="2000" b="0">
                <a:solidFill>
                  <a:srgbClr val="222222"/>
                </a:solidFill>
              </a:defRPr>
            </a:pPr>
            <a:r>
              <a:t>Management interfaces exposed over wireless</a:t>
            </a:r>
          </a:p>
          <a:p>
            <a:pPr lvl="1" algn="l">
              <a:defRPr sz="2000" b="0">
                <a:solidFill>
                  <a:srgbClr val="222222"/>
                </a:solidFill>
              </a:defRPr>
            </a:pPr>
            <a:r>
              <a:t>Lack of segmentation between guest and internal networks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Rogue access points and client trust</a:t>
            </a:r>
          </a:p>
        </p:txBody>
      </p:sp>
      <p:sp>
        <p:nvSpPr>
          <p:cNvPr id="3" name="Content Placeholder 2"/>
          <p:cNvSpPr>
            <a:spLocks noGrp="1"/>
          </p:cNvSpPr>
          <p:nvPr>
            <p:ph idx="1"/>
          </p:nvPr>
        </p:nvSpPr>
        <p:spPr/>
        <p:txBody>
          <a:bodyPr/>
          <a:lstStyle/>
          <a:p/>
          <a:p>
            <a:pPr lvl="1" algn="l">
              <a:defRPr sz="2000" b="0">
                <a:solidFill>
                  <a:srgbClr val="222222"/>
                </a:solidFill>
              </a:defRPr>
            </a:pPr>
            <a:r>
              <a:t>Impersonating legitimate network names</a:t>
            </a:r>
          </a:p>
          <a:p>
            <a:pPr lvl="1" algn="l">
              <a:defRPr sz="2000" b="0">
                <a:solidFill>
                  <a:srgbClr val="222222"/>
                </a:solidFill>
              </a:defRPr>
            </a:pPr>
            <a:r>
              <a:t>Abusing devices that auto‑connect to known networks</a:t>
            </a:r>
          </a:p>
          <a:p>
            <a:pPr lvl="1" algn="l">
              <a:defRPr sz="2000" b="0">
                <a:solidFill>
                  <a:srgbClr val="222222"/>
                </a:solidFill>
              </a:defRPr>
            </a:pPr>
            <a:r>
              <a:t>Monitoring how users respond to wireless warnings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Social engineering attack techniques</a:t>
            </a:r>
          </a:p>
        </p:txBody>
      </p:sp>
      <p:sp>
        <p:nvSpPr>
          <p:cNvPr id="3" name="Content Placeholder 2"/>
          <p:cNvSpPr>
            <a:spLocks noGrp="1"/>
          </p:cNvSpPr>
          <p:nvPr>
            <p:ph idx="1"/>
          </p:nvPr>
        </p:nvSpPr>
        <p:spPr/>
        <p:txBody>
          <a:bodyPr/>
          <a:lstStyle/>
          <a:p/>
          <a:p>
            <a:pPr lvl="1" algn="l">
              <a:defRPr sz="2000" b="0">
                <a:solidFill>
                  <a:srgbClr val="222222"/>
                </a:solidFill>
              </a:defRPr>
            </a:pPr>
            <a:r>
              <a:t>Psychological principles attackers exploit</a:t>
            </a:r>
          </a:p>
          <a:p>
            <a:pPr lvl="1" algn="l">
              <a:defRPr sz="2000" b="0">
                <a:solidFill>
                  <a:srgbClr val="222222"/>
                </a:solidFill>
              </a:defRPr>
            </a:pPr>
            <a:r>
              <a:t>Phishing, pretexting, and related tactics</a:t>
            </a:r>
          </a:p>
          <a:p>
            <a:pPr lvl="1" algn="l">
              <a:defRPr sz="2000" b="0">
                <a:solidFill>
                  <a:srgbClr val="222222"/>
                </a:solidFill>
              </a:defRPr>
            </a:pPr>
            <a:r>
              <a:t>Designing and running ethical social engineering tests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Psychological levers in social engineering</a:t>
            </a:r>
          </a:p>
        </p:txBody>
      </p:sp>
      <p:sp>
        <p:nvSpPr>
          <p:cNvPr id="3" name="Content Placeholder 2"/>
          <p:cNvSpPr>
            <a:spLocks noGrp="1"/>
          </p:cNvSpPr>
          <p:nvPr>
            <p:ph idx="1"/>
          </p:nvPr>
        </p:nvSpPr>
        <p:spPr/>
        <p:txBody>
          <a:bodyPr/>
          <a:lstStyle/>
          <a:p/>
          <a:p>
            <a:pPr lvl="1" algn="l">
              <a:defRPr sz="2000" b="0">
                <a:solidFill>
                  <a:srgbClr val="222222"/>
                </a:solidFill>
              </a:defRPr>
            </a:pPr>
            <a:r>
              <a:t>Urgency and fear to reduce critical thinking</a:t>
            </a:r>
          </a:p>
          <a:p>
            <a:pPr lvl="1" algn="l">
              <a:defRPr sz="2000" b="0">
                <a:solidFill>
                  <a:srgbClr val="222222"/>
                </a:solidFill>
              </a:defRPr>
            </a:pPr>
            <a:r>
              <a:t>Authority and familiarity to bypass skepticism</a:t>
            </a:r>
          </a:p>
          <a:p>
            <a:pPr lvl="1" algn="l">
              <a:defRPr sz="2000" b="0">
                <a:solidFill>
                  <a:srgbClr val="222222"/>
                </a:solidFill>
              </a:defRPr>
            </a:pPr>
            <a:r>
              <a:t>Curiosity and incentives to encourage risky actions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Ethical design of phishing and pretext tests</a:t>
            </a:r>
          </a:p>
        </p:txBody>
      </p:sp>
      <p:sp>
        <p:nvSpPr>
          <p:cNvPr id="3" name="Content Placeholder 2"/>
          <p:cNvSpPr>
            <a:spLocks noGrp="1"/>
          </p:cNvSpPr>
          <p:nvPr>
            <p:ph idx="1"/>
          </p:nvPr>
        </p:nvSpPr>
        <p:spPr/>
        <p:txBody>
          <a:bodyPr/>
          <a:lstStyle/>
          <a:p/>
          <a:p>
            <a:pPr lvl="1" algn="l">
              <a:defRPr sz="2000" b="0">
                <a:solidFill>
                  <a:srgbClr val="222222"/>
                </a:solidFill>
              </a:defRPr>
            </a:pPr>
            <a:r>
              <a:t>Obtain explicit organizational approval and scope</a:t>
            </a:r>
          </a:p>
          <a:p>
            <a:pPr lvl="1" algn="l">
              <a:defRPr sz="2000" b="0">
                <a:solidFill>
                  <a:srgbClr val="222222"/>
                </a:solidFill>
              </a:defRPr>
            </a:pPr>
            <a:r>
              <a:t>Avoid themes that cause undue emotional harm</a:t>
            </a:r>
          </a:p>
          <a:p>
            <a:pPr lvl="1" algn="l">
              <a:defRPr sz="2000" b="0">
                <a:solidFill>
                  <a:srgbClr val="222222"/>
                </a:solidFill>
              </a:defRPr>
            </a:pPr>
            <a:r>
              <a:t>Use results to educate, not punish, participants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Physical security risks and controls</a:t>
            </a:r>
          </a:p>
        </p:txBody>
      </p:sp>
      <p:sp>
        <p:nvSpPr>
          <p:cNvPr id="3" name="Content Placeholder 2"/>
          <p:cNvSpPr>
            <a:spLocks noGrp="1"/>
          </p:cNvSpPr>
          <p:nvPr>
            <p:ph idx="1"/>
          </p:nvPr>
        </p:nvSpPr>
        <p:spPr/>
        <p:txBody>
          <a:bodyPr/>
          <a:lstStyle/>
          <a:p/>
          <a:p>
            <a:pPr lvl="1" algn="l">
              <a:defRPr sz="2000" b="0">
                <a:solidFill>
                  <a:srgbClr val="222222"/>
                </a:solidFill>
              </a:defRPr>
            </a:pPr>
            <a:r>
              <a:t>Risks from unauthorized physical access to assets</a:t>
            </a:r>
          </a:p>
          <a:p>
            <a:pPr lvl="1" algn="l">
              <a:defRPr sz="2000" b="0">
                <a:solidFill>
                  <a:srgbClr val="222222"/>
                </a:solidFill>
              </a:defRPr>
            </a:pPr>
            <a:r>
              <a:t>Tailgating, badge misuse, and unattended devices</a:t>
            </a:r>
          </a:p>
          <a:p>
            <a:pPr lvl="1" algn="l">
              <a:defRPr sz="2000" b="0">
                <a:solidFill>
                  <a:srgbClr val="222222"/>
                </a:solidFill>
              </a:defRPr>
            </a:pPr>
            <a:r>
              <a:t>Complementing logical controls with physical safeguards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Everyday physical vulnerabilities</a:t>
            </a:r>
          </a:p>
        </p:txBody>
      </p:sp>
      <p:sp>
        <p:nvSpPr>
          <p:cNvPr id="3" name="Content Placeholder 2"/>
          <p:cNvSpPr>
            <a:spLocks noGrp="1"/>
          </p:cNvSpPr>
          <p:nvPr>
            <p:ph idx="1"/>
          </p:nvPr>
        </p:nvSpPr>
        <p:spPr/>
        <p:txBody>
          <a:bodyPr/>
          <a:lstStyle/>
          <a:p/>
          <a:p>
            <a:pPr lvl="1" algn="l">
              <a:defRPr sz="2000" b="0">
                <a:solidFill>
                  <a:srgbClr val="222222"/>
                </a:solidFill>
              </a:defRPr>
            </a:pPr>
            <a:r>
              <a:t>Unattended workstations left unlocked</a:t>
            </a:r>
          </a:p>
          <a:p>
            <a:pPr lvl="1" algn="l">
              <a:defRPr sz="2000" b="0">
                <a:solidFill>
                  <a:srgbClr val="222222"/>
                </a:solidFill>
              </a:defRPr>
            </a:pPr>
            <a:r>
              <a:t>Sensitive documents left in public view or unsecured bins</a:t>
            </a:r>
          </a:p>
          <a:p>
            <a:pPr lvl="1" algn="l">
              <a:defRPr sz="2000" b="0">
                <a:solidFill>
                  <a:srgbClr val="222222"/>
                </a:solidFill>
              </a:defRPr>
            </a:pPr>
            <a:r>
              <a:t>Shared or unmonitored access points into restricted areas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Aligning physical and digital defenses</a:t>
            </a:r>
          </a:p>
        </p:txBody>
      </p:sp>
      <p:sp>
        <p:nvSpPr>
          <p:cNvPr id="3" name="Content Placeholder 2"/>
          <p:cNvSpPr>
            <a:spLocks noGrp="1"/>
          </p:cNvSpPr>
          <p:nvPr>
            <p:ph idx="1"/>
          </p:nvPr>
        </p:nvSpPr>
        <p:spPr/>
        <p:txBody>
          <a:bodyPr/>
          <a:lstStyle/>
          <a:p/>
          <a:p>
            <a:pPr lvl="1" algn="l">
              <a:defRPr sz="2000" b="0">
                <a:solidFill>
                  <a:srgbClr val="222222"/>
                </a:solidFill>
              </a:defRPr>
            </a:pPr>
            <a:r>
              <a:t>Consistent policies for device handling and storage</a:t>
            </a:r>
          </a:p>
          <a:p>
            <a:pPr lvl="1" algn="l">
              <a:defRPr sz="2000" b="0">
                <a:solidFill>
                  <a:srgbClr val="222222"/>
                </a:solidFill>
              </a:defRPr>
            </a:pPr>
            <a:r>
              <a:t>Use of locks, surveillance, and reception procedures</a:t>
            </a:r>
          </a:p>
          <a:p>
            <a:pPr lvl="1" algn="l">
              <a:defRPr sz="2000" b="0">
                <a:solidFill>
                  <a:srgbClr val="222222"/>
                </a:solidFill>
              </a:defRPr>
            </a:pPr>
            <a:r>
              <a:t>Training staff to challenge unusual physical behavior</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Integrating human and technical defenses</a:t>
            </a:r>
          </a:p>
        </p:txBody>
      </p:sp>
      <p:sp>
        <p:nvSpPr>
          <p:cNvPr id="3" name="Content Placeholder 2"/>
          <p:cNvSpPr>
            <a:spLocks noGrp="1"/>
          </p:cNvSpPr>
          <p:nvPr>
            <p:ph idx="1"/>
          </p:nvPr>
        </p:nvSpPr>
        <p:spPr/>
        <p:txBody>
          <a:bodyPr/>
          <a:lstStyle/>
          <a:p/>
          <a:p>
            <a:pPr lvl="1" algn="l">
              <a:defRPr sz="2000" b="0">
                <a:solidFill>
                  <a:srgbClr val="222222"/>
                </a:solidFill>
              </a:defRPr>
            </a:pPr>
            <a:r>
              <a:t>Recognizing that users are targets and allies</a:t>
            </a:r>
          </a:p>
          <a:p>
            <a:pPr lvl="1" algn="l">
              <a:defRPr sz="2000" b="0">
                <a:solidFill>
                  <a:srgbClr val="222222"/>
                </a:solidFill>
              </a:defRPr>
            </a:pPr>
            <a:r>
              <a:t>Building layered protections around risky actions</a:t>
            </a:r>
          </a:p>
          <a:p>
            <a:pPr lvl="1" algn="l">
              <a:defRPr sz="2000" b="0">
                <a:solidFill>
                  <a:srgbClr val="222222"/>
                </a:solidFill>
              </a:defRPr>
            </a:pPr>
            <a:r>
              <a:t>Reinforcing security culture through feedback and practice</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From blame to shared responsibility</a:t>
            </a:r>
          </a:p>
        </p:txBody>
      </p:sp>
      <p:sp>
        <p:nvSpPr>
          <p:cNvPr id="3" name="Content Placeholder 2"/>
          <p:cNvSpPr>
            <a:spLocks noGrp="1"/>
          </p:cNvSpPr>
          <p:nvPr>
            <p:ph idx="1"/>
          </p:nvPr>
        </p:nvSpPr>
        <p:spPr/>
        <p:txBody>
          <a:bodyPr/>
          <a:lstStyle/>
          <a:p/>
          <a:p>
            <a:pPr lvl="1" algn="l">
              <a:defRPr sz="2000" b="0">
                <a:solidFill>
                  <a:srgbClr val="222222"/>
                </a:solidFill>
              </a:defRPr>
            </a:pPr>
            <a:r>
              <a:t>Avoid framing users as the weakest link</a:t>
            </a:r>
          </a:p>
          <a:p>
            <a:pPr lvl="1" algn="l">
              <a:defRPr sz="2000" b="0">
                <a:solidFill>
                  <a:srgbClr val="222222"/>
                </a:solidFill>
              </a:defRPr>
            </a:pPr>
            <a:r>
              <a:t>Design systems that anticipate human error</a:t>
            </a:r>
          </a:p>
          <a:p>
            <a:pPr lvl="1" algn="l">
              <a:defRPr sz="2000" b="0">
                <a:solidFill>
                  <a:srgbClr val="222222"/>
                </a:solidFill>
              </a:defRPr>
            </a:pPr>
            <a:r>
              <a:t>Use incidents and tests as learning opportunities</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Creating feedback loops for improvement</a:t>
            </a:r>
          </a:p>
        </p:txBody>
      </p:sp>
      <p:sp>
        <p:nvSpPr>
          <p:cNvPr id="3" name="Content Placeholder 2"/>
          <p:cNvSpPr>
            <a:spLocks noGrp="1"/>
          </p:cNvSpPr>
          <p:nvPr>
            <p:ph idx="1"/>
          </p:nvPr>
        </p:nvSpPr>
        <p:spPr/>
        <p:txBody>
          <a:bodyPr/>
          <a:lstStyle/>
          <a:p/>
          <a:p>
            <a:pPr lvl="1" algn="l">
              <a:defRPr sz="2000" b="0">
                <a:solidFill>
                  <a:srgbClr val="222222"/>
                </a:solidFill>
              </a:defRPr>
            </a:pPr>
            <a:r>
              <a:t>Share assessment results with clear, actionable guidance</a:t>
            </a:r>
          </a:p>
          <a:p>
            <a:pPr lvl="1" algn="l">
              <a:defRPr sz="2000" b="0">
                <a:solidFill>
                  <a:srgbClr val="222222"/>
                </a:solidFill>
              </a:defRPr>
            </a:pPr>
            <a:r>
              <a:t>Measure progress over successive tests or campaigns</a:t>
            </a:r>
          </a:p>
          <a:p>
            <a:pPr lvl="1" algn="l">
              <a:defRPr sz="2000" b="0">
                <a:solidFill>
                  <a:srgbClr val="222222"/>
                </a:solidFill>
              </a:defRPr>
            </a:pPr>
            <a:r>
              <a:t>Celebrate improvements and reinforce good practices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defRPr sz="4000" b="1">
                <a:solidFill>
                  <a:srgbClr val="00796B"/>
                </a:solidFill>
              </a:defRPr>
            </a:pPr>
            <a:r>
              <a:t>Reporting, Defense Strategies, and Career Pathways (4 hrs)</a:t>
            </a:r>
          </a:p>
        </p:txBody>
      </p:sp>
      <p:sp>
        <p:nvSpPr>
          <p:cNvPr id="3" name="Content Placeholder 2"/>
          <p:cNvSpPr>
            <a:spLocks noGrp="1"/>
          </p:cNvSpPr>
          <p:nvPr>
            <p:ph idx="1"/>
          </p:nvPr>
        </p:nvSpPr>
        <p:spPr/>
        <p:txBody>
          <a:bodyPr/>
          <a:lstStyle/>
          <a:p/>
          <a:p>
            <a:pPr lvl="1" algn="l">
              <a:defRPr sz="2000" b="0">
                <a:solidFill>
                  <a:srgbClr val="222222"/>
                </a:solidFill>
              </a:defRPr>
            </a:pPr>
            <a:r>
              <a:t>Structuring clear and impactful assessment reports</a:t>
            </a:r>
          </a:p>
          <a:p>
            <a:pPr lvl="1" algn="l">
              <a:defRPr sz="2000" b="0">
                <a:solidFill>
                  <a:srgbClr val="222222"/>
                </a:solidFill>
              </a:defRPr>
            </a:pPr>
            <a:r>
              <a:t>Translating offensive findings into defensive improvements</a:t>
            </a:r>
          </a:p>
          <a:p>
            <a:pPr lvl="1" algn="l">
              <a:defRPr sz="2000" b="0">
                <a:solidFill>
                  <a:srgbClr val="222222"/>
                </a:solidFill>
              </a:defRPr>
            </a:pPr>
            <a:r>
              <a:t>Ethical hacking career paths and certifications</a:t>
            </a:r>
          </a:p>
          <a:p>
            <a:pPr lvl="1" algn="l">
              <a:defRPr sz="2000" b="0">
                <a:solidFill>
                  <a:srgbClr val="222222"/>
                </a:solidFill>
              </a:defRPr>
            </a:pPr>
            <a:r>
              <a:t>Continuous learning and responsible practice</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Structuring clear and impactful assessment reports</a:t>
            </a:r>
          </a:p>
        </p:txBody>
      </p:sp>
      <p:sp>
        <p:nvSpPr>
          <p:cNvPr id="3" name="Content Placeholder 2"/>
          <p:cNvSpPr>
            <a:spLocks noGrp="1"/>
          </p:cNvSpPr>
          <p:nvPr>
            <p:ph idx="1"/>
          </p:nvPr>
        </p:nvSpPr>
        <p:spPr/>
        <p:txBody>
          <a:bodyPr/>
          <a:lstStyle/>
          <a:p/>
          <a:p>
            <a:pPr lvl="1" algn="l">
              <a:defRPr sz="2000" b="0">
                <a:solidFill>
                  <a:srgbClr val="222222"/>
                </a:solidFill>
              </a:defRPr>
            </a:pPr>
            <a:r>
              <a:t>Audience‑aware reporting structure</a:t>
            </a:r>
          </a:p>
          <a:p>
            <a:pPr lvl="1" algn="l">
              <a:defRPr sz="2000" b="0">
                <a:solidFill>
                  <a:srgbClr val="222222"/>
                </a:solidFill>
              </a:defRPr>
            </a:pPr>
            <a:r>
              <a:t>Essential components of a good report</a:t>
            </a:r>
          </a:p>
          <a:p>
            <a:pPr lvl="1" algn="l">
              <a:defRPr sz="2000" b="0">
                <a:solidFill>
                  <a:srgbClr val="222222"/>
                </a:solidFill>
              </a:defRPr>
            </a:pPr>
            <a:r>
              <a:t>Communicating risk and recommendations effectively</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Report structure and key sections</a:t>
            </a:r>
          </a:p>
        </p:txBody>
      </p:sp>
      <p:sp>
        <p:nvSpPr>
          <p:cNvPr id="3" name="Content Placeholder 2"/>
          <p:cNvSpPr>
            <a:spLocks noGrp="1"/>
          </p:cNvSpPr>
          <p:nvPr>
            <p:ph idx="1"/>
          </p:nvPr>
        </p:nvSpPr>
        <p:spPr/>
        <p:txBody>
          <a:bodyPr/>
          <a:lstStyle/>
          <a:p/>
          <a:p>
            <a:pPr lvl="1" algn="l">
              <a:defRPr sz="2000" b="0">
                <a:solidFill>
                  <a:srgbClr val="222222"/>
                </a:solidFill>
              </a:defRPr>
            </a:pPr>
            <a:r>
              <a:t>Executive summary and overall risk posture</a:t>
            </a:r>
          </a:p>
          <a:p>
            <a:pPr lvl="1" algn="l">
              <a:defRPr sz="2000" b="0">
                <a:solidFill>
                  <a:srgbClr val="222222"/>
                </a:solidFill>
              </a:defRPr>
            </a:pPr>
            <a:r>
              <a:t>Scope, methodology, and limitations</a:t>
            </a:r>
          </a:p>
          <a:p>
            <a:pPr lvl="1" algn="l">
              <a:defRPr sz="2000" b="0">
                <a:solidFill>
                  <a:srgbClr val="222222"/>
                </a:solidFill>
              </a:defRPr>
            </a:pPr>
            <a:r>
              <a:t>Finding‑by‑finding details with evidence</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Writing for clarity and action</a:t>
            </a:r>
          </a:p>
        </p:txBody>
      </p:sp>
      <p:sp>
        <p:nvSpPr>
          <p:cNvPr id="3" name="Content Placeholder 2"/>
          <p:cNvSpPr>
            <a:spLocks noGrp="1"/>
          </p:cNvSpPr>
          <p:nvPr>
            <p:ph idx="1"/>
          </p:nvPr>
        </p:nvSpPr>
        <p:spPr/>
        <p:txBody>
          <a:bodyPr/>
          <a:lstStyle/>
          <a:p/>
          <a:p>
            <a:pPr lvl="1" algn="l">
              <a:defRPr sz="2000" b="0">
                <a:solidFill>
                  <a:srgbClr val="222222"/>
                </a:solidFill>
              </a:defRPr>
            </a:pPr>
            <a:r>
              <a:t>Explain technical issues in accessible language</a:t>
            </a:r>
          </a:p>
          <a:p>
            <a:pPr lvl="1" algn="l">
              <a:defRPr sz="2000" b="0">
                <a:solidFill>
                  <a:srgbClr val="222222"/>
                </a:solidFill>
              </a:defRPr>
            </a:pPr>
            <a:r>
              <a:t>Link each finding to concrete remediation steps</a:t>
            </a:r>
          </a:p>
          <a:p>
            <a:pPr lvl="1" algn="l">
              <a:defRPr sz="2000" b="0">
                <a:solidFill>
                  <a:srgbClr val="222222"/>
                </a:solidFill>
              </a:defRPr>
            </a:pPr>
            <a:r>
              <a:t>Highlight quick wins alongside long‑term improvements</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Translating offensive findings into defensive improvements</a:t>
            </a:r>
          </a:p>
        </p:txBody>
      </p:sp>
      <p:sp>
        <p:nvSpPr>
          <p:cNvPr id="3" name="Content Placeholder 2"/>
          <p:cNvSpPr>
            <a:spLocks noGrp="1"/>
          </p:cNvSpPr>
          <p:nvPr>
            <p:ph idx="1"/>
          </p:nvPr>
        </p:nvSpPr>
        <p:spPr/>
        <p:txBody>
          <a:bodyPr/>
          <a:lstStyle/>
          <a:p/>
          <a:p>
            <a:pPr lvl="1" algn="l">
              <a:defRPr sz="2000" b="0">
                <a:solidFill>
                  <a:srgbClr val="222222"/>
                </a:solidFill>
              </a:defRPr>
            </a:pPr>
            <a:r>
              <a:t>Mapping attack paths to control weaknesses</a:t>
            </a:r>
          </a:p>
          <a:p>
            <a:pPr lvl="1" algn="l">
              <a:defRPr sz="2000" b="0">
                <a:solidFill>
                  <a:srgbClr val="222222"/>
                </a:solidFill>
              </a:defRPr>
            </a:pPr>
            <a:r>
              <a:t>Identifying root causes behind vulnerabilities</a:t>
            </a:r>
          </a:p>
          <a:p>
            <a:pPr lvl="1" algn="l">
              <a:defRPr sz="2000" b="0">
                <a:solidFill>
                  <a:srgbClr val="222222"/>
                </a:solidFill>
              </a:defRPr>
            </a:pPr>
            <a:r>
              <a:t>Using assessment results to shape security strategy</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From individual findings to systemic patterns</a:t>
            </a:r>
          </a:p>
        </p:txBody>
      </p:sp>
      <p:sp>
        <p:nvSpPr>
          <p:cNvPr id="3" name="Content Placeholder 2"/>
          <p:cNvSpPr>
            <a:spLocks noGrp="1"/>
          </p:cNvSpPr>
          <p:nvPr>
            <p:ph idx="1"/>
          </p:nvPr>
        </p:nvSpPr>
        <p:spPr/>
        <p:txBody>
          <a:bodyPr/>
          <a:lstStyle/>
          <a:p/>
          <a:p>
            <a:pPr lvl="1" algn="l">
              <a:defRPr sz="2000" b="0">
                <a:solidFill>
                  <a:srgbClr val="222222"/>
                </a:solidFill>
              </a:defRPr>
            </a:pPr>
            <a:r>
              <a:t>Group related vulnerabilities by cause or domain</a:t>
            </a:r>
          </a:p>
          <a:p>
            <a:pPr lvl="1" algn="l">
              <a:defRPr sz="2000" b="0">
                <a:solidFill>
                  <a:srgbClr val="222222"/>
                </a:solidFill>
              </a:defRPr>
            </a:pPr>
            <a:r>
              <a:t>Spot recurring themes across systems or teams</a:t>
            </a:r>
          </a:p>
          <a:p>
            <a:pPr lvl="1" algn="l">
              <a:defRPr sz="2000" b="0">
                <a:solidFill>
                  <a:srgbClr val="222222"/>
                </a:solidFill>
              </a:defRPr>
            </a:pPr>
            <a:r>
              <a:t>Prioritize addressing root causes over one‑off fixes</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Informing defense‑in‑depth and monitoring</a:t>
            </a:r>
          </a:p>
        </p:txBody>
      </p:sp>
      <p:sp>
        <p:nvSpPr>
          <p:cNvPr id="3" name="Content Placeholder 2"/>
          <p:cNvSpPr>
            <a:spLocks noGrp="1"/>
          </p:cNvSpPr>
          <p:nvPr>
            <p:ph idx="1"/>
          </p:nvPr>
        </p:nvSpPr>
        <p:spPr/>
        <p:txBody>
          <a:bodyPr/>
          <a:lstStyle/>
          <a:p/>
          <a:p>
            <a:pPr lvl="1" algn="l">
              <a:defRPr sz="2000" b="0">
                <a:solidFill>
                  <a:srgbClr val="222222"/>
                </a:solidFill>
              </a:defRPr>
            </a:pPr>
            <a:r>
              <a:t>Use attack simulations to test multiple control layers</a:t>
            </a:r>
          </a:p>
          <a:p>
            <a:pPr lvl="1" algn="l">
              <a:defRPr sz="2000" b="0">
                <a:solidFill>
                  <a:srgbClr val="222222"/>
                </a:solidFill>
              </a:defRPr>
            </a:pPr>
            <a:r>
              <a:t>Identify detection gaps along successful attack chains</a:t>
            </a:r>
          </a:p>
          <a:p>
            <a:pPr lvl="1" algn="l">
              <a:defRPr sz="2000" b="0">
                <a:solidFill>
                  <a:srgbClr val="222222"/>
                </a:solidFill>
              </a:defRPr>
            </a:pPr>
            <a:r>
              <a:t>Refine alerting and response based on real tactics</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Ethical hacking career paths and certifications</a:t>
            </a:r>
          </a:p>
        </p:txBody>
      </p:sp>
      <p:sp>
        <p:nvSpPr>
          <p:cNvPr id="3" name="Content Placeholder 2"/>
          <p:cNvSpPr>
            <a:spLocks noGrp="1"/>
          </p:cNvSpPr>
          <p:nvPr>
            <p:ph idx="1"/>
          </p:nvPr>
        </p:nvSpPr>
        <p:spPr/>
        <p:txBody>
          <a:bodyPr/>
          <a:lstStyle/>
          <a:p/>
          <a:p>
            <a:pPr lvl="1" algn="l">
              <a:defRPr sz="2000" b="0">
                <a:solidFill>
                  <a:srgbClr val="222222"/>
                </a:solidFill>
              </a:defRPr>
            </a:pPr>
            <a:r>
              <a:t>Typical roles in offensive security and related fields</a:t>
            </a:r>
          </a:p>
          <a:p>
            <a:pPr lvl="1" algn="l">
              <a:defRPr sz="2000" b="0">
                <a:solidFill>
                  <a:srgbClr val="222222"/>
                </a:solidFill>
              </a:defRPr>
            </a:pPr>
            <a:r>
              <a:t>Foundational skills and knowledge areas</a:t>
            </a:r>
          </a:p>
          <a:p>
            <a:pPr lvl="1" algn="l">
              <a:defRPr sz="2000" b="0">
                <a:solidFill>
                  <a:srgbClr val="222222"/>
                </a:solidFill>
              </a:defRPr>
            </a:pPr>
            <a:r>
              <a:t>Common certifications and learning milestones</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Roles in offensive and hybrid security work</a:t>
            </a:r>
          </a:p>
        </p:txBody>
      </p:sp>
      <p:sp>
        <p:nvSpPr>
          <p:cNvPr id="3" name="Content Placeholder 2"/>
          <p:cNvSpPr>
            <a:spLocks noGrp="1"/>
          </p:cNvSpPr>
          <p:nvPr>
            <p:ph idx="1"/>
          </p:nvPr>
        </p:nvSpPr>
        <p:spPr/>
        <p:txBody>
          <a:bodyPr/>
          <a:lstStyle/>
          <a:p/>
          <a:p>
            <a:pPr lvl="1" algn="l">
              <a:defRPr sz="2000" b="0">
                <a:solidFill>
                  <a:srgbClr val="222222"/>
                </a:solidFill>
              </a:defRPr>
            </a:pPr>
            <a:r>
              <a:t>Dedicated penetration testing and red teaming positions</a:t>
            </a:r>
          </a:p>
          <a:p>
            <a:pPr lvl="1" algn="l">
              <a:defRPr sz="2000" b="0">
                <a:solidFill>
                  <a:srgbClr val="222222"/>
                </a:solidFill>
              </a:defRPr>
            </a:pPr>
            <a:r>
              <a:t>Consulting roles combining assessment and advisory work</a:t>
            </a:r>
          </a:p>
          <a:p>
            <a:pPr lvl="1" algn="l">
              <a:defRPr sz="2000" b="0">
                <a:solidFill>
                  <a:srgbClr val="222222"/>
                </a:solidFill>
              </a:defRPr>
            </a:pPr>
            <a:r>
              <a:t>Defensive roles benefiting from attacker perspectives</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Skills, certifications, and learning paths</a:t>
            </a:r>
          </a:p>
        </p:txBody>
      </p:sp>
      <p:sp>
        <p:nvSpPr>
          <p:cNvPr id="3" name="Content Placeholder 2"/>
          <p:cNvSpPr>
            <a:spLocks noGrp="1"/>
          </p:cNvSpPr>
          <p:nvPr>
            <p:ph idx="1"/>
          </p:nvPr>
        </p:nvSpPr>
        <p:spPr/>
        <p:txBody>
          <a:bodyPr/>
          <a:lstStyle/>
          <a:p/>
          <a:p>
            <a:pPr lvl="1" algn="l">
              <a:defRPr sz="2000" b="0">
                <a:solidFill>
                  <a:srgbClr val="222222"/>
                </a:solidFill>
              </a:defRPr>
            </a:pPr>
            <a:r>
              <a:t>Core technical foundations in systems, networks, and code</a:t>
            </a:r>
          </a:p>
          <a:p>
            <a:pPr lvl="1" algn="l">
              <a:defRPr sz="2000" b="0">
                <a:solidFill>
                  <a:srgbClr val="222222"/>
                </a:solidFill>
              </a:defRPr>
            </a:pPr>
            <a:r>
              <a:t>Structured self‑study, labs, and community participation</a:t>
            </a:r>
          </a:p>
          <a:p>
            <a:pPr lvl="1" algn="l">
              <a:defRPr sz="2000" b="0">
                <a:solidFill>
                  <a:srgbClr val="222222"/>
                </a:solidFill>
              </a:defRPr>
            </a:pPr>
            <a:r>
              <a:t>Certifications as markers of progress, not endpoints</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200" b="1">
                <a:solidFill>
                  <a:srgbClr val="C2185B"/>
                </a:solidFill>
              </a:defRPr>
            </a:pPr>
            <a:r>
              <a:t>Continuous learning and responsible practice</a:t>
            </a:r>
          </a:p>
        </p:txBody>
      </p:sp>
      <p:sp>
        <p:nvSpPr>
          <p:cNvPr id="3" name="Content Placeholder 2"/>
          <p:cNvSpPr>
            <a:spLocks noGrp="1"/>
          </p:cNvSpPr>
          <p:nvPr>
            <p:ph idx="1"/>
          </p:nvPr>
        </p:nvSpPr>
        <p:spPr/>
        <p:txBody>
          <a:bodyPr/>
          <a:lstStyle/>
          <a:p/>
          <a:p>
            <a:pPr lvl="1" algn="l">
              <a:defRPr sz="2000" b="0">
                <a:solidFill>
                  <a:srgbClr val="222222"/>
                </a:solidFill>
              </a:defRPr>
            </a:pPr>
            <a:r>
              <a:t>Staying current with evolving threats and defenses</a:t>
            </a:r>
          </a:p>
          <a:p>
            <a:pPr lvl="1" algn="l">
              <a:defRPr sz="2000" b="0">
                <a:solidFill>
                  <a:srgbClr val="222222"/>
                </a:solidFill>
              </a:defRPr>
            </a:pPr>
            <a:r>
              <a:t>Maintaining integrity and trust as a security professional</a:t>
            </a:r>
          </a:p>
          <a:p>
            <a:pPr lvl="1" algn="l">
              <a:defRPr sz="2000" b="0">
                <a:solidFill>
                  <a:srgbClr val="222222"/>
                </a:solidFill>
              </a:defRPr>
            </a:pPr>
            <a:r>
              <a:t>Contributing positively to the security community</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Building a sustainable learning routine</a:t>
            </a:r>
          </a:p>
        </p:txBody>
      </p:sp>
      <p:sp>
        <p:nvSpPr>
          <p:cNvPr id="3" name="Content Placeholder 2"/>
          <p:cNvSpPr>
            <a:spLocks noGrp="1"/>
          </p:cNvSpPr>
          <p:nvPr>
            <p:ph idx="1"/>
          </p:nvPr>
        </p:nvSpPr>
        <p:spPr/>
        <p:txBody>
          <a:bodyPr/>
          <a:lstStyle/>
          <a:p/>
          <a:p>
            <a:pPr lvl="1" algn="l">
              <a:defRPr sz="2000" b="0">
                <a:solidFill>
                  <a:srgbClr val="222222"/>
                </a:solidFill>
              </a:defRPr>
            </a:pPr>
            <a:r>
              <a:t>Allocate regular time for reading and experimentation</a:t>
            </a:r>
          </a:p>
          <a:p>
            <a:pPr lvl="1" algn="l">
              <a:defRPr sz="2000" b="0">
                <a:solidFill>
                  <a:srgbClr val="222222"/>
                </a:solidFill>
              </a:defRPr>
            </a:pPr>
            <a:r>
              <a:t>Use safe lab environments to test tools and ideas</a:t>
            </a:r>
          </a:p>
          <a:p>
            <a:pPr lvl="1" algn="l">
              <a:defRPr sz="2000" b="0">
                <a:solidFill>
                  <a:srgbClr val="222222"/>
                </a:solidFill>
              </a:defRPr>
            </a:pPr>
            <a:r>
              <a:t>Reflect on lessons from incidents and assessments</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0">
                <a:solidFill>
                  <a:srgbClr val="222222"/>
                </a:solidFill>
              </a:defRPr>
            </a:pPr>
            <a:r>
              <a:t>Ethics, trust, and community engagement</a:t>
            </a:r>
          </a:p>
        </p:txBody>
      </p:sp>
      <p:sp>
        <p:nvSpPr>
          <p:cNvPr id="3" name="Content Placeholder 2"/>
          <p:cNvSpPr>
            <a:spLocks noGrp="1"/>
          </p:cNvSpPr>
          <p:nvPr>
            <p:ph idx="1"/>
          </p:nvPr>
        </p:nvSpPr>
        <p:spPr/>
        <p:txBody>
          <a:bodyPr/>
          <a:lstStyle/>
          <a:p/>
          <a:p>
            <a:pPr lvl="1" algn="l">
              <a:defRPr sz="2000" b="0">
                <a:solidFill>
                  <a:srgbClr val="222222"/>
                </a:solidFill>
              </a:defRPr>
            </a:pPr>
            <a:r>
              <a:t>Guard confidential information and client trust</a:t>
            </a:r>
          </a:p>
          <a:p>
            <a:pPr lvl="1" algn="l">
              <a:defRPr sz="2000" b="0">
                <a:solidFill>
                  <a:srgbClr val="222222"/>
                </a:solidFill>
              </a:defRPr>
            </a:pPr>
            <a:r>
              <a:t>Respect disclosure timelines and coordination</a:t>
            </a:r>
          </a:p>
          <a:p>
            <a:pPr lvl="1" algn="l">
              <a:defRPr sz="2000" b="0">
                <a:solidFill>
                  <a:srgbClr val="222222"/>
                </a:solidFill>
              </a:defRPr>
            </a:pPr>
            <a:r>
              <a:t>Share knowledge in ways that support defense</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lgn="ctr">
              <a:defRPr sz="4600" b="1">
                <a:solidFill>
                  <a:srgbClr val="0B3D91"/>
                </a:solidFill>
              </a:defRPr>
            </a:pPr>
            <a:r>
              <a:t>Thank You</a:t>
            </a:r>
          </a:p>
        </p:txBody>
      </p:sp>
      <p:sp>
        <p:nvSpPr>
          <p:cNvPr id="3" name="Subtitle 2"/>
          <p:cNvSpPr>
            <a:spLocks noGrp="1"/>
          </p:cNvSpPr>
          <p:nvPr>
            <p:ph type="subTitle" idx="1"/>
          </p:nvPr>
        </p:nvSpPr>
        <p:spPr/>
        <p:txBody>
          <a:bodyPr/>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