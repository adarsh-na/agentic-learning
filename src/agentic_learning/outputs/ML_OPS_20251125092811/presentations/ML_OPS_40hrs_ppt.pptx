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opening title slide for the entire 40-hour ML OPS training program. As the instructor, simply display this slide without additional text or bullets. Take a moment to introduce yourself, the audience, and the overall purpose of the course before moving forward. Emphasize that this program will cover the practical lifecycle of machine learning in production, including design, deployment, monitoring, and continuous improvement. Let learners know that the content is structured around topics and subtopics they will see in the table of contents, and that the focus is on real-world MLOps practices.</a:t>
            </a:r>
          </a:p>
          <a:p/>
          <a:p>
            <a:r>
              <a:t>Use this slide to set expectations: the course is 40 hours, highly applied, and assumes some familiarity with basic machine learning concepts, but will connect those concepts to production-grade systems and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on screen long enough for participants to read and think. Your goal is to spark curiosity and a bit of productive discomfort.</a:t>
            </a:r>
          </a:p>
          <a:p/>
          <a:p>
            <a:r>
              <a:t>Walk through the questions slowly:</a:t>
            </a:r>
          </a:p>
          <a:p>
            <a:r>
              <a:t>- First, ask learners to recall a time when a model worked well in a notebook or a Kaggle competition but struggled in a live environment. Highlight that this disconnect is at the heart of MLOps.</a:t>
            </a:r>
          </a:p>
          <a:p>
            <a:r>
              <a:t>- For the second question, give quick examples: data distribution shifts, silent failures, latency issues, or feedback loops that degrade performance.</a:t>
            </a:r>
          </a:p>
          <a:p>
            <a:r>
              <a:t>- With the third question, stress that once models are in production, version control, CI/CD, automated testing, monitoring, and observability become as important as the model itself.</a:t>
            </a:r>
          </a:p>
          <a:p>
            <a:r>
              <a:t>- For the last question, nudge participants away from thinking only about metrics like accuracy or F1, and towards resilience, maintainability, cost, and real business outcomes.</a:t>
            </a:r>
          </a:p>
          <a:p/>
          <a:p>
            <a:r>
              <a:t>Encourage learners to share experiences or expectations. Do not answer the questions fully yet; let them sit with the complexity. This primes them for the next slide, where MLOps is introduced as a discipline that addresses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give a clear, concrete definition of MLOps and directly respond to the curiosity questions.</a:t>
            </a:r>
          </a:p>
          <a:p/>
          <a:p>
            <a:r>
              <a:t>Explain that in many organizations, data scientists historically worked in isolation, producing notebooks or static models. These often failed to translate into robust products because they lacked deployment pipelines, monitoring, and collaboration with engineers. MLOps emerged to solve this gap.</a:t>
            </a:r>
          </a:p>
          <a:p/>
          <a:p>
            <a:r>
              <a:t>For each bullet:</a:t>
            </a:r>
          </a:p>
          <a:p>
            <a:r>
              <a:t>- Unification of roles: clarify that MLOps is not just a tool or a role; it is a set of practices that require collaboration among data scientists, ML engineers, software engineers, DevOps, and product stakeholders.</a:t>
            </a:r>
          </a:p>
          <a:p>
            <a:r>
              <a:t>- Lifecycle coverage: briefly enumerate typical stages—problem framing, data collection, feature engineering, training, evaluation, deployment, monitoring, retraining—and note that they form a loop.</a:t>
            </a:r>
          </a:p>
          <a:p>
            <a:r>
              <a:t>- Automation and observability: give examples like automated data validation, unit and integration tests for models, continuous integration and deployment of ML pipelines, and dashboards for model performance.</a:t>
            </a:r>
          </a:p>
          <a:p>
            <a:r>
              <a:t>- Business alignment: highlight that a technically good model is not enough. It must serve a purpose: reduce churn, detect fraud, personalize content, etc., while respecting constraints such as fairness, latency, privacy, and cost.</a:t>
            </a:r>
          </a:p>
          <a:p/>
          <a:p>
            <a:r>
              <a:t>Conclude by telling learners that the rest of the course will walk through a structured roadmap of concepts and practices from foundational MLOps ideas to hands-on operational workflows, aligned with approximately 40 hours of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acts as the course-level table of contents. Although the specific markdown TOC file is external, we are aligning the structure to a 40-hour program broken into coherent topics and durations.</a:t>
            </a:r>
          </a:p>
          <a:p/>
          <a:p>
            <a:r>
              <a:t>Explain the high-level flow:</a:t>
            </a:r>
          </a:p>
          <a:p>
            <a:r>
              <a:t>- Topic 1 lays the conceptual foundations and introduces key terminology and architectural ideas.</a:t>
            </a:r>
          </a:p>
          <a:p>
            <a:r>
              <a:t>- Topic 2 dives into data pipelines and feature stores, which are critical for stability and reproducibility.</a:t>
            </a:r>
          </a:p>
          <a:p>
            <a:r>
              <a:t>- Topic 3 structures how to run experiments at scale, track results, and manage model versions.</a:t>
            </a:r>
          </a:p>
          <a:p>
            <a:r>
              <a:t>- Topic 4 focuses on serving models in production, covering online, batch, and streaming deployment strategies.</a:t>
            </a:r>
          </a:p>
          <a:p>
            <a:r>
              <a:t>- Topic 5 deals with ensuring models behave well over time—monitoring, alerting, drift detection, and retraining.</a:t>
            </a:r>
          </a:p>
          <a:p>
            <a:r>
              <a:t>- Topic 6 covers cross-cutting concerns like compliance, access control, explainability, and ethical considerations.</a:t>
            </a:r>
          </a:p>
          <a:p>
            <a:r>
              <a:t>- Topic 7 ties everything together in a practical capstone where learners build or analyze an end-to-end MLOps workflow.</a:t>
            </a:r>
          </a:p>
          <a:p/>
          <a:p>
            <a:r>
              <a:t>Make clear that within each topic there will be multiple subtopics, and each subtopic will be expanded through explanatory and practice-oriented slides. Encourage learners to see this as a roadmap, not just a list: the topics build on each other logically.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 title slide for Topic 1. Do not go into details yet; instead, provide a narrative overview of what will be covered in the next 4 hours.</a:t>
            </a:r>
          </a:p>
          <a:p/>
          <a:p>
            <a:r>
              <a:t>Explain that learners will:</a:t>
            </a:r>
          </a:p>
          <a:p>
            <a:r>
              <a:t>- Understand why MLOps emerged as a discipline distinct from traditional ML practice.</a:t>
            </a:r>
          </a:p>
          <a:p>
            <a:r>
              <a:t>- Become familiar with the vocabulary needed to discuss ML systems in production.</a:t>
            </a:r>
          </a:p>
          <a:p>
            <a:r>
              <a:t>- See how typical ML architectures are structured from data sources to serving layers.</a:t>
            </a:r>
          </a:p>
          <a:p>
            <a:r>
              <a:t>- Learn which roles (data scientist, ML engineer, DevOps, product manager, etc.) interact in MLOps and how.</a:t>
            </a:r>
          </a:p>
          <a:p>
            <a:r>
              <a:t>- Map the ML lifecycle to real-world continuous feedback loops.</a:t>
            </a:r>
          </a:p>
          <a:p/>
          <a:p>
            <a:r>
              <a:t>Emphasize that after this topic, participants should be able to describe MLOps to stakeholders, understand high-level system diagrams, and see where their own responsibilities fit within the broader pipeline.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subtopic by contrasting a typical data science workflow (data → notebook → model → report) with a real product environment where the model must serve live traffic.</a:t>
            </a:r>
          </a:p>
          <a:p/>
          <a:p>
            <a:r>
              <a:t>Expand on each bullet:</a:t>
            </a:r>
          </a:p>
          <a:p>
            <a:r>
              <a:t>- Offline experimentation: describe how early ML practice often ended at a trained model file or a research paper, with little thought given to how the model would run continuously.</a:t>
            </a:r>
          </a:p>
          <a:p>
            <a:r>
              <a:t>- Production demands: mention SLAs, uptime, latency, throughput, multi-region deployments, and business commitments that do not align with informal, manual processes.</a:t>
            </a:r>
          </a:p>
          <a:p>
            <a:r>
              <a:t>- Bottlenecks: give concrete examples of hand-written scripts, manual deployment steps, and the absence of automated tests leading to errors and slow releases.</a:t>
            </a:r>
          </a:p>
          <a:p>
            <a:r>
              <a:t>- MLOps: explain that MLOps is inspired by DevOps (CI/CD, Infrastructure as Code, observability), but tailored to the unique aspects of data and models (data drift, model retraining, feature pipelines).</a:t>
            </a:r>
          </a:p>
          <a:p/>
          <a:p>
            <a:r>
              <a:t>Invite learners to share how models are currently deployed (if at all) in their organizations and whether they see similar friction.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delve deeper into why pre-MLOps workflows struggle at scale.</a:t>
            </a:r>
          </a:p>
          <a:p/>
          <a:p>
            <a:r>
              <a:t>Discuss reproducibility: when data preprocessing, model training, and evaluation live only in ad-hoc notebooks, it becomes difficult to rerun experiments months later or onboard new team members.</a:t>
            </a:r>
          </a:p>
          <a:p/>
          <a:p>
            <a:r>
              <a:t>Talk about testing: emphasize that unit tests, integration tests, and data validation checks are often missing in pure research settings, which leads to fragile pipelines.</a:t>
            </a:r>
          </a:p>
          <a:p/>
          <a:p>
            <a:r>
              <a:t>Highlight manual steps: examples include copying model files via SSH, editing configuration files directly on servers, or running scripts from local machines.</a:t>
            </a:r>
          </a:p>
          <a:p/>
          <a:p>
            <a:r>
              <a:t>Address ownership: ask who is responsible when the model starts degrading—data scientists, platform teams, product managers? The lack of clear accountability often leads to slow or inconsistent responses.</a:t>
            </a:r>
          </a:p>
          <a:p/>
          <a:p>
            <a:r>
              <a:t>Connect these limitations back to the motivation for MLOps, which systematically addresses each of these issues with practices and tooling.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key terms that will recur throughout the course. Clarify that vocabulary is foundational to productive team conversations.</a:t>
            </a:r>
          </a:p>
          <a:p/>
          <a:p>
            <a:r>
              <a:t>For each term:</a:t>
            </a:r>
          </a:p>
          <a:p>
            <a:r>
              <a:t>- ML pipeline: draw or describe the stages—data ingestion, validation, transformation, training, evaluation, packaging, deployment, and monitoring.</a:t>
            </a:r>
          </a:p>
          <a:p>
            <a:r>
              <a:t>- Model registry: explain how it stores artifacts (model binaries, signatures), metadata (training data snapshot, hyperparameters, metrics), and lifecycle state (staging, production, archived).</a:t>
            </a:r>
          </a:p>
          <a:p>
            <a:r>
              <a:t>- CI/CD for ML: contrast with traditional CI/CD for code; emphasize added complexity due to data and models. Mention typical steps like data validation, model training in CI, automatic evaluation, and gated promotion.</a:t>
            </a:r>
          </a:p>
          <a:p>
            <a:r>
              <a:t>- Drift: distinguish data drift (shift in input distributions) from concept drift (change in the underlying relationship between inputs and outputs). Stress why detection is essential.</a:t>
            </a:r>
          </a:p>
          <a:p>
            <a:r>
              <a:t>- Feature store: introduce it as a shared, consistent source for feature definitions and values usable by both training and serving systems.</a:t>
            </a:r>
          </a:p>
          <a:p/>
          <a:p>
            <a:r>
              <a:t>Encourage learners to take note of these terms; they will appear in diagrams and code discussions later. Ask if any of these concepts are already in use in their environment and how they are named locally.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present a conceptual architecture diagram verbally (and ideally visually, if you add a graphic to the final deck).</a:t>
            </a:r>
          </a:p>
          <a:p/>
          <a:p>
            <a:r>
              <a:t>Walk through the components:</a:t>
            </a:r>
          </a:p>
          <a:p>
            <a:r>
              <a:t>- Data sources: describe typical origins—databases (OLTP), data lakes, message queues, third-party APIs—and stress the need for reliability and governance.</a:t>
            </a:r>
          </a:p>
          <a:p>
            <a:r>
              <a:t>- Feature pipelines: explain how raw data is cleaned, transformed, joined, and aggregated into features. Clarify that consistency between training-time and serving-time features is a core architectural concern.</a:t>
            </a:r>
          </a:p>
          <a:p>
            <a:r>
              <a:t>- Training infrastructure: discuss choices like on-prem clusters vs cloud services; GPUs vs CPUs; use of workflow orchestrators (e.g., Airflow, Kubeflow, Prefect) to manage jobs.</a:t>
            </a:r>
          </a:p>
          <a:p>
            <a:r>
              <a:t>- Serving layer: compare online inference (low-latency APIs behind load balancers), batch scoring (overnight jobs generating predictions), and streaming inference (near-real-time updates).</a:t>
            </a:r>
          </a:p>
          <a:p>
            <a:r>
              <a:t>- Monitoring: outline how logs, metrics, traces, and label feedback are collected, analyzed, and fed back into retraining pipelines.</a:t>
            </a:r>
          </a:p>
          <a:p/>
          <a:p>
            <a:r>
              <a:t>Emphasize that subsequent topics will decompose this architecture into more detailed patterns and implementation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MLOps is not just about tools, but also about people and processes.</a:t>
            </a:r>
          </a:p>
          <a:p/>
          <a:p>
            <a:r>
              <a:t>Elaborate on each role:</a:t>
            </a:r>
          </a:p>
          <a:p>
            <a:r>
              <a:t>- Data scientists: they experiment with model architectures, feature ideas, and evaluation metrics, but in an MLOps context they must also think about deployability and monitoring signals.</a:t>
            </a:r>
          </a:p>
          <a:p>
            <a:r>
              <a:t>- ML engineers: often own or co-own the deployment pipelines, packaging, performance optimization, and resilience aspects of model serving.</a:t>
            </a:r>
          </a:p>
          <a:p>
            <a:r>
              <a:t>- Data engineers: ensure data is available, reliable, and well-modeled; they maintain ETL/ELT processes and often interact closely with feature stores.</a:t>
            </a:r>
          </a:p>
          <a:p>
            <a:r>
              <a:t>- DevOps/platform engineers: build the container platforms, CI/CD systems, observability stack, and infrastructure-as-code that underpin MLOps.</a:t>
            </a:r>
          </a:p>
          <a:p>
            <a:r>
              <a:t>- Product/domain experts: translate business needs into measurable ML objectives, and help interpret model behavior in context.</a:t>
            </a:r>
          </a:p>
          <a:p/>
          <a:p>
            <a:r>
              <a:t>Discuss collaboration patterns like cross-functional squads or ML platform teams. Highlight that clear communication and shared vocabulary reduce friction and errors across the lifecycle.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ML lifecycle as a continuous loop rather than a linear project.</a:t>
            </a:r>
          </a:p>
          <a:p/>
          <a:p>
            <a:r>
              <a:t>Explain the stages:</a:t>
            </a:r>
          </a:p>
          <a:p>
            <a:r>
              <a:t>- Data: new or updated data arrives constantly, whether from user interactions, system logs, or external sources.</a:t>
            </a:r>
          </a:p>
          <a:p>
            <a:r>
              <a:t>- Training: models are retrained or fine-tuned periodically or triggered by events like drift detection or new features.</a:t>
            </a:r>
          </a:p>
          <a:p>
            <a:r>
              <a:t>- Deployment: new versions are rolled out with controlled strategies (e.g., canary releases, A/B testing).</a:t>
            </a:r>
          </a:p>
          <a:p>
            <a:r>
              <a:t>- Monitoring: observe model performance (e.g., accuracy, error rates), operational metrics (latency, throughput), and data quality indicators.</a:t>
            </a:r>
          </a:p>
          <a:p>
            <a:r>
              <a:t>- Retraining: based on signals from monitoring and business outcomes, models are updated.</a:t>
            </a:r>
          </a:p>
          <a:p/>
          <a:p>
            <a:r>
              <a:t>Stress that feedback loops are crucial: user behavior changes in response to model outputs, which then changes the data the model sees. For example, recommendation systems influence what gets clicked, which becomes training data. MLOps must intentionally manage these dynamics.</a:t>
            </a:r>
          </a:p>
          <a:p/>
          <a:p>
            <a:r>
              <a:t>Conclude Topic 1 by tying the lifecycle back to the rest of the course: every subsequent topic (data, training, deployment, monitoring, governance, and capstone) will deepen understanding of specific parts of this loop.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2 by emphasizing that data is the core dependency for any production ML system. The next 6 hours will focus on making data pipelines predictable, traceable, and reusable.</a:t>
            </a:r>
          </a:p>
          <a:p/>
          <a:p>
            <a:r>
              <a:t>Explain the flow:</a:t>
            </a:r>
          </a:p>
          <a:p>
            <a:r>
              <a:t>- Starting from how to specify and enforce data contracts and schemas.</a:t>
            </a:r>
          </a:p>
          <a:p>
            <a:r>
              <a:t>- Moving into techniques for measuring and improving data quality.</a:t>
            </a:r>
          </a:p>
          <a:p>
            <a:r>
              <a:t>- Designing feature pipelines that balance performance, maintainability, and reusability.</a:t>
            </a:r>
          </a:p>
          <a:p>
            <a:r>
              <a:t>- Understanding feature stores as a central building block for production ML.</a:t>
            </a:r>
          </a:p>
          <a:p>
            <a:r>
              <a:t>- Dealing with different temporal patterns: batch, real-time, and streaming.</a:t>
            </a:r>
          </a:p>
          <a:p>
            <a:r>
              <a:t>- Integrating privacy and compliance into data handling from day one.</a:t>
            </a:r>
          </a:p>
          <a:p/>
          <a:p>
            <a:r>
              <a:t>Remind learners that strong MLOps practices depend on reliable, well-understood data. Poor data management leads to fragile models, opaque failures, and high operational costs.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ML systems depend on implicit assumptions about data; making these explicit via data contracts and schemas is critical.</a:t>
            </a:r>
          </a:p>
          <a:p/>
          <a:p>
            <a:r>
              <a:t>Discuss data contracts: agreements between producers and consumers of data that specify format, fields, semantics, and SLAs. For ML, this often includes feature names, types, and acceptable distributions.</a:t>
            </a:r>
          </a:p>
          <a:p/>
          <a:p>
            <a:r>
              <a:t>Explain schemas: show examples of schema tools (e.g., JSON Schema, Protobuf, Avro) or ML-specific validation libraries. Emphasize documenting ranges (e.g., age must be non-negative), categories, and units.</a:t>
            </a:r>
          </a:p>
          <a:p/>
          <a:p>
            <a:r>
              <a:t>Talk about assumptions: for instance, whether a feature can be null, how many unique categories are expected, and how text is tokenized.</a:t>
            </a:r>
          </a:p>
          <a:p/>
          <a:p>
            <a:r>
              <a:t>Stress schema versioning: as the product changes, data fields are added or modified. These evolutions must be tracked and compatible with existing models. Encourage learners to think of schema changes as similar to API changes and manage them with the same rigor.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data quality as a multi-dimensional concept and connect it to model reliability.</a:t>
            </a:r>
          </a:p>
          <a:p/>
          <a:p>
            <a:r>
              <a:t>Explain each quality dimension with examples: missing values, incorrect labels, inconsistent formats across sources, delayed data arrivals.</a:t>
            </a:r>
          </a:p>
          <a:p/>
          <a:p>
            <a:r>
              <a:t>Describe automated validation: include checks for schema conformity, range violations, distribution shifts, and reference integrity. Mention tools such as Great Expectations or custom validation frameworks without endorsing any specific vendor.</a:t>
            </a:r>
          </a:p>
          <a:p/>
          <a:p>
            <a:r>
              <a:t>Discuss anomaly detection in pipelines: highlight that early detection prevents bad data from corrupting models and allows teams to intervene quickly.</a:t>
            </a:r>
          </a:p>
          <a:p/>
          <a:p>
            <a:r>
              <a:t>Explain data lineage: show how lineage helps answer questions like “Which upstream changes caused this model performance drop?” or “Which datasets must be reprocessed after a bug fix?” Emphasize the value of metadata stores and pipeline orchestration systems that record lineage information.</a:t>
            </a:r>
          </a:p>
          <a:p/>
          <a:p>
            <a:r>
              <a:t>Encourage learners to think of data validation as part of CI/CD for ML,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this slide on the engineering design of feature pipelines.</a:t>
            </a:r>
          </a:p>
          <a:p/>
          <a:p>
            <a:r>
              <a:t>Explain why feature definitions should be declarative where possible so that different teams and systems understand exactly what each feature means, even if computed in different ways.</a:t>
            </a:r>
          </a:p>
          <a:p/>
          <a:p>
            <a:r>
              <a:t>Discuss training-serving skew: highlight that discrepancies between offline (training) and online (serving) feature computation are a major source of degraded performance in production. Encourage using shared code or shared feature stores where possible.</a:t>
            </a:r>
          </a:p>
          <a:p/>
          <a:p>
            <a:r>
              <a:t>Talk through pre-computation vs on-demand features: for instance, daily aggregates may be computed in batch, while real-time behavioral signals may need streaming or online computation. Show how this affects system latency and infrastructure costs.</a:t>
            </a:r>
          </a:p>
          <a:p/>
          <a:p>
            <a:r>
              <a:t>Cover reliability mechanisms: idempotency (safe re-runs), retries with backoff, and graceful degradation when upstream dependencies are slow or temporarily unavailable.</a:t>
            </a:r>
          </a:p>
          <a:p/>
          <a:p>
            <a:r>
              <a:t>Invite discussion about existing feature pipelines learners have seen and common issues like duplication, undocumented logic, or ad hoc fixes that accumulate technical debt.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feature store as a relatively recent but increasingly standard component in MLOps architectures.</a:t>
            </a:r>
          </a:p>
          <a:p/>
          <a:p>
            <a:r>
              <a:t>Explain the primary purpose: avoid repeated, inconsistent reimplementation of the same features by different teams or projects. Emphasize the value of discoverability and documentation.</a:t>
            </a:r>
          </a:p>
          <a:p/>
          <a:p>
            <a:r>
              <a:t>Discuss dual access patterns: offline feature retrieval for training large datasets, and low-latency lookups for online inference. Explain that some feature stores abstract away these storage differences from users.</a:t>
            </a:r>
          </a:p>
          <a:p/>
          <a:p>
            <a:r>
              <a:t>Highlight point-in-time correctness: illustrate with a simple example of a time-series prediction problem where features must reflect only the information available at the prediction time, avoiding label leakage from the future.</a:t>
            </a:r>
          </a:p>
          <a:p/>
          <a:p>
            <a:r>
              <a:t>Touch on governance: how feature stores can help enforce access control, track provenance, and manage deprecation of old features.</a:t>
            </a:r>
          </a:p>
          <a:p/>
          <a:p>
            <a:r>
              <a:t>Encourage learners to think about whether a feature store would simplify or complicate their current architectures, and what migration might look 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modern ML systems rarely operate with a single data mode; they frequently combine batch and real-time inputs.</a:t>
            </a:r>
          </a:p>
          <a:p/>
          <a:p>
            <a:r>
              <a:t>Describe batch pipelines: nightly or hourly jobs that aggregate data; used for bulk prediction (e.g., churn scores) and for retraining datasets.</a:t>
            </a:r>
          </a:p>
          <a:p/>
          <a:p>
            <a:r>
              <a:t>Discuss online ingestion: event-based updates in near real-time, enabling use cases like recommendations, fraud scoring, or dynamic pricing.</a:t>
            </a:r>
          </a:p>
          <a:p/>
          <a:p>
            <a:r>
              <a:t>Introduce streaming architectures: mention the concept of message queues or logs and streaming frameworks conceptually, focusing on how continuous event processing generates fresh features.</a:t>
            </a:r>
          </a:p>
          <a:p/>
          <a:p>
            <a:r>
              <a:t>Stress the challenge of synchronization: for example, ensuring that features computed in batch and features computed in streaming are consistent and comparable. Mention techniques like unified feature definitions and careful time-windowing.</a:t>
            </a:r>
          </a:p>
          <a:p/>
          <a:p>
            <a:r>
              <a:t>Ask learners to map their own use cases to these modes: which parts of their systems are batch-dominant vs real-time, and how that affects their MLOps strategy.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clear that MLOps must incorporate privacy and compliance from the outset, not as an afterthought.</a:t>
            </a:r>
          </a:p>
          <a:p/>
          <a:p>
            <a:r>
              <a:t>Explain the importance of classifying data: personally identifiable information, financial data, health information, etc. Different categories require different protections.</a:t>
            </a:r>
          </a:p>
          <a:p/>
          <a:p>
            <a:r>
              <a:t>Discuss access control: role-based access, least-privilege principles, and detailed auditing of who accessed which data and when.</a:t>
            </a:r>
          </a:p>
          <a:p/>
          <a:p>
            <a:r>
              <a:t>Cover legal and policy constraints: retention policies, the right to be forgotten, and organizational rules. Feature pipelines must be designed to support selective deletion and updates, which can be technically challenging.</a:t>
            </a:r>
          </a:p>
          <a:p/>
          <a:p>
            <a:r>
              <a:t>Introduce common privacy-preserving techniques: removing direct identifiers, pseudonymization (replacing identifiers with tokens), and using aggregated features rather than raw data when possible.</a:t>
            </a:r>
          </a:p>
          <a:p/>
          <a:p>
            <a:r>
              <a:t>Stress that these concerns will surface again in Topic 6 on governance and responsible AI, but are operationalized concretely within data and feature pipelines.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3 as the bridge between research-style experimentation and production-ready training workflows. Over the next 6 hours, learners will see how to make training systematic, traceable, and safe to automate.</a:t>
            </a:r>
          </a:p>
          <a:p/>
          <a:p>
            <a:r>
              <a:t>Explain that:</a:t>
            </a:r>
          </a:p>
          <a:p>
            <a:r>
              <a:t>- Training must be codified into pipelines that can be rerun on demand.</a:t>
            </a:r>
          </a:p>
          <a:p>
            <a:r>
              <a:t>- Experiments require rigorous tracking to compare and reproduce results.</a:t>
            </a:r>
          </a:p>
          <a:p>
            <a:r>
              <a:t>- Hyperparameter tuning must balance exploration with compute budgets.</a:t>
            </a:r>
          </a:p>
          <a:p>
            <a:r>
              <a:t>- Model versioning ensures that teams know exactly which model is running and why.</a:t>
            </a:r>
          </a:p>
          <a:p>
            <a:r>
              <a:t>- Testing models is as essential as testing code, both for correctness and stability.</a:t>
            </a:r>
          </a:p>
          <a:p>
            <a:r>
              <a:t>- Environments (development, staging, production) may differ and must be managed carefully.</a:t>
            </a:r>
          </a:p>
          <a:p/>
          <a:p>
            <a:r>
              <a:t>Emphasize that these practices allow organizations to move from occasional, manual model releases to frequent, confident updates.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while notebooks are useful for exploration, production training must be driven by code and pipelines.</a:t>
            </a:r>
          </a:p>
          <a:p/>
          <a:p>
            <a:r>
              <a:t>Explain pipeline encapsulation: separating reusable modules for data loading, feature engineering, model building, training loops, and evaluation. Emphasize the benefits for maintenance and debugging.</a:t>
            </a:r>
          </a:p>
          <a:p/>
          <a:p>
            <a:r>
              <a:t>Discuss parameterization: configuration files or command-line flags that allow changing data sources, hyperparameters, or model architectures without modifying core code.</a:t>
            </a:r>
          </a:p>
          <a:p/>
          <a:p>
            <a:r>
              <a:t>Introduce workflow orchestration: conceptual overview of tools that schedule and monitor jobs, handle dependencies, and retry on failure.</a:t>
            </a:r>
          </a:p>
          <a:p/>
          <a:p>
            <a:r>
              <a:t>Highlight environment capture: containerization, environment files, and explicit setting of random seeds for pseudo-deterministic results. Explain that without this, rerunning experiments later may yield different outcomes and undermine trust.</a:t>
            </a:r>
          </a:p>
          <a:p/>
          <a:p>
            <a:r>
              <a:t>Encourage learners to reflect on how reproducible their current training processes are and what gaps exist.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need for experiment tracking once teams move beyond a handful of models.</a:t>
            </a:r>
          </a:p>
          <a:p/>
          <a:p>
            <a:r>
              <a:t>Detail what to log: parameters (learning rates, architectures), which dataset snapshot or feature set was used, and which version of the code produced the results.</a:t>
            </a:r>
          </a:p>
          <a:p/>
          <a:p>
            <a:r>
              <a:t>Discuss metrics: typical evaluation scores (accuracy, AUC, RMSE) and task-specific metrics. Show how comparing experiments across these metrics informs decisions about promotion.</a:t>
            </a:r>
          </a:p>
          <a:p/>
          <a:p>
            <a:r>
              <a:t>Explain artifacts: trained models, plots, intermediate data, and logs. These should be stored in a way that links them to experiment metadata.</a:t>
            </a:r>
          </a:p>
          <a:p/>
          <a:p>
            <a:r>
              <a:t>Highlight collaboration: experiment tracking tools or custom dashboards allow teams to see each other's work, avoid duplication, and document insights.</a:t>
            </a:r>
          </a:p>
          <a:p/>
          <a:p>
            <a:r>
              <a:t>Make the connection to future topics: experiment records will be essential when investigating production issues or auditing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while hyperparameter tuning can dramatically improve performance, it can also consume large amounts of compute.</a:t>
            </a:r>
          </a:p>
          <a:p/>
          <a:p>
            <a:r>
              <a:t>Discuss search strategies at a conceptual level: grid search, random search, and more advanced methods. Emphasize that sophistication is only useful if grounded in good experimental design.</a:t>
            </a:r>
          </a:p>
          <a:p/>
          <a:p>
            <a:r>
              <a:t>Talk about constraints: budget limits, time windows, and environmental impact. Encourage thoughtful trade-offs rather than blind maximal search.</a:t>
            </a:r>
          </a:p>
          <a:p/>
          <a:p>
            <a:r>
              <a:t>Explain scheduling: how to distribute tuning jobs across clusters or cloud resources, manage parallel runs, and handle failures.</a:t>
            </a:r>
          </a:p>
          <a:p/>
          <a:p>
            <a:r>
              <a:t>Warn about overfitting to validation sets: extensive tuning can adapt specifically to the validation data. Suggest practices like nested cross-validation or holding out a separate test set for final evaluation.</a:t>
            </a:r>
          </a:p>
          <a:p/>
          <a:p>
            <a:r>
              <a:t>Encourage learners to think about how they currently tune models and whether their processes are aligned with organizational constraints and MLOps practices.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 MLOps, models are versioned like code repositories, but with additional metadata.</a:t>
            </a:r>
          </a:p>
          <a:p/>
          <a:p>
            <a:r>
              <a:t>Describe version identifiers: numeric or semantic versions that link to training runs, data versions, and metrics.</a:t>
            </a:r>
          </a:p>
          <a:p/>
          <a:p>
            <a:r>
              <a:t>Discuss lifecycle states: how models move from experimentation to candidates for deployment, then to staging environments for final checks, and finally to production. Each transition should be controlled and auditable.</a:t>
            </a:r>
          </a:p>
          <a:p/>
          <a:p>
            <a:r>
              <a:t>Detail approval gates: automated checks (tests, performance thresholds) and human reviews. Models should not be promoted based solely on a single metric.</a:t>
            </a:r>
          </a:p>
          <a:p/>
          <a:p>
            <a:r>
              <a:t>Highlight rollback: emphasize that being able to revert quickly is as important as promoting new versions. This affects deployment design and monitoring.</a:t>
            </a:r>
          </a:p>
          <a:p/>
          <a:p>
            <a:r>
              <a:t>Encourage learners to reflect on how models are currently promoted and whether they could explain, at any point, which model version is live and why.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testing is non-negotiable for production ML systems, just as for any critical software.</a:t>
            </a:r>
          </a:p>
          <a:p/>
          <a:p>
            <a:r>
              <a:t>Explain unit tests: verify small components like feature computation functions or data parsing, ensuring they behave correctly under various inputs.</a:t>
            </a:r>
          </a:p>
          <a:p/>
          <a:p>
            <a:r>
              <a:t>Discuss integration tests: run an entire training pipeline on a small sample dataset to catch configuration or dependency issues.</a:t>
            </a:r>
          </a:p>
          <a:p/>
          <a:p>
            <a:r>
              <a:t>Describe acceptance tests: compare a new model to an existing baseline on key metrics. Decide criteria for acceptance beyond a single metric, including stability across segments.</a:t>
            </a:r>
          </a:p>
          <a:p/>
          <a:p>
            <a:r>
              <a:t>Introduce non-functional tests: latency benchmarks, failure mode analysis, and fairness or bias checks. These are essential to align with both technical and ethical requirements.</a:t>
            </a:r>
          </a:p>
          <a:p/>
          <a:p>
            <a:r>
              <a:t>Encourage learners to think about where they can start adding tests into their current ML workflows and which tests would deliver the highest risk reduction.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environments are a core concept in software engineering and must be applied to ML as well.</a:t>
            </a:r>
          </a:p>
          <a:p/>
          <a:p>
            <a:r>
              <a:t>Describe each environment: development for experimentation and rapid iteration; staging as a production-like setting for final validation; production as the live environment serving users.</a:t>
            </a:r>
          </a:p>
          <a:p/>
          <a:p>
            <a:r>
              <a:t>Discuss configuration management: using environment-specific settings while ensuring that core logic and dependencies remain consistent to avoid surprises.</a:t>
            </a:r>
          </a:p>
          <a:p/>
          <a:p>
            <a:r>
              <a:t>Highlight automation: CI/CD pipelines that package and deploy models and associated services across environments without manual intervention.</a:t>
            </a:r>
          </a:p>
          <a:p/>
          <a:p>
            <a:r>
              <a:t>Talk about environment-specific monitoring: staging may reveal issues not visible in development; production may show user behavior patterns that change model performance.</a:t>
            </a:r>
          </a:p>
          <a:p/>
          <a:p>
            <a:r>
              <a:t>Close Topic 3 by emphasizing that robust training, tracking, and version management set the stage for reliable deployment, which is the focus of the next topic.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4 as the most deployment-focused and infrastructure-intensive part of the course, spanning 8 hours.</a:t>
            </a:r>
          </a:p>
          <a:p/>
          <a:p>
            <a:r>
              <a:t>Explain that learners will:</a:t>
            </a:r>
          </a:p>
          <a:p>
            <a:r>
              <a:t>- Understand the basic mechanics of serving ML models as part of larger systems.</a:t>
            </a:r>
          </a:p>
          <a:p>
            <a:r>
              <a:t>- Compare different deployment modes: online, batch, and streaming.</a:t>
            </a:r>
          </a:p>
          <a:p>
            <a:r>
              <a:t>- Learn rollout strategies that reduce risk when updating models.</a:t>
            </a:r>
          </a:p>
          <a:p>
            <a:r>
              <a:t>- Explore techniques to scale and optimize serving infrastructure.</a:t>
            </a:r>
          </a:p>
          <a:p>
            <a:r>
              <a:t>- Consider special cases such as edge and on-device deployments.</a:t>
            </a:r>
          </a:p>
          <a:p>
            <a:r>
              <a:t>- Integrate reliability and observability deeply into serving architectures.</a:t>
            </a:r>
          </a:p>
          <a:p/>
          <a:p>
            <a:r>
              <a:t>Reiterate that deployment is not just about “putting the model behind an API”; it is about ensuring that the service meets reliability and performance expectations under varying loads and evolving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 the groundwork for deployment patterns by defining what it means to "serve" a model.</a:t>
            </a:r>
          </a:p>
          <a:p/>
          <a:p>
            <a:r>
              <a:t>Explain prediction services: components that serialize inputs, call model inference functions, post-process outputs, and return structured responses.</a:t>
            </a:r>
          </a:p>
          <a:p/>
          <a:p>
            <a:r>
              <a:t>Discuss interfaces: input and output formats (e.g., JSON schemas), error handling conventions, and versioning of APIs.</a:t>
            </a:r>
          </a:p>
          <a:p/>
          <a:p>
            <a:r>
              <a:t>Highlight separation of concerns: model code should not be tightly coupled with HTTP routing or infrastructure-specific details; this separation improves testability and portability.</a:t>
            </a:r>
          </a:p>
          <a:p/>
          <a:p>
            <a:r>
              <a:t>Encourage learners to connect serving requirements to business SLAs: for example, real-time fraud detection may need sub-100ms latency and high availability, while weekly churn predictions may have looser constraints.</a:t>
            </a:r>
          </a:p>
          <a:p/>
          <a:p>
            <a:r>
              <a:t>Set the stage for exploring specific patterns in subsequent subtopics.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dominant pattern for real-time ML serving: stateless microservices.</a:t>
            </a:r>
          </a:p>
          <a:p/>
          <a:p>
            <a:r>
              <a:t>Explain statelessness: each request is independent, which simplifies scaling and failure recovery.</a:t>
            </a:r>
          </a:p>
          <a:p/>
          <a:p>
            <a:r>
              <a:t>Describe containerization: bundling model binaries, libraries, and configuration so the service runs reliably across environments.</a:t>
            </a:r>
          </a:p>
          <a:p/>
          <a:p>
            <a:r>
              <a:t>Talk about API concerns: securing endpoints, validating inputs (types, sizes), and preventing abuse via rate limiting.</a:t>
            </a:r>
          </a:p>
          <a:p/>
          <a:p>
            <a:r>
              <a:t>Emphasize observability: instrument endpoints to track latencies, error rates, and per-model/version statistics. Tie this back to Topic 5 on monitoring.</a:t>
            </a:r>
          </a:p>
          <a:p/>
          <a:p>
            <a:r>
              <a:t>Encourage learners to think about how their organizations currently expose ML capabilities—embedded directly in monoliths, via separate services, or through other mechanisms—and what trade-offs exist.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many valuable ML applications operate in batch mode rather than real-time.</a:t>
            </a:r>
          </a:p>
          <a:p/>
          <a:p>
            <a:r>
              <a:t>Give examples: nightly credit risk assessments, weekly churn scores, monthly demand forecasts.</a:t>
            </a:r>
          </a:p>
          <a:p/>
          <a:p>
            <a:r>
              <a:t>Describe batch jobs: read input records, compute features (often from data warehouses or lakes), apply the model, and write predictions back to storage.</a:t>
            </a:r>
          </a:p>
          <a:p/>
          <a:p>
            <a:r>
              <a:t>Discuss optimization: partitioning data, using distributed processing frameworks, and scheduling jobs during off-peak times to manage costs.</a:t>
            </a:r>
          </a:p>
          <a:p/>
          <a:p>
            <a:r>
              <a:t>Highlight coordination: batch predictions may feed into CRM systems, reporting pipelines, or manual review processes; these handoffs must be aligned and reliable.</a:t>
            </a:r>
          </a:p>
          <a:p/>
          <a:p>
            <a:r>
              <a:t>Contrast batch scoring with online serving: emphasize differences in latency, scale, and operational tooling, while noting that both rely on solid MLOps practices.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streaming inference as a pattern for applications where event timing matters and decisions must adapt quickly.</a:t>
            </a:r>
          </a:p>
          <a:p/>
          <a:p>
            <a:r>
              <a:t>Provide examples: anomaly detection on logs, live user behavior modeling, dynamic pricing.</a:t>
            </a:r>
          </a:p>
          <a:p/>
          <a:p>
            <a:r>
              <a:t>Explain event consumption: services or jobs that read from event streams, compute or update features, and generate predictions.</a:t>
            </a:r>
          </a:p>
          <a:p/>
          <a:p>
            <a:r>
              <a:t>Discuss stateful processing: maintaining sliding windows or aggregations over time, which adds complexity compared to stateless online APIs.</a:t>
            </a:r>
          </a:p>
          <a:p/>
          <a:p>
            <a:r>
              <a:t>Highlight operational challenges: backpressure (when downstream is slower than upstream), retries that may duplicate events, and out-of-order or late-arriving events.</a:t>
            </a:r>
          </a:p>
          <a:p/>
          <a:p>
            <a:r>
              <a:t>Encourage learners to reflect on whether their current or future use cases require this level of sophistication, and how streaming ML interacts with the rest of their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updating models in production is risky; strategies are needed to minimize user impact while gathering evidence.</a:t>
            </a:r>
          </a:p>
          <a:p/>
          <a:p>
            <a:r>
              <a:t>Describe blue-green: keep two identical environments, switch all traffic at once after verification, and retain the ability to flip back if needed.</a:t>
            </a:r>
          </a:p>
          <a:p/>
          <a:p>
            <a:r>
              <a:t>Discuss canary releases: start by sending a small percentage of traffic to the new model, monitor metrics closely, and gradually increase if results are good.</a:t>
            </a:r>
          </a:p>
          <a:p/>
          <a:p>
            <a:r>
              <a:t>Explain A/B testing: systematically compare two or more models by serving them to different user groups and measuring downstream effects (e.g., click-through, revenue).</a:t>
            </a:r>
          </a:p>
          <a:p/>
          <a:p>
            <a:r>
              <a:t>Introduce shadow deployments: send the same requests to both the current and candidate models, but only use current model outputs in production; record candidate responses for offline analysis.</a:t>
            </a:r>
          </a:p>
          <a:p/>
          <a:p>
            <a:r>
              <a:t>Stress the importance of clear success criteria and monitoring for all strategies, and connect this to Topic 5 on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how to keep model-serving systems responsive under varying load.</a:t>
            </a:r>
          </a:p>
          <a:p/>
          <a:p>
            <a:r>
              <a:t>Explain horizontal scaling: spinning up more service instances rather than vertically increasing resources on a single node.</a:t>
            </a:r>
          </a:p>
          <a:p/>
          <a:p>
            <a:r>
              <a:t>Discuss load balancing: routing requests evenly, detecting unhealthy instances, and failing over automatically.</a:t>
            </a:r>
          </a:p>
          <a:p/>
          <a:p>
            <a:r>
              <a:t>Describe optimization techniques: request batching for high throughput, model quantization or compression to reduce latency, and caching frequent or repeated predictions where appropriate.</a:t>
            </a:r>
          </a:p>
          <a:p/>
          <a:p>
            <a:r>
              <a:t>Highlight profiling: measuring latency breakdowns (network, preprocessing, model compute, post-processing) and using data to guide optimization efforts.</a:t>
            </a:r>
          </a:p>
          <a:p/>
          <a:p>
            <a:r>
              <a:t>Encourage learners to think about their throughput and latency requirements and how they might change as adoption grows.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some ML applications must run on edge devices—mobile phones, sensors, embedded systems—rather than centralized servers.</a:t>
            </a:r>
          </a:p>
          <a:p/>
          <a:p>
            <a:r>
              <a:t>Discuss constraints: resource limitations and the inability to rely on constant network access.</a:t>
            </a:r>
          </a:p>
          <a:p/>
          <a:p>
            <a:r>
              <a:t>Describe optimization: model compression, pruning, and using specialized runtimes or accelerators.</a:t>
            </a:r>
          </a:p>
          <a:p/>
          <a:p>
            <a:r>
              <a:t>Talk about update mechanisms: securely distributing new models, verifying integrity, and rolling back if issues arise.</a:t>
            </a:r>
          </a:p>
          <a:p/>
          <a:p>
            <a:r>
              <a:t>Highlight privacy advantages: processing data locally can reduce exposure of sensitive information, but still requires secure design.</a:t>
            </a:r>
          </a:p>
          <a:p/>
          <a:p>
            <a:r>
              <a:t>Encourage learners to consider whether edge deployment is relevant to their domain, and how MLOps practices adapt when central orchestration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Topic 4 by emphasizing that reliable serving is about anticipating and handling failures gracefully.</a:t>
            </a:r>
          </a:p>
          <a:p/>
          <a:p>
            <a:r>
              <a:t>Explain graceful degradation: fallbacks like default responses, cached predictions, or rule-based systems when models or features are unavailable.</a:t>
            </a:r>
          </a:p>
          <a:p/>
          <a:p>
            <a:r>
              <a:t>Discuss health checks: simple probes to assess service readiness and liveness, enabling orchestrators to restart or reroute as needed.</a:t>
            </a:r>
          </a:p>
          <a:p/>
          <a:p>
            <a:r>
              <a:t>Describe circuit breakers: mechanisms that temporarily stop sending traffic to failing dependencies to prevent cascading failures.</a:t>
            </a:r>
          </a:p>
          <a:p/>
          <a:p>
            <a:r>
              <a:t>Highlight observability: ensure that metrics and logs from serving systems are integrated into centralized dashboards, with clear alerts for anomalies.</a:t>
            </a:r>
          </a:p>
          <a:p/>
          <a:p>
            <a:r>
              <a:t>Introduce runbooks: documented procedures for common incidents, such as elevated error rates or latency spikes. Stress that these documents make on-call work less stressful and more systematic.</a:t>
            </a:r>
          </a:p>
          <a:p/>
          <a:p>
            <a:r>
              <a:t>Transition to Topic 5, which deepens monitoring and maintenance practices across the entire ML lifecycle.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5 as the operational heart of MLOps: ensuring that models continue to behave as intended after deployment.</a:t>
            </a:r>
          </a:p>
          <a:p/>
          <a:p>
            <a:r>
              <a:t>Explain that over 8 hours learners will:</a:t>
            </a:r>
          </a:p>
          <a:p>
            <a:r>
              <a:t>- Learn how to design monitoring that covers infrastructure, data, and models.</a:t>
            </a:r>
          </a:p>
          <a:p>
            <a:r>
              <a:t>- Detect data quality issues and distribution shifts in production.</a:t>
            </a:r>
          </a:p>
          <a:p>
            <a:r>
              <a:t>- Relate technical metrics to business outcomes.</a:t>
            </a:r>
          </a:p>
          <a:p>
            <a:r>
              <a:t>- Set up effective alerting and build sustainable on-call practices.</a:t>
            </a:r>
          </a:p>
          <a:p>
            <a:r>
              <a:t>- Automate retraining where appropriate and safe.</a:t>
            </a:r>
          </a:p>
          <a:p>
            <a:r>
              <a:t>- Conduct structured post-mortems to improve systems.</a:t>
            </a:r>
          </a:p>
          <a:p>
            <a:r>
              <a:t>- Monitor ethical aspects like fairness and unintended feedback loops.</a:t>
            </a:r>
          </a:p>
          <a:p>
            <a:r>
              <a:t>- Preserve organizational knowledge through documentation.</a:t>
            </a:r>
          </a:p>
          <a:p/>
          <a:p>
            <a:r>
              <a:t>Emphasize that monitoring is not just about finding problems; it is about creating feedback mechanisms that drive continuous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framing monitoring as multi-layered and purposeful.</a:t>
            </a:r>
          </a:p>
          <a:p/>
          <a:p>
            <a:r>
              <a:t>Describe the three layers:</a:t>
            </a:r>
          </a:p>
          <a:p>
            <a:r>
              <a:t>- Infrastructure: CPU, memory, disk, network, and underlying services.</a:t>
            </a:r>
          </a:p>
          <a:p>
            <a:r>
              <a:t>- Data pipelines: freshness, volume, error rates, and validation results.</a:t>
            </a:r>
          </a:p>
          <a:p>
            <a:r>
              <a:t>- Models: prediction distributions, latency, and quality proxies.</a:t>
            </a:r>
          </a:p>
          <a:p/>
          <a:p>
            <a:r>
              <a:t>Explain service-level objectives (SLOs): target levels of reliability (e.g., availability or latency) and how error budgets operationalize acceptable failure rates.</a:t>
            </a:r>
          </a:p>
          <a:p/>
          <a:p>
            <a:r>
              <a:t>Discuss instrumentation: where to emit metrics, how to structure logs, and when to capture distributed traces.</a:t>
            </a:r>
          </a:p>
          <a:p/>
          <a:p>
            <a:r>
              <a:t>Stress focus: monitoring should generate signals that drive decisions, not simply accumulate data. Avoid overwhelming teams with noisy or unactionable alerts.</a:t>
            </a:r>
          </a:p>
          <a:p/>
          <a:p>
            <a:r>
              <a:t>Link back to earlier topics on serving and pipelines, showing that monitoring completes the operational picture.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data changes are often the earliest indicator of model trouble.</a:t>
            </a:r>
          </a:p>
          <a:p/>
          <a:p>
            <a:r>
              <a:t>Describe baseline distributions: histograms or summary statistics recorded from training data; use these as references when monitoring production inputs.</a:t>
            </a:r>
          </a:p>
          <a:p/>
          <a:p>
            <a:r>
              <a:t>Discuss quality metrics: proportions of nulls, unexpected categories, or impossible values (e.g., negative ages), and how they can spike due to upstream changes.</a:t>
            </a:r>
          </a:p>
          <a:p/>
          <a:p>
            <a:r>
              <a:t>Introduce drift detection: high-level description of statistical comparisons between historical and current data. Emphasize that no single test is perfect; there will be trade-offs between sensitivity and false positives.</a:t>
            </a:r>
          </a:p>
          <a:p/>
          <a:p>
            <a:r>
              <a:t>Stress process integration: when drift is detected, who gets notified, what steps they take (investigate data sources, evaluate model performance, consider retraining), and how decisions are recorded.</a:t>
            </a:r>
          </a:p>
          <a:p/>
          <a:p>
            <a:r>
              <a:t>Encourage learners to think of drift monitoring as part of their standard observability stack, rather than a specialized or ad hoc activity.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monitoring models means not only tracking inputs but also assessing how good predictions are over time.</a:t>
            </a:r>
          </a:p>
          <a:p/>
          <a:p>
            <a:r>
              <a:t>Discuss label collection: mechanisms to gather actual outcomes (e.g., whether a user churned, whether a transaction was fraudulent), which may arrive with delays.</a:t>
            </a:r>
          </a:p>
          <a:p/>
          <a:p>
            <a:r>
              <a:t>Describe proxy metrics: click-through rates, manual review overrides, or user corrections when direct labels are slow or absent.</a:t>
            </a:r>
          </a:p>
          <a:p/>
          <a:p>
            <a:r>
              <a:t>Emphasize segmentation: aggregate metrics can hide poor performance in specific subgroups. Segment by demographics, device type, or other relevant dimensions.</a:t>
            </a:r>
          </a:p>
          <a:p/>
          <a:p>
            <a:r>
              <a:t>Connect to business KPIs: satisfaction, revenue, conversion; highlight that improved ML metrics do not always translate to better business outcomes.</a:t>
            </a:r>
          </a:p>
          <a:p/>
          <a:p>
            <a:r>
              <a:t>Encourage learners to work with product and analytics teams to define monitoring that reflects real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turning monitoring signals into effective operational action.</a:t>
            </a:r>
          </a:p>
          <a:p/>
          <a:p>
            <a:r>
              <a:t>Explain alert design: picking thresholds for metrics like error rate, latency, or drift measures, and using combinations of conditions to reduce noise.</a:t>
            </a:r>
          </a:p>
          <a:p/>
          <a:p>
            <a:r>
              <a:t>Discuss alert fatigue: too many or low-signal alerts erode trust and responsiveness. Stress the importance of periodically reviewing and tuning alert rules.</a:t>
            </a:r>
          </a:p>
          <a:p/>
          <a:p>
            <a:r>
              <a:t>Outline incident response phases: identifying an issue, assessing scope and severity, taking stabilizing actions, and then working towards root cause and long-term fixes.</a:t>
            </a:r>
          </a:p>
          <a:p/>
          <a:p>
            <a:r>
              <a:t>Talk about on-call rotations: equitable coverage, escalation policies, and ensuring on-call engineers have adequate tools and authority.</a:t>
            </a:r>
          </a:p>
          <a:p/>
          <a:p>
            <a:r>
              <a:t>Encourage teams to practice incident response through simulations or game days, especially for ML-specific failures like data drift or model misbehavior.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 dynamic environments, models often need regular updates, but automation must be handled carefully.</a:t>
            </a:r>
          </a:p>
          <a:p/>
          <a:p>
            <a:r>
              <a:t>Discuss retraining triggers: fixed schedules, thresholds on drift metrics, or drops in performance.</a:t>
            </a:r>
          </a:p>
          <a:p/>
          <a:p>
            <a:r>
              <a:t>Describe automated pipelines: orchestrated workflows that gather fresh data, retrain models, run evaluations, and prepare candidates for deployment.</a:t>
            </a:r>
          </a:p>
          <a:p/>
          <a:p>
            <a:r>
              <a:t>Stress safeguards: evaluation gates, approval workflows, and rollback plans that ensure automated retraining does not silently degrade the system.</a:t>
            </a:r>
          </a:p>
          <a:p/>
          <a:p>
            <a:r>
              <a:t>Highlight the importance of monitoring the automation itself: track how often retraining occurs, success rates, and how performance evolves.</a:t>
            </a:r>
          </a:p>
          <a:p/>
          <a:p>
            <a:r>
              <a:t>Encourage learners to see automation as an evolution from manual processes, built on the foundations covered earlier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incidents are inevitable, but they can be powerful learning opportunities.</a:t>
            </a:r>
          </a:p>
          <a:p/>
          <a:p>
            <a:r>
              <a:t>Describe blameless post-mortems: focus on systems and processes rather than individual mistakes, creating a culture where issues are surfaced early.</a:t>
            </a:r>
          </a:p>
          <a:p/>
          <a:p>
            <a:r>
              <a:t>Introduce root cause analysis across multiple dimensions: data issues (e.g., corrupted upstream feed), model issues (e.g., overfitting to outdated data), infrastructure issues (e.g., resource constraints), and organizational issues (e.g., unclear ownership).</a:t>
            </a:r>
          </a:p>
          <a:p/>
          <a:p>
            <a:r>
              <a:t>Emphasize documentation: write clear reports, link to monitoring data and logs, and capture decisions made during the incident.</a:t>
            </a:r>
          </a:p>
          <a:p/>
          <a:p>
            <a:r>
              <a:t>Highlight organizational learning: share summaries with wider teams, incorporate insights into guidelines, runbooks, and training.</a:t>
            </a:r>
          </a:p>
          <a:p/>
          <a:p>
            <a:r>
              <a:t>Connect this practice to continuous improvement in MLOps, showing how every failure can strengthen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responsible MLOps must go beyond technical metrics to consider fairness and ethics.</a:t>
            </a:r>
          </a:p>
          <a:p/>
          <a:p>
            <a:r>
              <a:t>Discuss segmentation: same as in performance monitoring, but with a focus on protected attributes or relevant contextual grouping.</a:t>
            </a:r>
          </a:p>
          <a:p/>
          <a:p>
            <a:r>
              <a:t>Explain disparities: higher error rates, false positives, or false negatives for particular groups, and how these can lead to inequitable outcomes.</a:t>
            </a:r>
          </a:p>
          <a:p/>
          <a:p>
            <a:r>
              <a:t>Introduce feedback loops: how model-driven decisions can reinforce patterns (e.g., over-policing in certain areas, under-serving certain users), and why long-term monitoring matters.</a:t>
            </a:r>
          </a:p>
          <a:p/>
          <a:p>
            <a:r>
              <a:t>Encourage integrating fairness tests and dashboards into standard observability tools, rather than treating them as one-off studies.</a:t>
            </a:r>
          </a:p>
          <a:p/>
          <a:p>
            <a:r>
              <a:t>Prepare learners for Topic 6, which will delve deeper into governance and responsible AI frameworks.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documentation is a key part of long-term maintainability and risk management.</a:t>
            </a:r>
          </a:p>
          <a:p/>
          <a:p>
            <a:r>
              <a:t>Describe living documentation: easily updated, version-controlled documents rather than static, forgotten reports.</a:t>
            </a:r>
          </a:p>
          <a:p/>
          <a:p>
            <a:r>
              <a:t>Stress the value of capturing assumptions and limitations: what data the model expects, where it may fail, and which use cases it is not designed for.</a:t>
            </a:r>
          </a:p>
          <a:p/>
          <a:p>
            <a:r>
              <a:t>Discuss integration: link model cards, system diagrams, and runbooks from the same interfaces used for monitoring and model management, so information is accessible during incidents.</a:t>
            </a:r>
          </a:p>
          <a:p/>
          <a:p>
            <a:r>
              <a:t>Highlight team dynamics: people change roles or leave; without strong documentation, crucial knowledge can be lost.</a:t>
            </a:r>
          </a:p>
          <a:p/>
          <a:p>
            <a:r>
              <a:t>Conclude Topic 5 by reinforcing that monitoring, incident response, and documentation together create a resilient MLOps practice.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6 as the layer that ensures MLOps practices align with organizational, legal, and societal expectations over 4 hours.</a:t>
            </a:r>
          </a:p>
          <a:p/>
          <a:p>
            <a:r>
              <a:t>Explain that learners will:</a:t>
            </a:r>
          </a:p>
          <a:p>
            <a:r>
              <a:t>- Understand governance structures that guide ML development and deployment.</a:t>
            </a:r>
          </a:p>
          <a:p>
            <a:r>
              <a:t>- Learn security best practices applied to data, models, and pipelines.</a:t>
            </a:r>
          </a:p>
          <a:p>
            <a:r>
              <a:t>- Explore audit and compliance needs in regulated industries.</a:t>
            </a:r>
          </a:p>
          <a:p>
            <a:r>
              <a:t>- Discuss responsible AI practices around transparency and ethics.</a:t>
            </a:r>
          </a:p>
          <a:p>
            <a:r>
              <a:t>- Consider risk management and control processes for changes to ML systems.</a:t>
            </a:r>
          </a:p>
          <a:p/>
          <a:p>
            <a:r>
              <a:t>Emphasize that these practices protect users, organizations, and the broader ecosystem, and are increasingly required by regulators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governance as the set of structures and processes that guide how ML is used within an organization.</a:t>
            </a:r>
          </a:p>
          <a:p/>
          <a:p>
            <a:r>
              <a:t>Discuss policies: minimum evaluation criteria, required tests, documentation expectations, and sign-off steps before deployment.</a:t>
            </a:r>
          </a:p>
          <a:p/>
          <a:p>
            <a:r>
              <a:t>Describe oversight roles: technical review boards, ethics committees, or model risk management teams depending on the domain.</a:t>
            </a:r>
          </a:p>
          <a:p/>
          <a:p>
            <a:r>
              <a:t>Highlight standardization: templates for model documentation, risk assessments, and deployment checklists that increase consistency across initiatives.</a:t>
            </a:r>
          </a:p>
          <a:p/>
          <a:p>
            <a:r>
              <a:t>Encourage linking governance to explicit values—e.g., fairness, transparency—and to external regulations relevant to the organization.</a:t>
            </a:r>
          </a:p>
          <a:p/>
          <a:p>
            <a:r>
              <a:t>Stress that good governance supports, rather than obstructs, responsible innovation by providing clarity.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ML systems introduce unique security concerns in addition to standard application security.</a:t>
            </a:r>
          </a:p>
          <a:p/>
          <a:p>
            <a:r>
              <a:t>Discuss data protection: encryption, secure storage, and key management practices.</a:t>
            </a:r>
          </a:p>
          <a:p/>
          <a:p>
            <a:r>
              <a:t>Describe securing model artifacts: access controls on model registries, integrity checks, and provenance tracking.</a:t>
            </a:r>
          </a:p>
          <a:p/>
          <a:p>
            <a:r>
              <a:t>Highlight environment security: access policies for training clusters and serving infrastructure, and monitoring for unauthorized access.</a:t>
            </a:r>
          </a:p>
          <a:p/>
          <a:p>
            <a:r>
              <a:t>Introduce ML-specific threats at a conceptual level: adversaries may manipulate training data (poisoning) or query models to infer or extract them.</a:t>
            </a:r>
          </a:p>
          <a:p/>
          <a:p>
            <a:r>
              <a:t>Encourage learners to coordinate with security teams to integrate ML systems into broader security architectures and incident response plans.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many sectors require demonstrable control over automated decision systems.</a:t>
            </a:r>
          </a:p>
          <a:p/>
          <a:p>
            <a:r>
              <a:t>Discuss traceability: connect each prediction, where required, to the model and data used to generate it, using identifiers and logs.</a:t>
            </a:r>
          </a:p>
          <a:p/>
          <a:p>
            <a:r>
              <a:t>Describe logging: record when predictions are overridden by humans, when models are switched, and when critical parameters change.</a:t>
            </a:r>
          </a:p>
          <a:p/>
          <a:p>
            <a:r>
              <a:t>Emphasize reproducibility: the ability to re-run past pipelines and obtain consistent or explainable results is essential for audits.</a:t>
            </a:r>
          </a:p>
          <a:p/>
          <a:p>
            <a:r>
              <a:t>Mention that regulation around AI is evolving; organizations must track and interpret new requirements, adapting MLOps practices accordingly.</a:t>
            </a:r>
          </a:p>
          <a:p/>
          <a:p>
            <a:r>
              <a:t>Encourage learners to consider how their current systems would perform in an audit scenario and what gaps exist.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responsible AI is both a technical and socio-organizational challenge.</a:t>
            </a:r>
          </a:p>
          <a:p/>
          <a:p>
            <a:r>
              <a:t>Explain transparency: make documentation, high-level design, and model cards accessible to internal and, when appropriate, external stakeholders.</a:t>
            </a:r>
          </a:p>
          <a:p/>
          <a:p>
            <a:r>
              <a:t>Discuss explainability: different levels of detail are needed for engineers, regulators, and end users; explanations should be truthful and understandable.</a:t>
            </a:r>
          </a:p>
          <a:p/>
          <a:p>
            <a:r>
              <a:t>Highlight ethical analysis: consider who might be disproportionately affected by errors, how data was collected, and what recourse users have.</a:t>
            </a:r>
          </a:p>
          <a:p/>
          <a:p>
            <a:r>
              <a:t>Encourage stakeholder engagement: include domain experts, legal teams, and user representatives, especially when models influence critical decisions (e.g., lending, healthcare, employment).</a:t>
            </a:r>
          </a:p>
          <a:p/>
          <a:p>
            <a:r>
              <a:t>Link this back to Topic 5 where fairness monitoring is operationalized within MLOps.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not all ML systems carry the same level of risk; governance and process should scale accordingly.</a:t>
            </a:r>
          </a:p>
          <a:p/>
          <a:p>
            <a:r>
              <a:t>Discuss risk assessment: factors like user reach, financial impact, safety implications, and potential for bias or discrimination.</a:t>
            </a:r>
          </a:p>
          <a:p/>
          <a:p>
            <a:r>
              <a:t>Describe graduated controls: low-risk systems may use lighter-weight reviews; high-risk systems may require strict checks and formal approvals.</a:t>
            </a:r>
          </a:p>
          <a:p/>
          <a:p>
            <a:r>
              <a:t>Explain change management: standardized procedures for proposing, reviewing, implementing, and documenting changes to models or data pipelines.</a:t>
            </a:r>
          </a:p>
          <a:p/>
          <a:p>
            <a:r>
              <a:t>Highlight risk registers: documents or systems that track identified risks, severity, owners, and mitigation status.</a:t>
            </a:r>
          </a:p>
          <a:p/>
          <a:p>
            <a:r>
              <a:t>Conclude Topic 6 by emphasizing that well-managed risk allows organizations to innovate responsibly and sustainably.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Topic 7 as the culminating capstone experience over 4 hours.</a:t>
            </a:r>
          </a:p>
          <a:p/>
          <a:p>
            <a:r>
              <a:t>Explain that learners will synthesize concepts from throughout the course:</a:t>
            </a:r>
          </a:p>
          <a:p>
            <a:r>
              <a:t>- Plan and reason about an end-to-end MLOps workflow for a realistic problem.</a:t>
            </a:r>
          </a:p>
          <a:p>
            <a:r>
              <a:t>- Design an architecture that covers data, training, deployment, and monitoring.</a:t>
            </a:r>
          </a:p>
          <a:p>
            <a:r>
              <a:t>- Conceptually implement or outline key components and workflows.</a:t>
            </a:r>
          </a:p>
          <a:p>
            <a:r>
              <a:t>- Present and critique solutions, focusing on trade-offs and alignment with requirements.</a:t>
            </a:r>
          </a:p>
          <a:p/>
          <a:p>
            <a:r>
              <a:t>Clarify expectations: depending on the learning environment, the capstone may involve group work, written designs, diagrams, or prototype code, but the emphasis is on integrating MLOps thinking rather than specific tools.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set up the capstone clearly so learners understand the task.</a:t>
            </a:r>
          </a:p>
          <a:p/>
          <a:p>
            <a:r>
              <a:t>Explain that each team or individual will work on a concrete ML scenario, such as a recommendation system, fraud detection, or demand forecasting.</a:t>
            </a:r>
          </a:p>
          <a:p/>
          <a:p>
            <a:r>
              <a:t>Emphasize stakeholder analysis: who uses the system, what decisions it supports, what constraints exist (latency, accuracy, fairness, regulatory), and how success will be measured.</a:t>
            </a:r>
          </a:p>
          <a:p/>
          <a:p>
            <a:r>
              <a:t>Discuss scoping: focus on designing the MLOps architecture and workflows rather than implementing every detail. Encourage choosing depth in key areas (e.g., monitoring or deployment) over shallow coverage of everything.</a:t>
            </a:r>
          </a:p>
          <a:p/>
          <a:p>
            <a:r>
              <a:t>If participants are working in groups, help them define roles aligning with typical MLOps roles (data, modeling, infrastructure, governance) to mirror real-world collaboration.</a:t>
            </a:r>
          </a:p>
          <a:p/>
          <a:p>
            <a:r>
              <a:t>Set expectations for deliverables: architecture diagrams, lifecycle descriptions, risk assessments, and reflections.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learners to structure their designs methodically.</a:t>
            </a:r>
          </a:p>
          <a:p/>
          <a:p>
            <a:r>
              <a:t>Encourage starting with data: identify where data comes from, how it will be validated and transformed, and where features will be stored or computed.</a:t>
            </a:r>
          </a:p>
          <a:p/>
          <a:p>
            <a:r>
              <a:t>Move to training workflows: describe how experiments will be tracked, how models will be versioned, and how promotion decisions will be made.</a:t>
            </a:r>
          </a:p>
          <a:p/>
          <a:p>
            <a:r>
              <a:t>Discuss deployment design: select patterns (online, batch, streaming, or hybrid) that match business needs, and explain rollout strategies.</a:t>
            </a:r>
          </a:p>
          <a:p/>
          <a:p>
            <a:r>
              <a:t>Integrate monitoring: specify metrics and dashboards for infrastructure, data, and models; outline alerts and response processes; and define retraining triggers.</a:t>
            </a:r>
          </a:p>
          <a:p/>
          <a:p>
            <a:r>
              <a:t>Remind learners to explicitly address governance and security considerations in their architecture even if not deeply implemented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learners to go beyond diagrams and think through concrete workflows.</a:t>
            </a:r>
          </a:p>
          <a:p/>
          <a:p>
            <a:r>
              <a:t>Ask them to describe, at a high level, how CI/CD will operate: triggers, stages, and checks for changes to data schemas, feature code, or model logic.</a:t>
            </a:r>
          </a:p>
          <a:p/>
          <a:p>
            <a:r>
              <a:t>Have them detail how experiments are recorded and how trained models move into a registry with appropriate metadata and review steps.</a:t>
            </a:r>
          </a:p>
          <a:p/>
          <a:p>
            <a:r>
              <a:t>Prompt them to specify validation gates: data validation, test suites, and acceptance thresholds that must pass before promotion.</a:t>
            </a:r>
          </a:p>
          <a:p/>
          <a:p>
            <a:r>
              <a:t>Discuss environment promotion: how models move from development to staging to production, and which human or automated approvals are required.</a:t>
            </a:r>
          </a:p>
          <a:p/>
          <a:p>
            <a:r>
              <a:t>Remind learners that even when not implementing full automation in the capstone, a clear description of intended processes is valuable and realistic.</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guide final presentations and reflective discussion.</a:t>
            </a:r>
          </a:p>
          <a:p/>
          <a:p>
            <a:r>
              <a:t>Encourage teams to explain not just what they designed but why: trade-offs between complexity and robustness, build vs reuse decisions, and chosen deployment and monitoring patterns.</a:t>
            </a:r>
          </a:p>
          <a:p/>
          <a:p>
            <a:r>
              <a:t>Ask them to show explicitly where and how governance, fairness, and security concerns are addressed.</a:t>
            </a:r>
          </a:p>
          <a:p/>
          <a:p>
            <a:r>
              <a:t>Invite honest reflection: what is not yet covered, what assumptions may not hold, and which risks remain.</a:t>
            </a:r>
          </a:p>
          <a:p/>
          <a:p>
            <a:r>
              <a:t>Facilitate a discussion on lessons learned: how their view of ML in production has changed, which MLOps practices they value most, and what they plan to apply in their own contexts.</a:t>
            </a:r>
          </a:p>
          <a:p/>
          <a:p>
            <a:r>
              <a:t>Conclude the capstone by connecting back to the course objectives and reinforcing that MLOps is an evolving discipline; continued learning and adaptation are expected.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session with this closing slide. Use it to thank participants for their engagement and effort throughout the 40-hour ML OPS course.</a:t>
            </a:r>
          </a:p>
          <a:p/>
          <a:p>
            <a:r>
              <a:t>Encourage them to:</a:t>
            </a:r>
          </a:p>
          <a:p>
            <a:r>
              <a:t>- Apply the concepts incrementally in their own projects.</a:t>
            </a:r>
          </a:p>
          <a:p>
            <a:r>
              <a:t>- Share successes and challenges with peers and communities.</a:t>
            </a:r>
          </a:p>
          <a:p>
            <a:r>
              <a:t>- Continue exploring tooling, patterns, and emerging practices in MLOps.</a:t>
            </a:r>
          </a:p>
          <a:p/>
          <a:p>
            <a:r>
              <a:t>Optionally, invite questions, feedback on the course structure, and suggestions for further topics. Reinforce that MLOps is a collaborative, evolving field and that their contributions will shape how it matures in their organizations and beyond.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600" b="1">
                <a:solidFill>
                  <a:srgbClr val="0B3D91"/>
                </a:solidFill>
              </a:defRPr>
            </a:pPr>
            <a:r>
              <a:t>ML OPS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What truly changes when ML leaves the notebook and enters the real world?</a:t>
            </a:r>
          </a:p>
        </p:txBody>
      </p:sp>
      <p:sp>
        <p:nvSpPr>
          <p:cNvPr id="3" name="Content Placeholder 2"/>
          <p:cNvSpPr>
            <a:spLocks noGrp="1"/>
          </p:cNvSpPr>
          <p:nvPr>
            <p:ph idx="1"/>
          </p:nvPr>
        </p:nvSpPr>
        <p:spPr/>
        <p:txBody>
          <a:bodyPr/>
          <a:lstStyle/>
          <a:p/>
          <a:p>
            <a:pPr lvl="1" algn="l">
              <a:defRPr sz="2000" b="0">
                <a:solidFill>
                  <a:srgbClr val="222222"/>
                </a:solidFill>
              </a:defRPr>
            </a:pPr>
            <a:r>
              <a:t>Why are production ML systems harder to manage than training models offline?</a:t>
            </a:r>
          </a:p>
          <a:p>
            <a:pPr lvl="1" algn="l">
              <a:defRPr sz="2000" b="0">
                <a:solidFill>
                  <a:srgbClr val="222222"/>
                </a:solidFill>
              </a:defRPr>
            </a:pPr>
            <a:r>
              <a:t>What can go wrong after a model is deployed, even if it performed well in experiments?</a:t>
            </a:r>
          </a:p>
          <a:p>
            <a:pPr lvl="1" algn="l">
              <a:defRPr sz="2000" b="0">
                <a:solidFill>
                  <a:srgbClr val="222222"/>
                </a:solidFill>
              </a:defRPr>
            </a:pPr>
            <a:r>
              <a:t>How do software engineering and data engineering practices reshape the ML workflow?</a:t>
            </a:r>
          </a:p>
          <a:p>
            <a:pPr lvl="1" algn="l">
              <a:defRPr sz="2000" b="0">
                <a:solidFill>
                  <a:srgbClr val="222222"/>
                </a:solidFill>
              </a:defRPr>
            </a:pPr>
            <a:r>
              <a:t>What does success look like for ML in production: accuracy, reliability, or business impact?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From Experimental Models to Reliable ML Systems</a:t>
            </a:r>
          </a:p>
        </p:txBody>
      </p:sp>
      <p:sp>
        <p:nvSpPr>
          <p:cNvPr id="3" name="Content Placeholder 2"/>
          <p:cNvSpPr>
            <a:spLocks noGrp="1"/>
          </p:cNvSpPr>
          <p:nvPr>
            <p:ph idx="1"/>
          </p:nvPr>
        </p:nvSpPr>
        <p:spPr/>
        <p:txBody>
          <a:bodyPr/>
          <a:lstStyle/>
          <a:p>
            <a:pPr algn="l">
              <a:defRPr sz="2000" b="0">
                <a:solidFill>
                  <a:srgbClr val="222222"/>
                </a:solidFill>
              </a:defRPr>
            </a:pPr>
            <a:r>
              <a:t>ML OPS (Machine Learning Operations) is the discipline that makes machine learning models reliable, reproducible, and maintainable in real-world environments.</a:t>
            </a:r>
          </a:p>
          <a:p>
            <a:pPr lvl="1" algn="l">
              <a:defRPr sz="2000" b="0">
                <a:solidFill>
                  <a:srgbClr val="222222"/>
                </a:solidFill>
              </a:defRPr>
            </a:pPr>
            <a:r>
              <a:t>Bridges data science, software engineering, and DevOps into a unified workflow</a:t>
            </a:r>
          </a:p>
          <a:p>
            <a:pPr lvl="1" algn="l">
              <a:defRPr sz="2000" b="0">
                <a:solidFill>
                  <a:srgbClr val="222222"/>
                </a:solidFill>
              </a:defRPr>
            </a:pPr>
            <a:r>
              <a:t>Covers the entire ML lifecycle: data, training, deployment, monitoring, and iteration</a:t>
            </a:r>
          </a:p>
          <a:p>
            <a:pPr lvl="1" algn="l">
              <a:defRPr sz="2000" b="0">
                <a:solidFill>
                  <a:srgbClr val="222222"/>
                </a:solidFill>
              </a:defRPr>
            </a:pPr>
            <a:r>
              <a:t>Emphasizes automation, observability, and governance over ad‑hoc manual steps</a:t>
            </a:r>
          </a:p>
          <a:p>
            <a:pPr lvl="1" algn="l">
              <a:defRPr sz="2000" b="0">
                <a:solidFill>
                  <a:srgbClr val="222222"/>
                </a:solidFill>
              </a:defRPr>
            </a:pPr>
            <a:r>
              <a:t>Aligns model behavior with business objectives, user experience, and regulatory needs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ML OPS Course Overview (40 Hours)</a:t>
            </a:r>
          </a:p>
        </p:txBody>
      </p:sp>
      <p:sp>
        <p:nvSpPr>
          <p:cNvPr id="3" name="Content Placeholder 2"/>
          <p:cNvSpPr>
            <a:spLocks noGrp="1"/>
          </p:cNvSpPr>
          <p:nvPr>
            <p:ph idx="1"/>
          </p:nvPr>
        </p:nvSpPr>
        <p:spPr/>
        <p:txBody>
          <a:bodyPr/>
          <a:lstStyle/>
          <a:p/>
          <a:p>
            <a:pPr lvl="1" algn="l">
              <a:defRPr sz="2000" b="0">
                <a:solidFill>
                  <a:srgbClr val="222222"/>
                </a:solidFill>
              </a:defRPr>
            </a:pPr>
            <a:r>
              <a:t>Topic 1: Introduction to ML OPS (4 hours)</a:t>
            </a:r>
          </a:p>
          <a:p>
            <a:pPr lvl="1" algn="l">
              <a:defRPr sz="2000" b="0">
                <a:solidFill>
                  <a:srgbClr val="222222"/>
                </a:solidFill>
              </a:defRPr>
            </a:pPr>
            <a:r>
              <a:t>Topic 2: Data and Feature Engineering in Production (6 hours)</a:t>
            </a:r>
          </a:p>
          <a:p>
            <a:pPr lvl="1" algn="l">
              <a:defRPr sz="2000" b="0">
                <a:solidFill>
                  <a:srgbClr val="222222"/>
                </a:solidFill>
              </a:defRPr>
            </a:pPr>
            <a:r>
              <a:t>Topic 3: Model Training, Experimentation, and Versioning (6 hours)</a:t>
            </a:r>
          </a:p>
          <a:p>
            <a:pPr lvl="1" algn="l">
              <a:defRPr sz="2000" b="0">
                <a:solidFill>
                  <a:srgbClr val="222222"/>
                </a:solidFill>
              </a:defRPr>
            </a:pPr>
            <a:r>
              <a:t>Topic 4: Deployment Patterns and Serving Infrastructure (8 hours)</a:t>
            </a:r>
          </a:p>
          <a:p>
            <a:pPr lvl="1" algn="l">
              <a:defRPr sz="2000" b="0">
                <a:solidFill>
                  <a:srgbClr val="222222"/>
                </a:solidFill>
              </a:defRPr>
            </a:pPr>
            <a:r>
              <a:t>Topic 5: Monitoring, Observability, and Model Maintenance (8 hours)</a:t>
            </a:r>
          </a:p>
          <a:p>
            <a:pPr lvl="1" algn="l">
              <a:defRPr sz="2000" b="0">
                <a:solidFill>
                  <a:srgbClr val="222222"/>
                </a:solidFill>
              </a:defRPr>
            </a:pPr>
            <a:r>
              <a:t>Topic 6: Governance, Security, and Responsible AI in MLOps (4 hours)</a:t>
            </a:r>
          </a:p>
          <a:p>
            <a:pPr lvl="1" algn="l">
              <a:defRPr sz="2000" b="0">
                <a:solidFill>
                  <a:srgbClr val="222222"/>
                </a:solidFill>
              </a:defRPr>
            </a:pPr>
            <a:r>
              <a:t>Topic 7: Capstone: End‑to‑End MLOps Project (4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1: Introduction to ML OPS (4 hours)</a:t>
            </a:r>
          </a:p>
        </p:txBody>
      </p:sp>
      <p:sp>
        <p:nvSpPr>
          <p:cNvPr id="3" name="Content Placeholder 2"/>
          <p:cNvSpPr>
            <a:spLocks noGrp="1"/>
          </p:cNvSpPr>
          <p:nvPr>
            <p:ph idx="1"/>
          </p:nvPr>
        </p:nvSpPr>
        <p:spPr/>
        <p:txBody>
          <a:bodyPr/>
          <a:lstStyle/>
          <a:p/>
          <a:p>
            <a:pPr lvl="1" algn="l">
              <a:defRPr sz="2000" b="0">
                <a:solidFill>
                  <a:srgbClr val="222222"/>
                </a:solidFill>
              </a:defRPr>
            </a:pPr>
            <a:r>
              <a:t>1.1 Evolution from traditional ML to ML OPS</a:t>
            </a:r>
          </a:p>
          <a:p>
            <a:pPr lvl="1" algn="l">
              <a:defRPr sz="2000" b="0">
                <a:solidFill>
                  <a:srgbClr val="222222"/>
                </a:solidFill>
              </a:defRPr>
            </a:pPr>
            <a:r>
              <a:t>1.2 Core concepts and terminology in MLOps</a:t>
            </a:r>
          </a:p>
          <a:p>
            <a:pPr lvl="1" algn="l">
              <a:defRPr sz="2000" b="0">
                <a:solidFill>
                  <a:srgbClr val="222222"/>
                </a:solidFill>
              </a:defRPr>
            </a:pPr>
            <a:r>
              <a:t>1.3 ML system architecture and components</a:t>
            </a:r>
          </a:p>
          <a:p>
            <a:pPr lvl="1" algn="l">
              <a:defRPr sz="2000" b="0">
                <a:solidFill>
                  <a:srgbClr val="222222"/>
                </a:solidFill>
              </a:defRPr>
            </a:pPr>
            <a:r>
              <a:t>1.4 Roles and collaboration in ML OPS teams</a:t>
            </a:r>
          </a:p>
          <a:p>
            <a:pPr lvl="1" algn="l">
              <a:defRPr sz="2000" b="0">
                <a:solidFill>
                  <a:srgbClr val="222222"/>
                </a:solidFill>
              </a:defRPr>
            </a:pPr>
            <a:r>
              <a:t>1.5 ML lifecycle and feedback loops in production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1.1 Why MLOps Emerged from Traditional ML Practice</a:t>
            </a:r>
          </a:p>
        </p:txBody>
      </p:sp>
      <p:sp>
        <p:nvSpPr>
          <p:cNvPr id="3" name="Content Placeholder 2"/>
          <p:cNvSpPr>
            <a:spLocks noGrp="1"/>
          </p:cNvSpPr>
          <p:nvPr>
            <p:ph idx="1"/>
          </p:nvPr>
        </p:nvSpPr>
        <p:spPr/>
        <p:txBody>
          <a:bodyPr/>
          <a:lstStyle/>
          <a:p/>
          <a:p>
            <a:pPr lvl="1" algn="l">
              <a:defRPr sz="2000" b="0">
                <a:solidFill>
                  <a:srgbClr val="222222"/>
                </a:solidFill>
              </a:defRPr>
            </a:pPr>
            <a:r>
              <a:t>Traditional ML focused on offline experimentation and static model handoffs</a:t>
            </a:r>
          </a:p>
          <a:p>
            <a:pPr lvl="1" algn="l">
              <a:defRPr sz="2000" b="0">
                <a:solidFill>
                  <a:srgbClr val="222222"/>
                </a:solidFill>
              </a:defRPr>
            </a:pPr>
            <a:r>
              <a:t>Production environments require reliability, scalability, and rapid iteration</a:t>
            </a:r>
          </a:p>
          <a:p>
            <a:pPr lvl="1" algn="l">
              <a:defRPr sz="2000" b="0">
                <a:solidFill>
                  <a:srgbClr val="222222"/>
                </a:solidFill>
              </a:defRPr>
            </a:pPr>
            <a:r>
              <a:t>Mismatch between notebooks and real systems led to deployment bottlenecks</a:t>
            </a:r>
          </a:p>
          <a:p>
            <a:pPr lvl="1" algn="l">
              <a:defRPr sz="2000" b="0">
                <a:solidFill>
                  <a:srgbClr val="222222"/>
                </a:solidFill>
              </a:defRPr>
            </a:pPr>
            <a:r>
              <a:t>MLOps arose to apply software and DevOps principles to ML workflows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1.1 Limitations of Traditional ML Workflows</a:t>
            </a:r>
          </a:p>
        </p:txBody>
      </p:sp>
      <p:sp>
        <p:nvSpPr>
          <p:cNvPr id="3" name="Content Placeholder 2"/>
          <p:cNvSpPr>
            <a:spLocks noGrp="1"/>
          </p:cNvSpPr>
          <p:nvPr>
            <p:ph idx="1"/>
          </p:nvPr>
        </p:nvSpPr>
        <p:spPr/>
        <p:txBody>
          <a:bodyPr/>
          <a:lstStyle/>
          <a:p/>
          <a:p>
            <a:pPr lvl="1" algn="l">
              <a:defRPr sz="2000" b="0">
                <a:solidFill>
                  <a:srgbClr val="222222"/>
                </a:solidFill>
              </a:defRPr>
            </a:pPr>
            <a:r>
              <a:t>One‑off training pipelines that are hard to reproduce</a:t>
            </a:r>
          </a:p>
          <a:p>
            <a:pPr lvl="1" algn="l">
              <a:defRPr sz="2000" b="0">
                <a:solidFill>
                  <a:srgbClr val="222222"/>
                </a:solidFill>
              </a:defRPr>
            </a:pPr>
            <a:r>
              <a:t>Limited or no automated testing around data and models</a:t>
            </a:r>
          </a:p>
          <a:p>
            <a:pPr lvl="1" algn="l">
              <a:defRPr sz="2000" b="0">
                <a:solidFill>
                  <a:srgbClr val="222222"/>
                </a:solidFill>
              </a:defRPr>
            </a:pPr>
            <a:r>
              <a:t>Manual deployment processes prone to human error</a:t>
            </a:r>
          </a:p>
          <a:p>
            <a:pPr lvl="1" algn="l">
              <a:defRPr sz="2000" b="0">
                <a:solidFill>
                  <a:srgbClr val="222222"/>
                </a:solidFill>
              </a:defRPr>
            </a:pPr>
            <a:r>
              <a:t>No clear ownership for model behavior after release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1.2 Core Concepts and Terminology in MLOps</a:t>
            </a:r>
          </a:p>
        </p:txBody>
      </p:sp>
      <p:sp>
        <p:nvSpPr>
          <p:cNvPr id="3" name="Content Placeholder 2"/>
          <p:cNvSpPr>
            <a:spLocks noGrp="1"/>
          </p:cNvSpPr>
          <p:nvPr>
            <p:ph idx="1"/>
          </p:nvPr>
        </p:nvSpPr>
        <p:spPr/>
        <p:txBody>
          <a:bodyPr/>
          <a:lstStyle/>
          <a:p/>
          <a:p>
            <a:pPr lvl="1" algn="l">
              <a:defRPr sz="2000" b="0">
                <a:solidFill>
                  <a:srgbClr val="222222"/>
                </a:solidFill>
              </a:defRPr>
            </a:pPr>
            <a:r>
              <a:t>ML pipeline: orchestrated sequence from data ingestion to serving</a:t>
            </a:r>
          </a:p>
          <a:p>
            <a:pPr lvl="1" algn="l">
              <a:defRPr sz="2000" b="0">
                <a:solidFill>
                  <a:srgbClr val="222222"/>
                </a:solidFill>
              </a:defRPr>
            </a:pPr>
            <a:r>
              <a:t>Model registry: centralized store for model versions and metadata</a:t>
            </a:r>
          </a:p>
          <a:p>
            <a:pPr lvl="1" algn="l">
              <a:defRPr sz="2000" b="0">
                <a:solidFill>
                  <a:srgbClr val="222222"/>
                </a:solidFill>
              </a:defRPr>
            </a:pPr>
            <a:r>
              <a:t>CI/CD for ML: automated building, testing, and deployment of ML components</a:t>
            </a:r>
          </a:p>
          <a:p>
            <a:pPr lvl="1" algn="l">
              <a:defRPr sz="2000" b="0">
                <a:solidFill>
                  <a:srgbClr val="222222"/>
                </a:solidFill>
              </a:defRPr>
            </a:pPr>
            <a:r>
              <a:t>Data and concept drift: changes in inputs or relationships over time</a:t>
            </a:r>
          </a:p>
          <a:p>
            <a:pPr lvl="1" algn="l">
              <a:defRPr sz="2000" b="0">
                <a:solidFill>
                  <a:srgbClr val="222222"/>
                </a:solidFill>
              </a:defRPr>
            </a:pPr>
            <a:r>
              <a:t>Feature store: managed repository of computed features for reuse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1.3 ML System Architecture: High-Level View</a:t>
            </a:r>
          </a:p>
        </p:txBody>
      </p:sp>
      <p:sp>
        <p:nvSpPr>
          <p:cNvPr id="3" name="Content Placeholder 2"/>
          <p:cNvSpPr>
            <a:spLocks noGrp="1"/>
          </p:cNvSpPr>
          <p:nvPr>
            <p:ph idx="1"/>
          </p:nvPr>
        </p:nvSpPr>
        <p:spPr/>
        <p:txBody>
          <a:bodyPr/>
          <a:lstStyle/>
          <a:p/>
          <a:p>
            <a:pPr lvl="1" algn="l">
              <a:defRPr sz="2000" b="0">
                <a:solidFill>
                  <a:srgbClr val="222222"/>
                </a:solidFill>
              </a:defRPr>
            </a:pPr>
            <a:r>
              <a:t>Data sources: transactional systems, logs, events, and external datasets</a:t>
            </a:r>
          </a:p>
          <a:p>
            <a:pPr lvl="1" algn="l">
              <a:defRPr sz="2000" b="0">
                <a:solidFill>
                  <a:srgbClr val="222222"/>
                </a:solidFill>
              </a:defRPr>
            </a:pPr>
            <a:r>
              <a:t>Data processing and feature pipelines feeding training and inference</a:t>
            </a:r>
          </a:p>
          <a:p>
            <a:pPr lvl="1" algn="l">
              <a:defRPr sz="2000" b="0">
                <a:solidFill>
                  <a:srgbClr val="222222"/>
                </a:solidFill>
              </a:defRPr>
            </a:pPr>
            <a:r>
              <a:t>Training infrastructure: compute, storage, and orchestration services</a:t>
            </a:r>
          </a:p>
          <a:p>
            <a:pPr lvl="1" algn="l">
              <a:defRPr sz="2000" b="0">
                <a:solidFill>
                  <a:srgbClr val="222222"/>
                </a:solidFill>
              </a:defRPr>
            </a:pPr>
            <a:r>
              <a:t>Serving layer: online APIs, batch jobs, and streaming consumers</a:t>
            </a:r>
          </a:p>
          <a:p>
            <a:pPr lvl="1" algn="l">
              <a:defRPr sz="2000" b="0">
                <a:solidFill>
                  <a:srgbClr val="222222"/>
                </a:solidFill>
              </a:defRPr>
            </a:pPr>
            <a:r>
              <a:t>Monitoring and feedback systems closing the 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1.4 Roles and Collaboration in ML OPS Teams</a:t>
            </a:r>
          </a:p>
        </p:txBody>
      </p:sp>
      <p:sp>
        <p:nvSpPr>
          <p:cNvPr id="3" name="Content Placeholder 2"/>
          <p:cNvSpPr>
            <a:spLocks noGrp="1"/>
          </p:cNvSpPr>
          <p:nvPr>
            <p:ph idx="1"/>
          </p:nvPr>
        </p:nvSpPr>
        <p:spPr/>
        <p:txBody>
          <a:bodyPr/>
          <a:lstStyle/>
          <a:p/>
          <a:p>
            <a:pPr lvl="1" algn="l">
              <a:defRPr sz="2000" b="0">
                <a:solidFill>
                  <a:srgbClr val="222222"/>
                </a:solidFill>
              </a:defRPr>
            </a:pPr>
            <a:r>
              <a:t>Data scientists focus on problem framing, modeling, and evaluation</a:t>
            </a:r>
          </a:p>
          <a:p>
            <a:pPr lvl="1" algn="l">
              <a:defRPr sz="2000" b="0">
                <a:solidFill>
                  <a:srgbClr val="222222"/>
                </a:solidFill>
              </a:defRPr>
            </a:pPr>
            <a:r>
              <a:t>ML engineers bridge modeling with scalable, reliable systems</a:t>
            </a:r>
          </a:p>
          <a:p>
            <a:pPr lvl="1" algn="l">
              <a:defRPr sz="2000" b="0">
                <a:solidFill>
                  <a:srgbClr val="222222"/>
                </a:solidFill>
              </a:defRPr>
            </a:pPr>
            <a:r>
              <a:t>Data engineers design and maintain data and feature pipelines</a:t>
            </a:r>
          </a:p>
          <a:p>
            <a:pPr lvl="1" algn="l">
              <a:defRPr sz="2000" b="0">
                <a:solidFill>
                  <a:srgbClr val="222222"/>
                </a:solidFill>
              </a:defRPr>
            </a:pPr>
            <a:r>
              <a:t>DevOps / platform engineers provide infrastructure, tooling, and automation</a:t>
            </a:r>
          </a:p>
          <a:p>
            <a:pPr lvl="1" algn="l">
              <a:defRPr sz="2000" b="0">
                <a:solidFill>
                  <a:srgbClr val="222222"/>
                </a:solidFill>
              </a:defRPr>
            </a:pPr>
            <a:r>
              <a:t>Product and domain experts guide objectives, constraints, and success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1.5 ML Lifecycle and Feedback Loops in Production</a:t>
            </a:r>
          </a:p>
        </p:txBody>
      </p:sp>
      <p:sp>
        <p:nvSpPr>
          <p:cNvPr id="3" name="Content Placeholder 2"/>
          <p:cNvSpPr>
            <a:spLocks noGrp="1"/>
          </p:cNvSpPr>
          <p:nvPr>
            <p:ph idx="1"/>
          </p:nvPr>
        </p:nvSpPr>
        <p:spPr/>
        <p:txBody>
          <a:bodyPr/>
          <a:lstStyle/>
          <a:p/>
          <a:p>
            <a:pPr lvl="1" algn="l">
              <a:defRPr sz="2000" b="0">
                <a:solidFill>
                  <a:srgbClr val="222222"/>
                </a:solidFill>
              </a:defRPr>
            </a:pPr>
            <a:r>
              <a:t>Iterative cycle: data → training → deployment → monitoring → retraining</a:t>
            </a:r>
          </a:p>
          <a:p>
            <a:pPr lvl="1" algn="l">
              <a:defRPr sz="2000" b="0">
                <a:solidFill>
                  <a:srgbClr val="222222"/>
                </a:solidFill>
              </a:defRPr>
            </a:pPr>
            <a:r>
              <a:t>Continuous data collection feeds both feature updates and labeling processes</a:t>
            </a:r>
          </a:p>
          <a:p>
            <a:pPr lvl="1" algn="l">
              <a:defRPr sz="2000" b="0">
                <a:solidFill>
                  <a:srgbClr val="222222"/>
                </a:solidFill>
              </a:defRPr>
            </a:pPr>
            <a:r>
              <a:t>Feedback from users and business metrics influences model objectives</a:t>
            </a:r>
          </a:p>
          <a:p>
            <a:pPr lvl="1" algn="l">
              <a:defRPr sz="2000" b="0">
                <a:solidFill>
                  <a:srgbClr val="222222"/>
                </a:solidFill>
              </a:defRPr>
            </a:pPr>
            <a:r>
              <a:t>Automation ensures the lifecycle can be repeated safely and frequently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2: Data and Feature Engineering in Production (6 hours)</a:t>
            </a:r>
          </a:p>
        </p:txBody>
      </p:sp>
      <p:sp>
        <p:nvSpPr>
          <p:cNvPr id="3" name="Content Placeholder 2"/>
          <p:cNvSpPr>
            <a:spLocks noGrp="1"/>
          </p:cNvSpPr>
          <p:nvPr>
            <p:ph idx="1"/>
          </p:nvPr>
        </p:nvSpPr>
        <p:spPr/>
        <p:txBody>
          <a:bodyPr/>
          <a:lstStyle/>
          <a:p/>
          <a:p>
            <a:pPr lvl="1" algn="l">
              <a:defRPr sz="2000" b="0">
                <a:solidFill>
                  <a:srgbClr val="222222"/>
                </a:solidFill>
              </a:defRPr>
            </a:pPr>
            <a:r>
              <a:t>2.1 Data requirements and schemas for ML systems</a:t>
            </a:r>
          </a:p>
          <a:p>
            <a:pPr lvl="1" algn="l">
              <a:defRPr sz="2000" b="0">
                <a:solidFill>
                  <a:srgbClr val="222222"/>
                </a:solidFill>
              </a:defRPr>
            </a:pPr>
            <a:r>
              <a:t>2.2 Data quality, validation, and lineage</a:t>
            </a:r>
          </a:p>
          <a:p>
            <a:pPr lvl="1" algn="l">
              <a:defRPr sz="2000" b="0">
                <a:solidFill>
                  <a:srgbClr val="222222"/>
                </a:solidFill>
              </a:defRPr>
            </a:pPr>
            <a:r>
              <a:t>2.3 Designing robust feature pipelines</a:t>
            </a:r>
          </a:p>
          <a:p>
            <a:pPr lvl="1" algn="l">
              <a:defRPr sz="2000" b="0">
                <a:solidFill>
                  <a:srgbClr val="222222"/>
                </a:solidFill>
              </a:defRPr>
            </a:pPr>
            <a:r>
              <a:t>2.4 Feature stores: concepts and usage patterns</a:t>
            </a:r>
          </a:p>
          <a:p>
            <a:pPr lvl="1" algn="l">
              <a:defRPr sz="2000" b="0">
                <a:solidFill>
                  <a:srgbClr val="222222"/>
                </a:solidFill>
              </a:defRPr>
            </a:pPr>
            <a:r>
              <a:t>2.5 Handling real‑time, batch, and streaming data</a:t>
            </a:r>
          </a:p>
          <a:p>
            <a:pPr lvl="1" algn="l">
              <a:defRPr sz="2000" b="0">
                <a:solidFill>
                  <a:srgbClr val="222222"/>
                </a:solidFill>
              </a:defRPr>
            </a:pPr>
            <a:r>
              <a:t>2.6 Data privacy, compliance, and access control in pipelines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2.1 Specifying Data Requirements and Schemas</a:t>
            </a:r>
          </a:p>
        </p:txBody>
      </p:sp>
      <p:sp>
        <p:nvSpPr>
          <p:cNvPr id="3" name="Content Placeholder 2"/>
          <p:cNvSpPr>
            <a:spLocks noGrp="1"/>
          </p:cNvSpPr>
          <p:nvPr>
            <p:ph idx="1"/>
          </p:nvPr>
        </p:nvSpPr>
        <p:spPr/>
        <p:txBody>
          <a:bodyPr/>
          <a:lstStyle/>
          <a:p/>
          <a:p>
            <a:pPr lvl="1" algn="l">
              <a:defRPr sz="2000" b="0">
                <a:solidFill>
                  <a:srgbClr val="222222"/>
                </a:solidFill>
              </a:defRPr>
            </a:pPr>
            <a:r>
              <a:t>Define input and output data contracts for each ML component</a:t>
            </a:r>
          </a:p>
          <a:p>
            <a:pPr lvl="1" algn="l">
              <a:defRPr sz="2000" b="0">
                <a:solidFill>
                  <a:srgbClr val="222222"/>
                </a:solidFill>
              </a:defRPr>
            </a:pPr>
            <a:r>
              <a:t>Use schemas to describe feature types, ranges, and allowed values</a:t>
            </a:r>
          </a:p>
          <a:p>
            <a:pPr lvl="1" algn="l">
              <a:defRPr sz="2000" b="0">
                <a:solidFill>
                  <a:srgbClr val="222222"/>
                </a:solidFill>
              </a:defRPr>
            </a:pPr>
            <a:r>
              <a:t>Capture assumptions about missingness, cardinality, and encoding</a:t>
            </a:r>
          </a:p>
          <a:p>
            <a:pPr lvl="1" algn="l">
              <a:defRPr sz="2000" b="0">
                <a:solidFill>
                  <a:srgbClr val="222222"/>
                </a:solidFill>
              </a:defRPr>
            </a:pPr>
            <a:r>
              <a:t>Version data schemas as they evolve alongside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2.2 Ensuring Data Quality, Validation, and Lineage</a:t>
            </a:r>
          </a:p>
        </p:txBody>
      </p:sp>
      <p:sp>
        <p:nvSpPr>
          <p:cNvPr id="3" name="Content Placeholder 2"/>
          <p:cNvSpPr>
            <a:spLocks noGrp="1"/>
          </p:cNvSpPr>
          <p:nvPr>
            <p:ph idx="1"/>
          </p:nvPr>
        </p:nvSpPr>
        <p:spPr/>
        <p:txBody>
          <a:bodyPr/>
          <a:lstStyle/>
          <a:p/>
          <a:p>
            <a:pPr lvl="1" algn="l">
              <a:defRPr sz="2000" b="0">
                <a:solidFill>
                  <a:srgbClr val="222222"/>
                </a:solidFill>
              </a:defRPr>
            </a:pPr>
            <a:r>
              <a:t>Data quality dimensions: completeness, accuracy, consistency, timeliness</a:t>
            </a:r>
          </a:p>
          <a:p>
            <a:pPr lvl="1" algn="l">
              <a:defRPr sz="2000" b="0">
                <a:solidFill>
                  <a:srgbClr val="222222"/>
                </a:solidFill>
              </a:defRPr>
            </a:pPr>
            <a:r>
              <a:t>Automated validation checks at ingestion and before training</a:t>
            </a:r>
          </a:p>
          <a:p>
            <a:pPr lvl="1" algn="l">
              <a:defRPr sz="2000" b="0">
                <a:solidFill>
                  <a:srgbClr val="222222"/>
                </a:solidFill>
              </a:defRPr>
            </a:pPr>
            <a:r>
              <a:t>Detecting anomalies and schema violations early in pipelines</a:t>
            </a:r>
          </a:p>
          <a:p>
            <a:pPr lvl="1" algn="l">
              <a:defRPr sz="2000" b="0">
                <a:solidFill>
                  <a:srgbClr val="222222"/>
                </a:solidFill>
              </a:defRPr>
            </a:pPr>
            <a:r>
              <a:t>Data lineage: tracing how datasets are produced, transformed, and 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2.3 Designing Robust Feature Pipelines</a:t>
            </a:r>
          </a:p>
        </p:txBody>
      </p:sp>
      <p:sp>
        <p:nvSpPr>
          <p:cNvPr id="3" name="Content Placeholder 2"/>
          <p:cNvSpPr>
            <a:spLocks noGrp="1"/>
          </p:cNvSpPr>
          <p:nvPr>
            <p:ph idx="1"/>
          </p:nvPr>
        </p:nvSpPr>
        <p:spPr/>
        <p:txBody>
          <a:bodyPr/>
          <a:lstStyle/>
          <a:p/>
          <a:p>
            <a:pPr lvl="1" algn="l">
              <a:defRPr sz="2000" b="0">
                <a:solidFill>
                  <a:srgbClr val="222222"/>
                </a:solidFill>
              </a:defRPr>
            </a:pPr>
            <a:r>
              <a:t>Separate feature definitions from implementation details</a:t>
            </a:r>
          </a:p>
          <a:p>
            <a:pPr lvl="1" algn="l">
              <a:defRPr sz="2000" b="0">
                <a:solidFill>
                  <a:srgbClr val="222222"/>
                </a:solidFill>
              </a:defRPr>
            </a:pPr>
            <a:r>
              <a:t>Ensure training and serving pipelines compute features consistently</a:t>
            </a:r>
          </a:p>
          <a:p>
            <a:pPr lvl="1" algn="l">
              <a:defRPr sz="2000" b="0">
                <a:solidFill>
                  <a:srgbClr val="222222"/>
                </a:solidFill>
              </a:defRPr>
            </a:pPr>
            <a:r>
              <a:t>Balance pre‑computation and on‑demand computation for latency and cost</a:t>
            </a:r>
          </a:p>
          <a:p>
            <a:pPr lvl="1" algn="l">
              <a:defRPr sz="2000" b="0">
                <a:solidFill>
                  <a:srgbClr val="222222"/>
                </a:solidFill>
              </a:defRPr>
            </a:pPr>
            <a:r>
              <a:t>Design for idempotency, retry, and fault tolerance in feature jobs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2.4 Feature Stores: Concepts and Usage Patterns</a:t>
            </a:r>
          </a:p>
        </p:txBody>
      </p:sp>
      <p:sp>
        <p:nvSpPr>
          <p:cNvPr id="3" name="Content Placeholder 2"/>
          <p:cNvSpPr>
            <a:spLocks noGrp="1"/>
          </p:cNvSpPr>
          <p:nvPr>
            <p:ph idx="1"/>
          </p:nvPr>
        </p:nvSpPr>
        <p:spPr/>
        <p:txBody>
          <a:bodyPr/>
          <a:lstStyle/>
          <a:p/>
          <a:p>
            <a:pPr lvl="1" algn="l">
              <a:defRPr sz="2000" b="0">
                <a:solidFill>
                  <a:srgbClr val="222222"/>
                </a:solidFill>
              </a:defRPr>
            </a:pPr>
            <a:r>
              <a:t>Central repository for reusable, documented features</a:t>
            </a:r>
          </a:p>
          <a:p>
            <a:pPr lvl="1" algn="l">
              <a:defRPr sz="2000" b="0">
                <a:solidFill>
                  <a:srgbClr val="222222"/>
                </a:solidFill>
              </a:defRPr>
            </a:pPr>
            <a:r>
              <a:t>Supports both offline training access and online serving access</a:t>
            </a:r>
          </a:p>
          <a:p>
            <a:pPr lvl="1" algn="l">
              <a:defRPr sz="2000" b="0">
                <a:solidFill>
                  <a:srgbClr val="222222"/>
                </a:solidFill>
              </a:defRPr>
            </a:pPr>
            <a:r>
              <a:t>Maintains point‑in‑time correctness to avoid data leakage</a:t>
            </a:r>
          </a:p>
          <a:p>
            <a:pPr lvl="1" algn="l">
              <a:defRPr sz="2000" b="0">
                <a:solidFill>
                  <a:srgbClr val="222222"/>
                </a:solidFill>
              </a:defRPr>
            </a:pPr>
            <a:r>
              <a:t>Enables discovery, governance, and consistency across teams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2.5 Managing Batch, Real-Time, and Streaming Data for ML</a:t>
            </a:r>
          </a:p>
        </p:txBody>
      </p:sp>
      <p:sp>
        <p:nvSpPr>
          <p:cNvPr id="3" name="Content Placeholder 2"/>
          <p:cNvSpPr>
            <a:spLocks noGrp="1"/>
          </p:cNvSpPr>
          <p:nvPr>
            <p:ph idx="1"/>
          </p:nvPr>
        </p:nvSpPr>
        <p:spPr/>
        <p:txBody>
          <a:bodyPr/>
          <a:lstStyle/>
          <a:p/>
          <a:p>
            <a:pPr lvl="1" algn="l">
              <a:defRPr sz="2000" b="0">
                <a:solidFill>
                  <a:srgbClr val="222222"/>
                </a:solidFill>
              </a:defRPr>
            </a:pPr>
            <a:r>
              <a:t>Batch pipelines for periodic retraining and offline scoring</a:t>
            </a:r>
          </a:p>
          <a:p>
            <a:pPr lvl="1" algn="l">
              <a:defRPr sz="2000" b="0">
                <a:solidFill>
                  <a:srgbClr val="222222"/>
                </a:solidFill>
              </a:defRPr>
            </a:pPr>
            <a:r>
              <a:t>Online ingestion for low‑latency personalization and decisioning</a:t>
            </a:r>
          </a:p>
          <a:p>
            <a:pPr lvl="1" algn="l">
              <a:defRPr sz="2000" b="0">
                <a:solidFill>
                  <a:srgbClr val="222222"/>
                </a:solidFill>
              </a:defRPr>
            </a:pPr>
            <a:r>
              <a:t>Streaming architectures for near real‑time signals and updates</a:t>
            </a:r>
          </a:p>
          <a:p>
            <a:pPr lvl="1" algn="l">
              <a:defRPr sz="2000" b="0">
                <a:solidFill>
                  <a:srgbClr val="222222"/>
                </a:solidFill>
              </a:defRPr>
            </a:pPr>
            <a:r>
              <a:t>Synchronizing feature computation across different temporal modes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2.6 Privacy, Compliance, and Access Control in Data Pipelines</a:t>
            </a:r>
          </a:p>
        </p:txBody>
      </p:sp>
      <p:sp>
        <p:nvSpPr>
          <p:cNvPr id="3" name="Content Placeholder 2"/>
          <p:cNvSpPr>
            <a:spLocks noGrp="1"/>
          </p:cNvSpPr>
          <p:nvPr>
            <p:ph idx="1"/>
          </p:nvPr>
        </p:nvSpPr>
        <p:spPr/>
        <p:txBody>
          <a:bodyPr/>
          <a:lstStyle/>
          <a:p/>
          <a:p>
            <a:pPr lvl="1" algn="l">
              <a:defRPr sz="2000" b="0">
                <a:solidFill>
                  <a:srgbClr val="222222"/>
                </a:solidFill>
              </a:defRPr>
            </a:pPr>
            <a:r>
              <a:t>Identify sensitive data and apply appropriate protections</a:t>
            </a:r>
          </a:p>
          <a:p>
            <a:pPr lvl="1" algn="l">
              <a:defRPr sz="2000" b="0">
                <a:solidFill>
                  <a:srgbClr val="222222"/>
                </a:solidFill>
              </a:defRPr>
            </a:pPr>
            <a:r>
              <a:t>Implement access control and auditing for data usage</a:t>
            </a:r>
          </a:p>
          <a:p>
            <a:pPr lvl="1" algn="l">
              <a:defRPr sz="2000" b="0">
                <a:solidFill>
                  <a:srgbClr val="222222"/>
                </a:solidFill>
              </a:defRPr>
            </a:pPr>
            <a:r>
              <a:t>Design pipelines to support data retention and deletion requirements</a:t>
            </a:r>
          </a:p>
          <a:p>
            <a:pPr lvl="1" algn="l">
              <a:defRPr sz="2000" b="0">
                <a:solidFill>
                  <a:srgbClr val="222222"/>
                </a:solidFill>
              </a:defRPr>
            </a:pPr>
            <a:r>
              <a:t>Consider anonymization, pseudonymization, and aggregation techniques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3: Model Training, Experimentation, and Versioning (6 hours)</a:t>
            </a:r>
          </a:p>
        </p:txBody>
      </p:sp>
      <p:sp>
        <p:nvSpPr>
          <p:cNvPr id="3" name="Content Placeholder 2"/>
          <p:cNvSpPr>
            <a:spLocks noGrp="1"/>
          </p:cNvSpPr>
          <p:nvPr>
            <p:ph idx="1"/>
          </p:nvPr>
        </p:nvSpPr>
        <p:spPr/>
        <p:txBody>
          <a:bodyPr/>
          <a:lstStyle/>
          <a:p/>
          <a:p>
            <a:pPr lvl="1" algn="l">
              <a:defRPr sz="2000" b="0">
                <a:solidFill>
                  <a:srgbClr val="222222"/>
                </a:solidFill>
              </a:defRPr>
            </a:pPr>
            <a:r>
              <a:t>3.1 Structuring reproducible training pipelines</a:t>
            </a:r>
          </a:p>
          <a:p>
            <a:pPr lvl="1" algn="l">
              <a:defRPr sz="2000" b="0">
                <a:solidFill>
                  <a:srgbClr val="222222"/>
                </a:solidFill>
              </a:defRPr>
            </a:pPr>
            <a:r>
              <a:t>3.2 Experiment tracking: metrics, parameters, and artifacts</a:t>
            </a:r>
          </a:p>
          <a:p>
            <a:pPr lvl="1" algn="l">
              <a:defRPr sz="2000" b="0">
                <a:solidFill>
                  <a:srgbClr val="222222"/>
                </a:solidFill>
              </a:defRPr>
            </a:pPr>
            <a:r>
              <a:t>3.3 Hyperparameter tuning and resource management</a:t>
            </a:r>
          </a:p>
          <a:p>
            <a:pPr lvl="1" algn="l">
              <a:defRPr sz="2000" b="0">
                <a:solidFill>
                  <a:srgbClr val="222222"/>
                </a:solidFill>
              </a:defRPr>
            </a:pPr>
            <a:r>
              <a:t>3.4 Model versioning and promotion workflows</a:t>
            </a:r>
          </a:p>
          <a:p>
            <a:pPr lvl="1" algn="l">
              <a:defRPr sz="2000" b="0">
                <a:solidFill>
                  <a:srgbClr val="222222"/>
                </a:solidFill>
              </a:defRPr>
            </a:pPr>
            <a:r>
              <a:t>3.5 Testing models: unit, integration, and acceptance tests</a:t>
            </a:r>
          </a:p>
          <a:p>
            <a:pPr lvl="1" algn="l">
              <a:defRPr sz="2000" b="0">
                <a:solidFill>
                  <a:srgbClr val="222222"/>
                </a:solidFill>
              </a:defRPr>
            </a:pPr>
            <a:r>
              <a:t>3.6 Managing models across environments (dev, staging, prod)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3.1 Building Reproducible Training Pipelines</a:t>
            </a:r>
          </a:p>
        </p:txBody>
      </p:sp>
      <p:sp>
        <p:nvSpPr>
          <p:cNvPr id="3" name="Content Placeholder 2"/>
          <p:cNvSpPr>
            <a:spLocks noGrp="1"/>
          </p:cNvSpPr>
          <p:nvPr>
            <p:ph idx="1"/>
          </p:nvPr>
        </p:nvSpPr>
        <p:spPr/>
        <p:txBody>
          <a:bodyPr/>
          <a:lstStyle/>
          <a:p/>
          <a:p>
            <a:pPr lvl="1" algn="l">
              <a:defRPr sz="2000" b="0">
                <a:solidFill>
                  <a:srgbClr val="222222"/>
                </a:solidFill>
              </a:defRPr>
            </a:pPr>
            <a:r>
              <a:t>Encapsulate data preparation, training, and evaluation in code, not notebooks</a:t>
            </a:r>
          </a:p>
          <a:p>
            <a:pPr lvl="1" algn="l">
              <a:defRPr sz="2000" b="0">
                <a:solidFill>
                  <a:srgbClr val="222222"/>
                </a:solidFill>
              </a:defRPr>
            </a:pPr>
            <a:r>
              <a:t>Parameterize pipelines for datasets, configurations, and model variants</a:t>
            </a:r>
          </a:p>
          <a:p>
            <a:pPr lvl="1" algn="l">
              <a:defRPr sz="2000" b="0">
                <a:solidFill>
                  <a:srgbClr val="222222"/>
                </a:solidFill>
              </a:defRPr>
            </a:pPr>
            <a:r>
              <a:t>Use workflow orchestrators to schedule and manage training runs</a:t>
            </a:r>
          </a:p>
          <a:p>
            <a:pPr lvl="1" algn="l">
              <a:defRPr sz="2000" b="0">
                <a:solidFill>
                  <a:srgbClr val="222222"/>
                </a:solidFill>
              </a:defRPr>
            </a:pPr>
            <a:r>
              <a:t>Capture environment details: libraries, hardware, and random seeds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3.2 Tracking Experiments and Model Artifacts</a:t>
            </a:r>
          </a:p>
        </p:txBody>
      </p:sp>
      <p:sp>
        <p:nvSpPr>
          <p:cNvPr id="3" name="Content Placeholder 2"/>
          <p:cNvSpPr>
            <a:spLocks noGrp="1"/>
          </p:cNvSpPr>
          <p:nvPr>
            <p:ph idx="1"/>
          </p:nvPr>
        </p:nvSpPr>
        <p:spPr/>
        <p:txBody>
          <a:bodyPr/>
          <a:lstStyle/>
          <a:p/>
          <a:p>
            <a:pPr lvl="1" algn="l">
              <a:defRPr sz="2000" b="0">
                <a:solidFill>
                  <a:srgbClr val="222222"/>
                </a:solidFill>
              </a:defRPr>
            </a:pPr>
            <a:r>
              <a:t>Record hyperparameters, data versions, and code commits for each run</a:t>
            </a:r>
          </a:p>
          <a:p>
            <a:pPr lvl="1" algn="l">
              <a:defRPr sz="2000" b="0">
                <a:solidFill>
                  <a:srgbClr val="222222"/>
                </a:solidFill>
              </a:defRPr>
            </a:pPr>
            <a:r>
              <a:t>Log evaluation metrics and compare across experiments</a:t>
            </a:r>
          </a:p>
          <a:p>
            <a:pPr lvl="1" algn="l">
              <a:defRPr sz="2000" b="0">
                <a:solidFill>
                  <a:srgbClr val="222222"/>
                </a:solidFill>
              </a:defRPr>
            </a:pPr>
            <a:r>
              <a:t>Store trained models and related artifacts with structured metadata</a:t>
            </a:r>
          </a:p>
          <a:p>
            <a:pPr lvl="1" algn="l">
              <a:defRPr sz="2000" b="0">
                <a:solidFill>
                  <a:srgbClr val="222222"/>
                </a:solidFill>
              </a:defRPr>
            </a:pPr>
            <a:r>
              <a:t>Support collaborative browsing and annotation of experiment history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3.3 Hyperparameter Tuning and Resource Management</a:t>
            </a:r>
          </a:p>
        </p:txBody>
      </p:sp>
      <p:sp>
        <p:nvSpPr>
          <p:cNvPr id="3" name="Content Placeholder 2"/>
          <p:cNvSpPr>
            <a:spLocks noGrp="1"/>
          </p:cNvSpPr>
          <p:nvPr>
            <p:ph idx="1"/>
          </p:nvPr>
        </p:nvSpPr>
        <p:spPr/>
        <p:txBody>
          <a:bodyPr/>
          <a:lstStyle/>
          <a:p/>
          <a:p>
            <a:pPr lvl="1" algn="l">
              <a:defRPr sz="2000" b="0">
                <a:solidFill>
                  <a:srgbClr val="222222"/>
                </a:solidFill>
              </a:defRPr>
            </a:pPr>
            <a:r>
              <a:t>Automate search over hyperparameters using systematic strategies</a:t>
            </a:r>
          </a:p>
          <a:p>
            <a:pPr lvl="1" algn="l">
              <a:defRPr sz="2000" b="0">
                <a:solidFill>
                  <a:srgbClr val="222222"/>
                </a:solidFill>
              </a:defRPr>
            </a:pPr>
            <a:r>
              <a:t>Balance search depth with compute and time budgets</a:t>
            </a:r>
          </a:p>
          <a:p>
            <a:pPr lvl="1" algn="l">
              <a:defRPr sz="2000" b="0">
                <a:solidFill>
                  <a:srgbClr val="222222"/>
                </a:solidFill>
              </a:defRPr>
            </a:pPr>
            <a:r>
              <a:t>Schedule tuning jobs efficiently across available hardware</a:t>
            </a:r>
          </a:p>
          <a:p>
            <a:pPr lvl="1" algn="l">
              <a:defRPr sz="2000" b="0">
                <a:solidFill>
                  <a:srgbClr val="222222"/>
                </a:solidFill>
              </a:defRPr>
            </a:pPr>
            <a:r>
              <a:t>Avoid overfitting to validation data during extensive tuning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3.4 Model Versioning and Promotion Workflows</a:t>
            </a:r>
          </a:p>
        </p:txBody>
      </p:sp>
      <p:sp>
        <p:nvSpPr>
          <p:cNvPr id="3" name="Content Placeholder 2"/>
          <p:cNvSpPr>
            <a:spLocks noGrp="1"/>
          </p:cNvSpPr>
          <p:nvPr>
            <p:ph idx="1"/>
          </p:nvPr>
        </p:nvSpPr>
        <p:spPr/>
        <p:txBody>
          <a:bodyPr/>
          <a:lstStyle/>
          <a:p/>
          <a:p>
            <a:pPr lvl="1" algn="l">
              <a:defRPr sz="2000" b="0">
                <a:solidFill>
                  <a:srgbClr val="222222"/>
                </a:solidFill>
              </a:defRPr>
            </a:pPr>
            <a:r>
              <a:t>Assign unique identifiers to model versions tied to metadata</a:t>
            </a:r>
          </a:p>
          <a:p>
            <a:pPr lvl="1" algn="l">
              <a:defRPr sz="2000" b="0">
                <a:solidFill>
                  <a:srgbClr val="222222"/>
                </a:solidFill>
              </a:defRPr>
            </a:pPr>
            <a:r>
              <a:t>Define states such as "candidate", "staging", and "production"</a:t>
            </a:r>
          </a:p>
          <a:p>
            <a:pPr lvl="1" algn="l">
              <a:defRPr sz="2000" b="0">
                <a:solidFill>
                  <a:srgbClr val="222222"/>
                </a:solidFill>
              </a:defRPr>
            </a:pPr>
            <a:r>
              <a:t>Use approval gates and checks before promoting a model</a:t>
            </a:r>
          </a:p>
          <a:p>
            <a:pPr lvl="1" algn="l">
              <a:defRPr sz="2000" b="0">
                <a:solidFill>
                  <a:srgbClr val="222222"/>
                </a:solidFill>
              </a:defRPr>
            </a:pPr>
            <a:r>
              <a:t>Maintain the ability to roll back quickly to a previous version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3.5 Testing ML Models and Pipelines</a:t>
            </a:r>
          </a:p>
        </p:txBody>
      </p:sp>
      <p:sp>
        <p:nvSpPr>
          <p:cNvPr id="3" name="Content Placeholder 2"/>
          <p:cNvSpPr>
            <a:spLocks noGrp="1"/>
          </p:cNvSpPr>
          <p:nvPr>
            <p:ph idx="1"/>
          </p:nvPr>
        </p:nvSpPr>
        <p:spPr/>
        <p:txBody>
          <a:bodyPr/>
          <a:lstStyle/>
          <a:p/>
          <a:p>
            <a:pPr lvl="1" algn="l">
              <a:defRPr sz="2000" b="0">
                <a:solidFill>
                  <a:srgbClr val="222222"/>
                </a:solidFill>
              </a:defRPr>
            </a:pPr>
            <a:r>
              <a:t>Unit tests for data transformations and feature logic</a:t>
            </a:r>
          </a:p>
          <a:p>
            <a:pPr lvl="1" algn="l">
              <a:defRPr sz="2000" b="0">
                <a:solidFill>
                  <a:srgbClr val="222222"/>
                </a:solidFill>
              </a:defRPr>
            </a:pPr>
            <a:r>
              <a:t>Integration tests to validate end‑to‑end training pipelines</a:t>
            </a:r>
          </a:p>
          <a:p>
            <a:pPr lvl="1" algn="l">
              <a:defRPr sz="2000" b="0">
                <a:solidFill>
                  <a:srgbClr val="222222"/>
                </a:solidFill>
              </a:defRPr>
            </a:pPr>
            <a:r>
              <a:t>Acceptance tests comparing new models against baselines</a:t>
            </a:r>
          </a:p>
          <a:p>
            <a:pPr lvl="1" algn="l">
              <a:defRPr sz="2000" b="0">
                <a:solidFill>
                  <a:srgbClr val="222222"/>
                </a:solidFill>
              </a:defRPr>
            </a:pPr>
            <a:r>
              <a:t>Non‑functional tests: performance, robustness, and fairness checks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3.6 Managing Models Across Environments</a:t>
            </a:r>
          </a:p>
        </p:txBody>
      </p:sp>
      <p:sp>
        <p:nvSpPr>
          <p:cNvPr id="3" name="Content Placeholder 2"/>
          <p:cNvSpPr>
            <a:spLocks noGrp="1"/>
          </p:cNvSpPr>
          <p:nvPr>
            <p:ph idx="1"/>
          </p:nvPr>
        </p:nvSpPr>
        <p:spPr/>
        <p:txBody>
          <a:bodyPr/>
          <a:lstStyle/>
          <a:p/>
          <a:p>
            <a:pPr lvl="1" algn="l">
              <a:defRPr sz="2000" b="0">
                <a:solidFill>
                  <a:srgbClr val="222222"/>
                </a:solidFill>
              </a:defRPr>
            </a:pPr>
            <a:r>
              <a:t>Separate development, staging, and production environments</a:t>
            </a:r>
          </a:p>
          <a:p>
            <a:pPr lvl="1" algn="l">
              <a:defRPr sz="2000" b="0">
                <a:solidFill>
                  <a:srgbClr val="222222"/>
                </a:solidFill>
              </a:defRPr>
            </a:pPr>
            <a:r>
              <a:t>Align configuration and dependencies while isolating risks</a:t>
            </a:r>
          </a:p>
          <a:p>
            <a:pPr lvl="1" algn="l">
              <a:defRPr sz="2000" b="0">
                <a:solidFill>
                  <a:srgbClr val="222222"/>
                </a:solidFill>
              </a:defRPr>
            </a:pPr>
            <a:r>
              <a:t>Automate promotion and deployment across environments</a:t>
            </a:r>
          </a:p>
          <a:p>
            <a:pPr lvl="1" algn="l">
              <a:defRPr sz="2000" b="0">
                <a:solidFill>
                  <a:srgbClr val="222222"/>
                </a:solidFill>
              </a:defRPr>
            </a:pPr>
            <a:r>
              <a:t>Monitor environment-specific behavior and issues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4: Deployment Patterns and Serving Infrastructure (8 hours)</a:t>
            </a:r>
          </a:p>
        </p:txBody>
      </p:sp>
      <p:sp>
        <p:nvSpPr>
          <p:cNvPr id="3" name="Content Placeholder 2"/>
          <p:cNvSpPr>
            <a:spLocks noGrp="1"/>
          </p:cNvSpPr>
          <p:nvPr>
            <p:ph idx="1"/>
          </p:nvPr>
        </p:nvSpPr>
        <p:spPr/>
        <p:txBody>
          <a:bodyPr/>
          <a:lstStyle/>
          <a:p/>
          <a:p>
            <a:pPr lvl="1" algn="l">
              <a:defRPr sz="2000" b="0">
                <a:solidFill>
                  <a:srgbClr val="222222"/>
                </a:solidFill>
              </a:defRPr>
            </a:pPr>
            <a:r>
              <a:t>4.1 Fundamentals of ML model serving</a:t>
            </a:r>
          </a:p>
          <a:p>
            <a:pPr lvl="1" algn="l">
              <a:defRPr sz="2000" b="0">
                <a:solidFill>
                  <a:srgbClr val="222222"/>
                </a:solidFill>
              </a:defRPr>
            </a:pPr>
            <a:r>
              <a:t>4.2 Online prediction APIs and microservices</a:t>
            </a:r>
          </a:p>
          <a:p>
            <a:pPr lvl="1" algn="l">
              <a:defRPr sz="2000" b="0">
                <a:solidFill>
                  <a:srgbClr val="222222"/>
                </a:solidFill>
              </a:defRPr>
            </a:pPr>
            <a:r>
              <a:t>4.3 Batch scoring and offline inference workflows</a:t>
            </a:r>
          </a:p>
          <a:p>
            <a:pPr lvl="1" algn="l">
              <a:defRPr sz="2000" b="0">
                <a:solidFill>
                  <a:srgbClr val="222222"/>
                </a:solidFill>
              </a:defRPr>
            </a:pPr>
            <a:r>
              <a:t>4.4 Streaming and event‑driven inference patterns</a:t>
            </a:r>
          </a:p>
          <a:p>
            <a:pPr lvl="1" algn="l">
              <a:defRPr sz="2000" b="0">
                <a:solidFill>
                  <a:srgbClr val="222222"/>
                </a:solidFill>
              </a:defRPr>
            </a:pPr>
            <a:r>
              <a:t>4.5 Deployment strategies: blue‑green, canary, and A/B testing</a:t>
            </a:r>
          </a:p>
          <a:p>
            <a:pPr lvl="1" algn="l">
              <a:defRPr sz="2000" b="0">
                <a:solidFill>
                  <a:srgbClr val="222222"/>
                </a:solidFill>
              </a:defRPr>
            </a:pPr>
            <a:r>
              <a:t>4.6 Scaling, load balancing, and performance optimization</a:t>
            </a:r>
          </a:p>
          <a:p>
            <a:pPr lvl="1" algn="l">
              <a:defRPr sz="2000" b="0">
                <a:solidFill>
                  <a:srgbClr val="222222"/>
                </a:solidFill>
              </a:defRPr>
            </a:pPr>
            <a:r>
              <a:t>4.7 Edge and on‑device deployment considerations</a:t>
            </a:r>
          </a:p>
          <a:p>
            <a:pPr lvl="1" algn="l">
              <a:defRPr sz="2000" b="0">
                <a:solidFill>
                  <a:srgbClr val="222222"/>
                </a:solidFill>
              </a:defRPr>
            </a:pPr>
            <a:r>
              <a:t>4.8 Reliability, resilience, and observability in serving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4.1 Basics of ML Model Serving</a:t>
            </a:r>
          </a:p>
        </p:txBody>
      </p:sp>
      <p:sp>
        <p:nvSpPr>
          <p:cNvPr id="3" name="Content Placeholder 2"/>
          <p:cNvSpPr>
            <a:spLocks noGrp="1"/>
          </p:cNvSpPr>
          <p:nvPr>
            <p:ph idx="1"/>
          </p:nvPr>
        </p:nvSpPr>
        <p:spPr/>
        <p:txBody>
          <a:bodyPr/>
          <a:lstStyle/>
          <a:p/>
          <a:p>
            <a:pPr lvl="1" algn="l">
              <a:defRPr sz="2000" b="0">
                <a:solidFill>
                  <a:srgbClr val="222222"/>
                </a:solidFill>
              </a:defRPr>
            </a:pPr>
            <a:r>
              <a:t>Wrap trained models in services that accept requests and return predictions</a:t>
            </a:r>
          </a:p>
          <a:p>
            <a:pPr lvl="1" algn="l">
              <a:defRPr sz="2000" b="0">
                <a:solidFill>
                  <a:srgbClr val="222222"/>
                </a:solidFill>
              </a:defRPr>
            </a:pPr>
            <a:r>
              <a:t>Define clear interfaces and contracts for prediction endpoints</a:t>
            </a:r>
          </a:p>
          <a:p>
            <a:pPr lvl="1" algn="l">
              <a:defRPr sz="2000" b="0">
                <a:solidFill>
                  <a:srgbClr val="222222"/>
                </a:solidFill>
              </a:defRPr>
            </a:pPr>
            <a:r>
              <a:t>Separate model logic from transport and infrastructure concerns</a:t>
            </a:r>
          </a:p>
          <a:p>
            <a:pPr lvl="1" algn="l">
              <a:defRPr sz="2000" b="0">
                <a:solidFill>
                  <a:srgbClr val="222222"/>
                </a:solidFill>
              </a:defRPr>
            </a:pPr>
            <a:r>
              <a:t>Consider latency, throughput, and availability requirements from the start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4.2 Online Prediction APIs and Microservices</a:t>
            </a:r>
          </a:p>
        </p:txBody>
      </p:sp>
      <p:sp>
        <p:nvSpPr>
          <p:cNvPr id="3" name="Content Placeholder 2"/>
          <p:cNvSpPr>
            <a:spLocks noGrp="1"/>
          </p:cNvSpPr>
          <p:nvPr>
            <p:ph idx="1"/>
          </p:nvPr>
        </p:nvSpPr>
        <p:spPr/>
        <p:txBody>
          <a:bodyPr/>
          <a:lstStyle/>
          <a:p/>
          <a:p>
            <a:pPr lvl="1" algn="l">
              <a:defRPr sz="2000" b="0">
                <a:solidFill>
                  <a:srgbClr val="222222"/>
                </a:solidFill>
              </a:defRPr>
            </a:pPr>
            <a:r>
              <a:t>Deploy models as stateless services behind HTTP or gRPC endpoints</a:t>
            </a:r>
          </a:p>
          <a:p>
            <a:pPr lvl="1" algn="l">
              <a:defRPr sz="2000" b="0">
                <a:solidFill>
                  <a:srgbClr val="222222"/>
                </a:solidFill>
              </a:defRPr>
            </a:pPr>
            <a:r>
              <a:t>Use containers to package model code, dependencies, and runtime</a:t>
            </a:r>
          </a:p>
          <a:p>
            <a:pPr lvl="1" algn="l">
              <a:defRPr sz="2000" b="0">
                <a:solidFill>
                  <a:srgbClr val="222222"/>
                </a:solidFill>
              </a:defRPr>
            </a:pPr>
            <a:r>
              <a:t>Integrate authentication, rate limiting, and request validation</a:t>
            </a:r>
          </a:p>
          <a:p>
            <a:pPr lvl="1" algn="l">
              <a:defRPr sz="2000" b="0">
                <a:solidFill>
                  <a:srgbClr val="222222"/>
                </a:solidFill>
              </a:defRPr>
            </a:pPr>
            <a:r>
              <a:t>Instrument services with metrics, logs, and traces for observability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4.3 Batch Scoring and Offline Inference Pipelines</a:t>
            </a:r>
          </a:p>
        </p:txBody>
      </p:sp>
      <p:sp>
        <p:nvSpPr>
          <p:cNvPr id="3" name="Content Placeholder 2"/>
          <p:cNvSpPr>
            <a:spLocks noGrp="1"/>
          </p:cNvSpPr>
          <p:nvPr>
            <p:ph idx="1"/>
          </p:nvPr>
        </p:nvSpPr>
        <p:spPr/>
        <p:txBody>
          <a:bodyPr/>
          <a:lstStyle/>
          <a:p/>
          <a:p>
            <a:pPr lvl="1" algn="l">
              <a:defRPr sz="2000" b="0">
                <a:solidFill>
                  <a:srgbClr val="222222"/>
                </a:solidFill>
              </a:defRPr>
            </a:pPr>
            <a:r>
              <a:t>Run scheduled jobs to generate predictions for large datasets</a:t>
            </a:r>
          </a:p>
          <a:p>
            <a:pPr lvl="1" algn="l">
              <a:defRPr sz="2000" b="0">
                <a:solidFill>
                  <a:srgbClr val="222222"/>
                </a:solidFill>
              </a:defRPr>
            </a:pPr>
            <a:r>
              <a:t>Store results in databases, data lakes, or downstream systems</a:t>
            </a:r>
          </a:p>
          <a:p>
            <a:pPr lvl="1" algn="l">
              <a:defRPr sz="2000" b="0">
                <a:solidFill>
                  <a:srgbClr val="222222"/>
                </a:solidFill>
              </a:defRPr>
            </a:pPr>
            <a:r>
              <a:t>Optimize batch jobs for throughput and cost efficiency</a:t>
            </a:r>
          </a:p>
          <a:p>
            <a:pPr lvl="1" algn="l">
              <a:defRPr sz="2000" b="0">
                <a:solidFill>
                  <a:srgbClr val="222222"/>
                </a:solidFill>
              </a:defRPr>
            </a:pPr>
            <a:r>
              <a:t>Coordinate retraining and rescore cycles with business processes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4.4 Streaming and Event‑Driven Inference</a:t>
            </a:r>
          </a:p>
        </p:txBody>
      </p:sp>
      <p:sp>
        <p:nvSpPr>
          <p:cNvPr id="3" name="Content Placeholder 2"/>
          <p:cNvSpPr>
            <a:spLocks noGrp="1"/>
          </p:cNvSpPr>
          <p:nvPr>
            <p:ph idx="1"/>
          </p:nvPr>
        </p:nvSpPr>
        <p:spPr/>
        <p:txBody>
          <a:bodyPr/>
          <a:lstStyle/>
          <a:p/>
          <a:p>
            <a:pPr lvl="1" algn="l">
              <a:defRPr sz="2000" b="0">
                <a:solidFill>
                  <a:srgbClr val="222222"/>
                </a:solidFill>
              </a:defRPr>
            </a:pPr>
            <a:r>
              <a:t>Consume events from logs or message queues for near real‑time scoring</a:t>
            </a:r>
          </a:p>
          <a:p>
            <a:pPr lvl="1" algn="l">
              <a:defRPr sz="2000" b="0">
                <a:solidFill>
                  <a:srgbClr val="222222"/>
                </a:solidFill>
              </a:defRPr>
            </a:pPr>
            <a:r>
              <a:t>Maintain stateful features and windows over event streams</a:t>
            </a:r>
          </a:p>
          <a:p>
            <a:pPr lvl="1" algn="l">
              <a:defRPr sz="2000" b="0">
                <a:solidFill>
                  <a:srgbClr val="222222"/>
                </a:solidFill>
              </a:defRPr>
            </a:pPr>
            <a:r>
              <a:t>Balance freshness of predictions with system complexity</a:t>
            </a:r>
          </a:p>
          <a:p>
            <a:pPr lvl="1" algn="l">
              <a:defRPr sz="2000" b="0">
                <a:solidFill>
                  <a:srgbClr val="222222"/>
                </a:solidFill>
              </a:defRPr>
            </a:pPr>
            <a:r>
              <a:t>Handle backpressure, retries, and out‑of‑order events robustly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4.5 Deployment Strategies for Updating Models</a:t>
            </a:r>
          </a:p>
        </p:txBody>
      </p:sp>
      <p:sp>
        <p:nvSpPr>
          <p:cNvPr id="3" name="Content Placeholder 2"/>
          <p:cNvSpPr>
            <a:spLocks noGrp="1"/>
          </p:cNvSpPr>
          <p:nvPr>
            <p:ph idx="1"/>
          </p:nvPr>
        </p:nvSpPr>
        <p:spPr/>
        <p:txBody>
          <a:bodyPr/>
          <a:lstStyle/>
          <a:p/>
          <a:p>
            <a:pPr lvl="1" algn="l">
              <a:defRPr sz="2000" b="0">
                <a:solidFill>
                  <a:srgbClr val="222222"/>
                </a:solidFill>
              </a:defRPr>
            </a:pPr>
            <a:r>
              <a:t>Blue‑green deployments: switch traffic between two complete environments</a:t>
            </a:r>
          </a:p>
          <a:p>
            <a:pPr lvl="1" algn="l">
              <a:defRPr sz="2000" b="0">
                <a:solidFill>
                  <a:srgbClr val="222222"/>
                </a:solidFill>
              </a:defRPr>
            </a:pPr>
            <a:r>
              <a:t>Canary releases: route a small fraction of traffic to new models first</a:t>
            </a:r>
          </a:p>
          <a:p>
            <a:pPr lvl="1" algn="l">
              <a:defRPr sz="2000" b="0">
                <a:solidFill>
                  <a:srgbClr val="222222"/>
                </a:solidFill>
              </a:defRPr>
            </a:pPr>
            <a:r>
              <a:t>A/B testing: compare alternative models on distinct user segments</a:t>
            </a:r>
          </a:p>
          <a:p>
            <a:pPr lvl="1" algn="l">
              <a:defRPr sz="2000" b="0">
                <a:solidFill>
                  <a:srgbClr val="222222"/>
                </a:solidFill>
              </a:defRPr>
            </a:pPr>
            <a:r>
              <a:t>Shadow deployments: run new models alongside existing ones without user impact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4.6 Scaling, Load Balancing, and Performance Optimization</a:t>
            </a:r>
          </a:p>
        </p:txBody>
      </p:sp>
      <p:sp>
        <p:nvSpPr>
          <p:cNvPr id="3" name="Content Placeholder 2"/>
          <p:cNvSpPr>
            <a:spLocks noGrp="1"/>
          </p:cNvSpPr>
          <p:nvPr>
            <p:ph idx="1"/>
          </p:nvPr>
        </p:nvSpPr>
        <p:spPr/>
        <p:txBody>
          <a:bodyPr/>
          <a:lstStyle/>
          <a:p/>
          <a:p>
            <a:pPr lvl="1" algn="l">
              <a:defRPr sz="2000" b="0">
                <a:solidFill>
                  <a:srgbClr val="222222"/>
                </a:solidFill>
              </a:defRPr>
            </a:pPr>
            <a:r>
              <a:t>Scale horizontally by adding more instances of model services</a:t>
            </a:r>
          </a:p>
          <a:p>
            <a:pPr lvl="1" algn="l">
              <a:defRPr sz="2000" b="0">
                <a:solidFill>
                  <a:srgbClr val="222222"/>
                </a:solidFill>
              </a:defRPr>
            </a:pPr>
            <a:r>
              <a:t>Use load balancers to distribute traffic and handle failures</a:t>
            </a:r>
          </a:p>
          <a:p>
            <a:pPr lvl="1" algn="l">
              <a:defRPr sz="2000" b="0">
                <a:solidFill>
                  <a:srgbClr val="222222"/>
                </a:solidFill>
              </a:defRPr>
            </a:pPr>
            <a:r>
              <a:t>Optimize model inference: batching, quantization, and caching</a:t>
            </a:r>
          </a:p>
          <a:p>
            <a:pPr lvl="1" algn="l">
              <a:defRPr sz="2000" b="0">
                <a:solidFill>
                  <a:srgbClr val="222222"/>
                </a:solidFill>
              </a:defRPr>
            </a:pPr>
            <a:r>
              <a:t>Profile performance to identify bottlenecks and tune resources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4.7 Deploying Models to Edge and On‑Device Environments</a:t>
            </a:r>
          </a:p>
        </p:txBody>
      </p:sp>
      <p:sp>
        <p:nvSpPr>
          <p:cNvPr id="3" name="Content Placeholder 2"/>
          <p:cNvSpPr>
            <a:spLocks noGrp="1"/>
          </p:cNvSpPr>
          <p:nvPr>
            <p:ph idx="1"/>
          </p:nvPr>
        </p:nvSpPr>
        <p:spPr/>
        <p:txBody>
          <a:bodyPr/>
          <a:lstStyle/>
          <a:p/>
          <a:p>
            <a:pPr lvl="1" algn="l">
              <a:defRPr sz="2000" b="0">
                <a:solidFill>
                  <a:srgbClr val="222222"/>
                </a:solidFill>
              </a:defRPr>
            </a:pPr>
            <a:r>
              <a:t>Constraints: limited compute, memory, and intermittent connectivity</a:t>
            </a:r>
          </a:p>
          <a:p>
            <a:pPr lvl="1" algn="l">
              <a:defRPr sz="2000" b="0">
                <a:solidFill>
                  <a:srgbClr val="222222"/>
                </a:solidFill>
              </a:defRPr>
            </a:pPr>
            <a:r>
              <a:t>Optimize models for size, energy usage, and hardware capabilities</a:t>
            </a:r>
          </a:p>
          <a:p>
            <a:pPr lvl="1" algn="l">
              <a:defRPr sz="2000" b="0">
                <a:solidFill>
                  <a:srgbClr val="222222"/>
                </a:solidFill>
              </a:defRPr>
            </a:pPr>
            <a:r>
              <a:t>Plan for over‑the‑air updates and rollback on devices</a:t>
            </a:r>
          </a:p>
          <a:p>
            <a:pPr lvl="1" algn="l">
              <a:defRPr sz="2000" b="0">
                <a:solidFill>
                  <a:srgbClr val="222222"/>
                </a:solidFill>
              </a:defRPr>
            </a:pPr>
            <a:r>
              <a:t>Handle data privacy by keeping sensitive data local when possible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4.8 Reliability, Resilience, and Observability in Serving</a:t>
            </a:r>
          </a:p>
        </p:txBody>
      </p:sp>
      <p:sp>
        <p:nvSpPr>
          <p:cNvPr id="3" name="Content Placeholder 2"/>
          <p:cNvSpPr>
            <a:spLocks noGrp="1"/>
          </p:cNvSpPr>
          <p:nvPr>
            <p:ph idx="1"/>
          </p:nvPr>
        </p:nvSpPr>
        <p:spPr/>
        <p:txBody>
          <a:bodyPr/>
          <a:lstStyle/>
          <a:p/>
          <a:p>
            <a:pPr lvl="1" algn="l">
              <a:defRPr sz="2000" b="0">
                <a:solidFill>
                  <a:srgbClr val="222222"/>
                </a:solidFill>
              </a:defRPr>
            </a:pPr>
            <a:r>
              <a:t>Design for graceful degradation when dependencies fail</a:t>
            </a:r>
          </a:p>
          <a:p>
            <a:pPr lvl="1" algn="l">
              <a:defRPr sz="2000" b="0">
                <a:solidFill>
                  <a:srgbClr val="222222"/>
                </a:solidFill>
              </a:defRPr>
            </a:pPr>
            <a:r>
              <a:t>Use health checks and circuit breakers to protect services</a:t>
            </a:r>
          </a:p>
          <a:p>
            <a:pPr lvl="1" algn="l">
              <a:defRPr sz="2000" b="0">
                <a:solidFill>
                  <a:srgbClr val="222222"/>
                </a:solidFill>
              </a:defRPr>
            </a:pPr>
            <a:r>
              <a:t>Instrument serving layers with detailed metrics and logs</a:t>
            </a:r>
          </a:p>
          <a:p>
            <a:pPr lvl="1" algn="l">
              <a:defRPr sz="2000" b="0">
                <a:solidFill>
                  <a:srgbClr val="222222"/>
                </a:solidFill>
              </a:defRPr>
            </a:pPr>
            <a:r>
              <a:t>Integrate alerts and runbooks for operational incidents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5: Monitoring, Observability, and Model Maintenance (8 hours)</a:t>
            </a:r>
          </a:p>
        </p:txBody>
      </p:sp>
      <p:sp>
        <p:nvSpPr>
          <p:cNvPr id="3" name="Content Placeholder 2"/>
          <p:cNvSpPr>
            <a:spLocks noGrp="1"/>
          </p:cNvSpPr>
          <p:nvPr>
            <p:ph idx="1"/>
          </p:nvPr>
        </p:nvSpPr>
        <p:spPr/>
        <p:txBody>
          <a:bodyPr/>
          <a:lstStyle/>
          <a:p/>
          <a:p>
            <a:pPr lvl="1" algn="l">
              <a:defRPr sz="2000" b="0">
                <a:solidFill>
                  <a:srgbClr val="222222"/>
                </a:solidFill>
              </a:defRPr>
            </a:pPr>
            <a:r>
              <a:t>5.1 Principles of monitoring ML systems</a:t>
            </a:r>
          </a:p>
          <a:p>
            <a:pPr lvl="1" algn="l">
              <a:defRPr sz="2000" b="0">
                <a:solidFill>
                  <a:srgbClr val="222222"/>
                </a:solidFill>
              </a:defRPr>
            </a:pPr>
            <a:r>
              <a:t>5.2 Tracking data quality and drift in production</a:t>
            </a:r>
          </a:p>
          <a:p>
            <a:pPr lvl="1" algn="l">
              <a:defRPr sz="2000" b="0">
                <a:solidFill>
                  <a:srgbClr val="222222"/>
                </a:solidFill>
              </a:defRPr>
            </a:pPr>
            <a:r>
              <a:t>5.3 Monitoring model performance and business impact</a:t>
            </a:r>
          </a:p>
          <a:p>
            <a:pPr lvl="1" algn="l">
              <a:defRPr sz="2000" b="0">
                <a:solidFill>
                  <a:srgbClr val="222222"/>
                </a:solidFill>
              </a:defRPr>
            </a:pPr>
            <a:r>
              <a:t>5.4 Alerting, incident response, and on‑call practices</a:t>
            </a:r>
          </a:p>
          <a:p>
            <a:pPr lvl="1" algn="l">
              <a:defRPr sz="2000" b="0">
                <a:solidFill>
                  <a:srgbClr val="222222"/>
                </a:solidFill>
              </a:defRPr>
            </a:pPr>
            <a:r>
              <a:t>5.5 Automating retraining and continuous improvement</a:t>
            </a:r>
          </a:p>
          <a:p>
            <a:pPr lvl="1" algn="l">
              <a:defRPr sz="2000" b="0">
                <a:solidFill>
                  <a:srgbClr val="222222"/>
                </a:solidFill>
              </a:defRPr>
            </a:pPr>
            <a:r>
              <a:t>5.6 Post‑mortems, root cause analysis, and learning loops</a:t>
            </a:r>
          </a:p>
          <a:p>
            <a:pPr lvl="1" algn="l">
              <a:defRPr sz="2000" b="0">
                <a:solidFill>
                  <a:srgbClr val="222222"/>
                </a:solidFill>
              </a:defRPr>
            </a:pPr>
            <a:r>
              <a:t>5.7 Monitoring for fairness, bias, and unintended consequences</a:t>
            </a:r>
          </a:p>
          <a:p>
            <a:pPr lvl="1" algn="l">
              <a:defRPr sz="2000" b="0">
                <a:solidFill>
                  <a:srgbClr val="222222"/>
                </a:solidFill>
              </a:defRPr>
            </a:pPr>
            <a:r>
              <a:t>5.8 Maintaining documentation and knowledge over 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5.1 Foundations of ML System Monitoring</a:t>
            </a:r>
          </a:p>
        </p:txBody>
      </p:sp>
      <p:sp>
        <p:nvSpPr>
          <p:cNvPr id="3" name="Content Placeholder 2"/>
          <p:cNvSpPr>
            <a:spLocks noGrp="1"/>
          </p:cNvSpPr>
          <p:nvPr>
            <p:ph idx="1"/>
          </p:nvPr>
        </p:nvSpPr>
        <p:spPr/>
        <p:txBody>
          <a:bodyPr/>
          <a:lstStyle/>
          <a:p/>
          <a:p>
            <a:pPr lvl="1" algn="l">
              <a:defRPr sz="2000" b="0">
                <a:solidFill>
                  <a:srgbClr val="222222"/>
                </a:solidFill>
              </a:defRPr>
            </a:pPr>
            <a:r>
              <a:t>Monitor three layers: infrastructure, data pipelines, and models</a:t>
            </a:r>
          </a:p>
          <a:p>
            <a:pPr lvl="1" algn="l">
              <a:defRPr sz="2000" b="0">
                <a:solidFill>
                  <a:srgbClr val="222222"/>
                </a:solidFill>
              </a:defRPr>
            </a:pPr>
            <a:r>
              <a:t>Define service‑level objectives and error budgets where appropriate</a:t>
            </a:r>
          </a:p>
          <a:p>
            <a:pPr lvl="1" algn="l">
              <a:defRPr sz="2000" b="0">
                <a:solidFill>
                  <a:srgbClr val="222222"/>
                </a:solidFill>
              </a:defRPr>
            </a:pPr>
            <a:r>
              <a:t>Instrument systems with metrics, logs, and traces</a:t>
            </a:r>
          </a:p>
          <a:p>
            <a:pPr lvl="1" algn="l">
              <a:defRPr sz="2000" b="0">
                <a:solidFill>
                  <a:srgbClr val="222222"/>
                </a:solidFill>
              </a:defRPr>
            </a:pPr>
            <a:r>
              <a:t>Prioritize actionable monitoring over exhaustive data collection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5.2 Detecting Data Quality Issues and Drift in Production</a:t>
            </a:r>
          </a:p>
        </p:txBody>
      </p:sp>
      <p:sp>
        <p:nvSpPr>
          <p:cNvPr id="3" name="Content Placeholder 2"/>
          <p:cNvSpPr>
            <a:spLocks noGrp="1"/>
          </p:cNvSpPr>
          <p:nvPr>
            <p:ph idx="1"/>
          </p:nvPr>
        </p:nvSpPr>
        <p:spPr/>
        <p:txBody>
          <a:bodyPr/>
          <a:lstStyle/>
          <a:p/>
          <a:p>
            <a:pPr lvl="1" algn="l">
              <a:defRPr sz="2000" b="0">
                <a:solidFill>
                  <a:srgbClr val="222222"/>
                </a:solidFill>
              </a:defRPr>
            </a:pPr>
            <a:r>
              <a:t>Track input feature distributions and compare to training baselines</a:t>
            </a:r>
          </a:p>
          <a:p>
            <a:pPr lvl="1" algn="l">
              <a:defRPr sz="2000" b="0">
                <a:solidFill>
                  <a:srgbClr val="222222"/>
                </a:solidFill>
              </a:defRPr>
            </a:pPr>
            <a:r>
              <a:t>Monitor rates of missing, invalid, or out‑of‑range values</a:t>
            </a:r>
          </a:p>
          <a:p>
            <a:pPr lvl="1" algn="l">
              <a:defRPr sz="2000" b="0">
                <a:solidFill>
                  <a:srgbClr val="222222"/>
                </a:solidFill>
              </a:defRPr>
            </a:pPr>
            <a:r>
              <a:t>Use statistical tests or heuristics to flag significant shifts</a:t>
            </a:r>
          </a:p>
          <a:p>
            <a:pPr lvl="1" algn="l">
              <a:defRPr sz="2000" b="0">
                <a:solidFill>
                  <a:srgbClr val="222222"/>
                </a:solidFill>
              </a:defRPr>
            </a:pPr>
            <a:r>
              <a:t>Integrate drift alerts with investigation and remediation workflows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5.3 Monitoring Model Quality and Business Outcomes</a:t>
            </a:r>
          </a:p>
        </p:txBody>
      </p:sp>
      <p:sp>
        <p:nvSpPr>
          <p:cNvPr id="3" name="Content Placeholder 2"/>
          <p:cNvSpPr>
            <a:spLocks noGrp="1"/>
          </p:cNvSpPr>
          <p:nvPr>
            <p:ph idx="1"/>
          </p:nvPr>
        </p:nvSpPr>
        <p:spPr/>
        <p:txBody>
          <a:bodyPr/>
          <a:lstStyle/>
          <a:p/>
          <a:p>
            <a:pPr lvl="1" algn="l">
              <a:defRPr sz="2000" b="0">
                <a:solidFill>
                  <a:srgbClr val="222222"/>
                </a:solidFill>
              </a:defRPr>
            </a:pPr>
            <a:r>
              <a:t>Collect ground truth labels when possible to compute live metrics</a:t>
            </a:r>
          </a:p>
          <a:p>
            <a:pPr lvl="1" algn="l">
              <a:defRPr sz="2000" b="0">
                <a:solidFill>
                  <a:srgbClr val="222222"/>
                </a:solidFill>
              </a:defRPr>
            </a:pPr>
            <a:r>
              <a:t>Use proxy metrics when labels are delayed or unavailable</a:t>
            </a:r>
          </a:p>
          <a:p>
            <a:pPr lvl="1" algn="l">
              <a:defRPr sz="2000" b="0">
                <a:solidFill>
                  <a:srgbClr val="222222"/>
                </a:solidFill>
              </a:defRPr>
            </a:pPr>
            <a:r>
              <a:t>Segment performance by user groups, geographies, or products</a:t>
            </a:r>
          </a:p>
          <a:p>
            <a:pPr lvl="1" algn="l">
              <a:defRPr sz="2000" b="0">
                <a:solidFill>
                  <a:srgbClr val="222222"/>
                </a:solidFill>
              </a:defRPr>
            </a:pPr>
            <a:r>
              <a:t>Connect model behavior to KPIs and product metrics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5.4 Alerting, Incident Response, and On‑Call Practices</a:t>
            </a:r>
          </a:p>
        </p:txBody>
      </p:sp>
      <p:sp>
        <p:nvSpPr>
          <p:cNvPr id="3" name="Content Placeholder 2"/>
          <p:cNvSpPr>
            <a:spLocks noGrp="1"/>
          </p:cNvSpPr>
          <p:nvPr>
            <p:ph idx="1"/>
          </p:nvPr>
        </p:nvSpPr>
        <p:spPr/>
        <p:txBody>
          <a:bodyPr/>
          <a:lstStyle/>
          <a:p/>
          <a:p>
            <a:pPr lvl="1" algn="l">
              <a:defRPr sz="2000" b="0">
                <a:solidFill>
                  <a:srgbClr val="222222"/>
                </a:solidFill>
              </a:defRPr>
            </a:pPr>
            <a:r>
              <a:t>Define thresholds and conditions that warrant alerts</a:t>
            </a:r>
          </a:p>
          <a:p>
            <a:pPr lvl="1" algn="l">
              <a:defRPr sz="2000" b="0">
                <a:solidFill>
                  <a:srgbClr val="222222"/>
                </a:solidFill>
              </a:defRPr>
            </a:pPr>
            <a:r>
              <a:t>Avoid alert fatigue with prioritization and clear ownership</a:t>
            </a:r>
          </a:p>
          <a:p>
            <a:pPr lvl="1" algn="l">
              <a:defRPr sz="2000" b="0">
                <a:solidFill>
                  <a:srgbClr val="222222"/>
                </a:solidFill>
              </a:defRPr>
            </a:pPr>
            <a:r>
              <a:t>Structure incident response: detection, triage, mitigation, and resolution</a:t>
            </a:r>
          </a:p>
          <a:p>
            <a:pPr lvl="1" algn="l">
              <a:defRPr sz="2000" b="0">
                <a:solidFill>
                  <a:srgbClr val="222222"/>
                </a:solidFill>
              </a:defRPr>
            </a:pPr>
            <a:r>
              <a:t>Rotate on‑call responsibilities with support and documentation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5.5 Automating Retraining and Continuous Improvement</a:t>
            </a:r>
          </a:p>
        </p:txBody>
      </p:sp>
      <p:sp>
        <p:nvSpPr>
          <p:cNvPr id="3" name="Content Placeholder 2"/>
          <p:cNvSpPr>
            <a:spLocks noGrp="1"/>
          </p:cNvSpPr>
          <p:nvPr>
            <p:ph idx="1"/>
          </p:nvPr>
        </p:nvSpPr>
        <p:spPr/>
        <p:txBody>
          <a:bodyPr/>
          <a:lstStyle/>
          <a:p/>
          <a:p>
            <a:pPr lvl="1" algn="l">
              <a:defRPr sz="2000" b="0">
                <a:solidFill>
                  <a:srgbClr val="222222"/>
                </a:solidFill>
              </a:defRPr>
            </a:pPr>
            <a:r>
              <a:t>Define triggers for retraining: time‑based, event‑based, or performance‑based</a:t>
            </a:r>
          </a:p>
          <a:p>
            <a:pPr lvl="1" algn="l">
              <a:defRPr sz="2000" b="0">
                <a:solidFill>
                  <a:srgbClr val="222222"/>
                </a:solidFill>
              </a:defRPr>
            </a:pPr>
            <a:r>
              <a:t>Automate data selection, training, evaluation, and deployment steps</a:t>
            </a:r>
          </a:p>
          <a:p>
            <a:pPr lvl="1" algn="l">
              <a:defRPr sz="2000" b="0">
                <a:solidFill>
                  <a:srgbClr val="222222"/>
                </a:solidFill>
              </a:defRPr>
            </a:pPr>
            <a:r>
              <a:t>Guard automation with checks to prevent regressions</a:t>
            </a:r>
          </a:p>
          <a:p>
            <a:pPr lvl="1" algn="l">
              <a:defRPr sz="2000" b="0">
                <a:solidFill>
                  <a:srgbClr val="222222"/>
                </a:solidFill>
              </a:defRPr>
            </a:pPr>
            <a:r>
              <a:t>Monitor the impact of retraining cycles on stability and performance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5.6 Post‑Mortems, Root Cause Analysis, and Organizational Learning</a:t>
            </a:r>
          </a:p>
        </p:txBody>
      </p:sp>
      <p:sp>
        <p:nvSpPr>
          <p:cNvPr id="3" name="Content Placeholder 2"/>
          <p:cNvSpPr>
            <a:spLocks noGrp="1"/>
          </p:cNvSpPr>
          <p:nvPr>
            <p:ph idx="1"/>
          </p:nvPr>
        </p:nvSpPr>
        <p:spPr/>
        <p:txBody>
          <a:bodyPr/>
          <a:lstStyle/>
          <a:p/>
          <a:p>
            <a:pPr lvl="1" algn="l">
              <a:defRPr sz="2000" b="0">
                <a:solidFill>
                  <a:srgbClr val="222222"/>
                </a:solidFill>
              </a:defRPr>
            </a:pPr>
            <a:r>
              <a:t>Conduct blameless post‑mortems after significant incidents</a:t>
            </a:r>
          </a:p>
          <a:p>
            <a:pPr lvl="1" algn="l">
              <a:defRPr sz="2000" b="0">
                <a:solidFill>
                  <a:srgbClr val="222222"/>
                </a:solidFill>
              </a:defRPr>
            </a:pPr>
            <a:r>
              <a:t>Identify root causes across data, model, and infrastructure layers</a:t>
            </a:r>
          </a:p>
          <a:p>
            <a:pPr lvl="1" algn="l">
              <a:defRPr sz="2000" b="0">
                <a:solidFill>
                  <a:srgbClr val="222222"/>
                </a:solidFill>
              </a:defRPr>
            </a:pPr>
            <a:r>
              <a:t>Document findings, decisions, and follow‑up actions</a:t>
            </a:r>
          </a:p>
          <a:p>
            <a:pPr lvl="1" algn="l">
              <a:defRPr sz="2000" b="0">
                <a:solidFill>
                  <a:srgbClr val="222222"/>
                </a:solidFill>
              </a:defRPr>
            </a:pPr>
            <a:r>
              <a:t>Share lessons to improve practices and prevent recurrence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5.7 Monitoring for Fairness, Bias, and Unintended Effects</a:t>
            </a:r>
          </a:p>
        </p:txBody>
      </p:sp>
      <p:sp>
        <p:nvSpPr>
          <p:cNvPr id="3" name="Content Placeholder 2"/>
          <p:cNvSpPr>
            <a:spLocks noGrp="1"/>
          </p:cNvSpPr>
          <p:nvPr>
            <p:ph idx="1"/>
          </p:nvPr>
        </p:nvSpPr>
        <p:spPr/>
        <p:txBody>
          <a:bodyPr/>
          <a:lstStyle/>
          <a:p/>
          <a:p>
            <a:pPr lvl="1" algn="l">
              <a:defRPr sz="2000" b="0">
                <a:solidFill>
                  <a:srgbClr val="222222"/>
                </a:solidFill>
              </a:defRPr>
            </a:pPr>
            <a:r>
              <a:t>Track performance across demographic and contextual segments</a:t>
            </a:r>
          </a:p>
          <a:p>
            <a:pPr lvl="1" algn="l">
              <a:defRPr sz="2000" b="0">
                <a:solidFill>
                  <a:srgbClr val="222222"/>
                </a:solidFill>
              </a:defRPr>
            </a:pPr>
            <a:r>
              <a:t>Monitor for systematic disparities in errors or decisions</a:t>
            </a:r>
          </a:p>
          <a:p>
            <a:pPr lvl="1" algn="l">
              <a:defRPr sz="2000" b="0">
                <a:solidFill>
                  <a:srgbClr val="222222"/>
                </a:solidFill>
              </a:defRPr>
            </a:pPr>
            <a:r>
              <a:t>Consider long‑term feedback loops and societal impacts</a:t>
            </a:r>
          </a:p>
          <a:p>
            <a:pPr lvl="1" algn="l">
              <a:defRPr sz="2000" b="0">
                <a:solidFill>
                  <a:srgbClr val="222222"/>
                </a:solidFill>
              </a:defRPr>
            </a:pPr>
            <a:r>
              <a:t>Integrate fairness checks into regular monitoring and reviews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5.8 Documentation and Knowledge Maintenance</a:t>
            </a:r>
          </a:p>
        </p:txBody>
      </p:sp>
      <p:sp>
        <p:nvSpPr>
          <p:cNvPr id="3" name="Content Placeholder 2"/>
          <p:cNvSpPr>
            <a:spLocks noGrp="1"/>
          </p:cNvSpPr>
          <p:nvPr>
            <p:ph idx="1"/>
          </p:nvPr>
        </p:nvSpPr>
        <p:spPr/>
        <p:txBody>
          <a:bodyPr/>
          <a:lstStyle/>
          <a:p/>
          <a:p>
            <a:pPr lvl="1" algn="l">
              <a:defRPr sz="2000" b="0">
                <a:solidFill>
                  <a:srgbClr val="222222"/>
                </a:solidFill>
              </a:defRPr>
            </a:pPr>
            <a:r>
              <a:t>Maintain living documentation for models, pipelines, and systems</a:t>
            </a:r>
          </a:p>
          <a:p>
            <a:pPr lvl="1" algn="l">
              <a:defRPr sz="2000" b="0">
                <a:solidFill>
                  <a:srgbClr val="222222"/>
                </a:solidFill>
              </a:defRPr>
            </a:pPr>
            <a:r>
              <a:t>Record assumptions, limitations, and known failure modes</a:t>
            </a:r>
          </a:p>
          <a:p>
            <a:pPr lvl="1" algn="l">
              <a:defRPr sz="2000" b="0">
                <a:solidFill>
                  <a:srgbClr val="222222"/>
                </a:solidFill>
              </a:defRPr>
            </a:pPr>
            <a:r>
              <a:t>Link documentation to monitoring dashboards and model registries</a:t>
            </a:r>
          </a:p>
          <a:p>
            <a:pPr lvl="1" algn="l">
              <a:defRPr sz="2000" b="0">
                <a:solidFill>
                  <a:srgbClr val="222222"/>
                </a:solidFill>
              </a:defRPr>
            </a:pPr>
            <a:r>
              <a:t>Plan for onboarding and knowledge transfer as teams evolve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6: Governance, Security, and Responsible AI in MLOps (4 hours)</a:t>
            </a:r>
          </a:p>
        </p:txBody>
      </p:sp>
      <p:sp>
        <p:nvSpPr>
          <p:cNvPr id="3" name="Content Placeholder 2"/>
          <p:cNvSpPr>
            <a:spLocks noGrp="1"/>
          </p:cNvSpPr>
          <p:nvPr>
            <p:ph idx="1"/>
          </p:nvPr>
        </p:nvSpPr>
        <p:spPr/>
        <p:txBody>
          <a:bodyPr/>
          <a:lstStyle/>
          <a:p/>
          <a:p>
            <a:pPr lvl="1" algn="l">
              <a:defRPr sz="2000" b="0">
                <a:solidFill>
                  <a:srgbClr val="222222"/>
                </a:solidFill>
              </a:defRPr>
            </a:pPr>
            <a:r>
              <a:t>6.1 Governance frameworks for ML in production</a:t>
            </a:r>
          </a:p>
          <a:p>
            <a:pPr lvl="1" algn="l">
              <a:defRPr sz="2000" b="0">
                <a:solidFill>
                  <a:srgbClr val="222222"/>
                </a:solidFill>
              </a:defRPr>
            </a:pPr>
            <a:r>
              <a:t>6.2 Security practices for ML pipelines and artifacts</a:t>
            </a:r>
          </a:p>
          <a:p>
            <a:pPr lvl="1" algn="l">
              <a:defRPr sz="2000" b="0">
                <a:solidFill>
                  <a:srgbClr val="222222"/>
                </a:solidFill>
              </a:defRPr>
            </a:pPr>
            <a:r>
              <a:t>6.3 Compliance, auditability, and regulatory considerations</a:t>
            </a:r>
          </a:p>
          <a:p>
            <a:pPr lvl="1" algn="l">
              <a:defRPr sz="2000" b="0">
                <a:solidFill>
                  <a:srgbClr val="222222"/>
                </a:solidFill>
              </a:defRPr>
            </a:pPr>
            <a:r>
              <a:t>6.4 Responsible AI: transparency, explainability, and ethics</a:t>
            </a:r>
          </a:p>
          <a:p>
            <a:pPr lvl="1" algn="l">
              <a:defRPr sz="2000" b="0">
                <a:solidFill>
                  <a:srgbClr val="222222"/>
                </a:solidFill>
              </a:defRPr>
            </a:pPr>
            <a:r>
              <a:t>6.5 Risk management and change control for ML systems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6.1 Governance Frameworks for ML in Production</a:t>
            </a:r>
          </a:p>
        </p:txBody>
      </p:sp>
      <p:sp>
        <p:nvSpPr>
          <p:cNvPr id="3" name="Content Placeholder 2"/>
          <p:cNvSpPr>
            <a:spLocks noGrp="1"/>
          </p:cNvSpPr>
          <p:nvPr>
            <p:ph idx="1"/>
          </p:nvPr>
        </p:nvSpPr>
        <p:spPr/>
        <p:txBody>
          <a:bodyPr/>
          <a:lstStyle/>
          <a:p/>
          <a:p>
            <a:pPr lvl="1" algn="l">
              <a:defRPr sz="2000" b="0">
                <a:solidFill>
                  <a:srgbClr val="222222"/>
                </a:solidFill>
              </a:defRPr>
            </a:pPr>
            <a:r>
              <a:t>Define policies for model development, evaluation, and deployment</a:t>
            </a:r>
          </a:p>
          <a:p>
            <a:pPr lvl="1" algn="l">
              <a:defRPr sz="2000" b="0">
                <a:solidFill>
                  <a:srgbClr val="222222"/>
                </a:solidFill>
              </a:defRPr>
            </a:pPr>
            <a:r>
              <a:t>Establish roles and committees for oversight and approval</a:t>
            </a:r>
          </a:p>
          <a:p>
            <a:pPr lvl="1" algn="l">
              <a:defRPr sz="2000" b="0">
                <a:solidFill>
                  <a:srgbClr val="222222"/>
                </a:solidFill>
              </a:defRPr>
            </a:pPr>
            <a:r>
              <a:t>Standardize documentation requirements across ML projects</a:t>
            </a:r>
          </a:p>
          <a:p>
            <a:pPr lvl="1" algn="l">
              <a:defRPr sz="2000" b="0">
                <a:solidFill>
                  <a:srgbClr val="222222"/>
                </a:solidFill>
              </a:defRPr>
            </a:pPr>
            <a:r>
              <a:t>Align governance with organizational values and regulations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6.2 Security for ML Pipelines, Models, and Data</a:t>
            </a:r>
          </a:p>
        </p:txBody>
      </p:sp>
      <p:sp>
        <p:nvSpPr>
          <p:cNvPr id="3" name="Content Placeholder 2"/>
          <p:cNvSpPr>
            <a:spLocks noGrp="1"/>
          </p:cNvSpPr>
          <p:nvPr>
            <p:ph idx="1"/>
          </p:nvPr>
        </p:nvSpPr>
        <p:spPr/>
        <p:txBody>
          <a:bodyPr/>
          <a:lstStyle/>
          <a:p/>
          <a:p>
            <a:pPr lvl="1" algn="l">
              <a:defRPr sz="2000" b="0">
                <a:solidFill>
                  <a:srgbClr val="222222"/>
                </a:solidFill>
              </a:defRPr>
            </a:pPr>
            <a:r>
              <a:t>Protect data in transit and at rest with appropriate controls</a:t>
            </a:r>
          </a:p>
          <a:p>
            <a:pPr lvl="1" algn="l">
              <a:defRPr sz="2000" b="0">
                <a:solidFill>
                  <a:srgbClr val="222222"/>
                </a:solidFill>
              </a:defRPr>
            </a:pPr>
            <a:r>
              <a:t>Secure model artifacts and registries from tampering or theft</a:t>
            </a:r>
          </a:p>
          <a:p>
            <a:pPr lvl="1" algn="l">
              <a:defRPr sz="2000" b="0">
                <a:solidFill>
                  <a:srgbClr val="222222"/>
                </a:solidFill>
              </a:defRPr>
            </a:pPr>
            <a:r>
              <a:t>Limit access to training and serving environments via least privilege</a:t>
            </a:r>
          </a:p>
          <a:p>
            <a:pPr lvl="1" algn="l">
              <a:defRPr sz="2000" b="0">
                <a:solidFill>
                  <a:srgbClr val="222222"/>
                </a:solidFill>
              </a:defRPr>
            </a:pPr>
            <a:r>
              <a:t>Consider threats unique to ML, such as data poisoning and model theft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6.3 Compliance, Auditability, and Regulation</a:t>
            </a:r>
          </a:p>
        </p:txBody>
      </p:sp>
      <p:sp>
        <p:nvSpPr>
          <p:cNvPr id="3" name="Content Placeholder 2"/>
          <p:cNvSpPr>
            <a:spLocks noGrp="1"/>
          </p:cNvSpPr>
          <p:nvPr>
            <p:ph idx="1"/>
          </p:nvPr>
        </p:nvSpPr>
        <p:spPr/>
        <p:txBody>
          <a:bodyPr/>
          <a:lstStyle/>
          <a:p/>
          <a:p>
            <a:pPr lvl="1" algn="l">
              <a:defRPr sz="2000" b="0">
                <a:solidFill>
                  <a:srgbClr val="222222"/>
                </a:solidFill>
              </a:defRPr>
            </a:pPr>
            <a:r>
              <a:t>Ensure traceability from predictions back to model versions and data</a:t>
            </a:r>
          </a:p>
          <a:p>
            <a:pPr lvl="1" algn="l">
              <a:defRPr sz="2000" b="0">
                <a:solidFill>
                  <a:srgbClr val="222222"/>
                </a:solidFill>
              </a:defRPr>
            </a:pPr>
            <a:r>
              <a:t>Maintain logs of key decisions, overrides, and manual interventions</a:t>
            </a:r>
          </a:p>
          <a:p>
            <a:pPr lvl="1" algn="l">
              <a:defRPr sz="2000" b="0">
                <a:solidFill>
                  <a:srgbClr val="222222"/>
                </a:solidFill>
              </a:defRPr>
            </a:pPr>
            <a:r>
              <a:t>Support audits with clear documentation and reproducible pipelines</a:t>
            </a:r>
          </a:p>
          <a:p>
            <a:pPr lvl="1" algn="l">
              <a:defRPr sz="2000" b="0">
                <a:solidFill>
                  <a:srgbClr val="222222"/>
                </a:solidFill>
              </a:defRPr>
            </a:pPr>
            <a:r>
              <a:t>Monitor emerging regulations and standards affecting ML systems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6.4 Responsible AI: Transparency, Explainability, and Ethics</a:t>
            </a:r>
          </a:p>
        </p:txBody>
      </p:sp>
      <p:sp>
        <p:nvSpPr>
          <p:cNvPr id="3" name="Content Placeholder 2"/>
          <p:cNvSpPr>
            <a:spLocks noGrp="1"/>
          </p:cNvSpPr>
          <p:nvPr>
            <p:ph idx="1"/>
          </p:nvPr>
        </p:nvSpPr>
        <p:spPr/>
        <p:txBody>
          <a:bodyPr/>
          <a:lstStyle/>
          <a:p/>
          <a:p>
            <a:pPr lvl="1" algn="l">
              <a:defRPr sz="2000" b="0">
                <a:solidFill>
                  <a:srgbClr val="222222"/>
                </a:solidFill>
              </a:defRPr>
            </a:pPr>
            <a:r>
              <a:t>Communicate model purpose, limitations, and intended use clearly</a:t>
            </a:r>
          </a:p>
          <a:p>
            <a:pPr lvl="1" algn="l">
              <a:defRPr sz="2000" b="0">
                <a:solidFill>
                  <a:srgbClr val="222222"/>
                </a:solidFill>
              </a:defRPr>
            </a:pPr>
            <a:r>
              <a:t>Provide explanations suitable for different audiences and contexts</a:t>
            </a:r>
          </a:p>
          <a:p>
            <a:pPr lvl="1" algn="l">
              <a:defRPr sz="2000" b="0">
                <a:solidFill>
                  <a:srgbClr val="222222"/>
                </a:solidFill>
              </a:defRPr>
            </a:pPr>
            <a:r>
              <a:t>Assess ethical implications and potential harms of model decisions</a:t>
            </a:r>
          </a:p>
          <a:p>
            <a:pPr lvl="1" algn="l">
              <a:defRPr sz="2000" b="0">
                <a:solidFill>
                  <a:srgbClr val="222222"/>
                </a:solidFill>
              </a:defRPr>
            </a:pPr>
            <a:r>
              <a:t>Engage diverse stakeholders in reviewing high‑impact systems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6.5 Risk Management and Change Control for ML Systems</a:t>
            </a:r>
          </a:p>
        </p:txBody>
      </p:sp>
      <p:sp>
        <p:nvSpPr>
          <p:cNvPr id="3" name="Content Placeholder 2"/>
          <p:cNvSpPr>
            <a:spLocks noGrp="1"/>
          </p:cNvSpPr>
          <p:nvPr>
            <p:ph idx="1"/>
          </p:nvPr>
        </p:nvSpPr>
        <p:spPr/>
        <p:txBody>
          <a:bodyPr/>
          <a:lstStyle/>
          <a:p/>
          <a:p>
            <a:pPr lvl="1" algn="l">
              <a:defRPr sz="2000" b="0">
                <a:solidFill>
                  <a:srgbClr val="222222"/>
                </a:solidFill>
              </a:defRPr>
            </a:pPr>
            <a:r>
              <a:t>Assess risk for each ML application based on impact and uncertainty</a:t>
            </a:r>
          </a:p>
          <a:p>
            <a:pPr lvl="1" algn="l">
              <a:defRPr sz="2000" b="0">
                <a:solidFill>
                  <a:srgbClr val="222222"/>
                </a:solidFill>
              </a:defRPr>
            </a:pPr>
            <a:r>
              <a:t>Tailor controls and review depth to the risk level</a:t>
            </a:r>
          </a:p>
          <a:p>
            <a:pPr lvl="1" algn="l">
              <a:defRPr sz="2000" b="0">
                <a:solidFill>
                  <a:srgbClr val="222222"/>
                </a:solidFill>
              </a:defRPr>
            </a:pPr>
            <a:r>
              <a:t>Implement structured change management for model updates</a:t>
            </a:r>
          </a:p>
          <a:p>
            <a:pPr lvl="1" algn="l">
              <a:defRPr sz="2000" b="0">
                <a:solidFill>
                  <a:srgbClr val="222222"/>
                </a:solidFill>
              </a:defRPr>
            </a:pPr>
            <a:r>
              <a:t>Maintain risk registers and periodically review mitigation plans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Topic 7: Capstone – End‑to‑End MLOps Project (4 hours)</a:t>
            </a:r>
          </a:p>
        </p:txBody>
      </p:sp>
      <p:sp>
        <p:nvSpPr>
          <p:cNvPr id="3" name="Content Placeholder 2"/>
          <p:cNvSpPr>
            <a:spLocks noGrp="1"/>
          </p:cNvSpPr>
          <p:nvPr>
            <p:ph idx="1"/>
          </p:nvPr>
        </p:nvSpPr>
        <p:spPr/>
        <p:txBody>
          <a:bodyPr/>
          <a:lstStyle/>
          <a:p/>
          <a:p>
            <a:pPr lvl="1" algn="l">
              <a:defRPr sz="2000" b="0">
                <a:solidFill>
                  <a:srgbClr val="222222"/>
                </a:solidFill>
              </a:defRPr>
            </a:pPr>
            <a:r>
              <a:t>7.1 Capstone project overview and objectives</a:t>
            </a:r>
          </a:p>
          <a:p>
            <a:pPr lvl="1" algn="l">
              <a:defRPr sz="2000" b="0">
                <a:solidFill>
                  <a:srgbClr val="222222"/>
                </a:solidFill>
              </a:defRPr>
            </a:pPr>
            <a:r>
              <a:t>7.2 Designing an end‑to‑end MLOps architecture</a:t>
            </a:r>
          </a:p>
          <a:p>
            <a:pPr lvl="1" algn="l">
              <a:defRPr sz="2000" b="0">
                <a:solidFill>
                  <a:srgbClr val="222222"/>
                </a:solidFill>
              </a:defRPr>
            </a:pPr>
            <a:r>
              <a:t>7.3 Implementing key pipeline components conceptually</a:t>
            </a:r>
          </a:p>
          <a:p>
            <a:pPr lvl="1" algn="l">
              <a:defRPr sz="2000" b="0">
                <a:solidFill>
                  <a:srgbClr val="222222"/>
                </a:solidFill>
              </a:defRPr>
            </a:pPr>
            <a:r>
              <a:t>7.4 Evaluating, presenting, and reflecting on MLOps designs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7.1 Capstone Project Goals and Setup</a:t>
            </a:r>
          </a:p>
        </p:txBody>
      </p:sp>
      <p:sp>
        <p:nvSpPr>
          <p:cNvPr id="3" name="Content Placeholder 2"/>
          <p:cNvSpPr>
            <a:spLocks noGrp="1"/>
          </p:cNvSpPr>
          <p:nvPr>
            <p:ph idx="1"/>
          </p:nvPr>
        </p:nvSpPr>
        <p:spPr/>
        <p:txBody>
          <a:bodyPr/>
          <a:lstStyle/>
          <a:p/>
          <a:p>
            <a:pPr lvl="1" algn="l">
              <a:defRPr sz="2000" b="0">
                <a:solidFill>
                  <a:srgbClr val="222222"/>
                </a:solidFill>
              </a:defRPr>
            </a:pPr>
            <a:r>
              <a:t>Select or be assigned a realistic ML use case for production</a:t>
            </a:r>
          </a:p>
          <a:p>
            <a:pPr lvl="1" algn="l">
              <a:defRPr sz="2000" b="0">
                <a:solidFill>
                  <a:srgbClr val="222222"/>
                </a:solidFill>
              </a:defRPr>
            </a:pPr>
            <a:r>
              <a:t>Clarify stakeholders, objectives, constraints, and success metrics</a:t>
            </a:r>
          </a:p>
          <a:p>
            <a:pPr lvl="1" algn="l">
              <a:defRPr sz="2000" b="0">
                <a:solidFill>
                  <a:srgbClr val="222222"/>
                </a:solidFill>
              </a:defRPr>
            </a:pPr>
            <a:r>
              <a:t>Scope the project to fit available time and resources</a:t>
            </a:r>
          </a:p>
          <a:p>
            <a:pPr lvl="1" algn="l">
              <a:defRPr sz="2000" b="0">
                <a:solidFill>
                  <a:srgbClr val="222222"/>
                </a:solidFill>
              </a:defRPr>
            </a:pPr>
            <a:r>
              <a:t>Plan collaboration and division of responsibilities within teams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7.2 Designing the End‑to‑End MLOps Architecture</a:t>
            </a:r>
          </a:p>
        </p:txBody>
      </p:sp>
      <p:sp>
        <p:nvSpPr>
          <p:cNvPr id="3" name="Content Placeholder 2"/>
          <p:cNvSpPr>
            <a:spLocks noGrp="1"/>
          </p:cNvSpPr>
          <p:nvPr>
            <p:ph idx="1"/>
          </p:nvPr>
        </p:nvSpPr>
        <p:spPr/>
        <p:txBody>
          <a:bodyPr/>
          <a:lstStyle/>
          <a:p/>
          <a:p>
            <a:pPr lvl="1" algn="l">
              <a:defRPr sz="2000" b="0">
                <a:solidFill>
                  <a:srgbClr val="222222"/>
                </a:solidFill>
              </a:defRPr>
            </a:pPr>
            <a:r>
              <a:t>Map data sources, feature pipelines, and storage layers</a:t>
            </a:r>
          </a:p>
          <a:p>
            <a:pPr lvl="1" algn="l">
              <a:defRPr sz="2000" b="0">
                <a:solidFill>
                  <a:srgbClr val="222222"/>
                </a:solidFill>
              </a:defRPr>
            </a:pPr>
            <a:r>
              <a:t>Define training, experimentation, and model registry workflows</a:t>
            </a:r>
          </a:p>
          <a:p>
            <a:pPr lvl="1" algn="l">
              <a:defRPr sz="2000" b="0">
                <a:solidFill>
                  <a:srgbClr val="222222"/>
                </a:solidFill>
              </a:defRPr>
            </a:pPr>
            <a:r>
              <a:t>Design deployment patterns suitable for the chosen use case</a:t>
            </a:r>
          </a:p>
          <a:p>
            <a:pPr lvl="1" algn="l">
              <a:defRPr sz="2000" b="0">
                <a:solidFill>
                  <a:srgbClr val="222222"/>
                </a:solidFill>
              </a:defRPr>
            </a:pPr>
            <a:r>
              <a:t>Plan monitoring, alerting, and retraining feedback loops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7.3 Implementing Key MLOps Components Conceptually</a:t>
            </a:r>
          </a:p>
        </p:txBody>
      </p:sp>
      <p:sp>
        <p:nvSpPr>
          <p:cNvPr id="3" name="Content Placeholder 2"/>
          <p:cNvSpPr>
            <a:spLocks noGrp="1"/>
          </p:cNvSpPr>
          <p:nvPr>
            <p:ph idx="1"/>
          </p:nvPr>
        </p:nvSpPr>
        <p:spPr/>
        <p:txBody>
          <a:bodyPr/>
          <a:lstStyle/>
          <a:p/>
          <a:p>
            <a:pPr lvl="1" algn="l">
              <a:defRPr sz="2000" b="0">
                <a:solidFill>
                  <a:srgbClr val="222222"/>
                </a:solidFill>
              </a:defRPr>
            </a:pPr>
            <a:r>
              <a:t>Outline CI/CD pipelines for data, models, and services</a:t>
            </a:r>
          </a:p>
          <a:p>
            <a:pPr lvl="1" algn="l">
              <a:defRPr sz="2000" b="0">
                <a:solidFill>
                  <a:srgbClr val="222222"/>
                </a:solidFill>
              </a:defRPr>
            </a:pPr>
            <a:r>
              <a:t>Describe experiment tracking and model registration flows</a:t>
            </a:r>
          </a:p>
          <a:p>
            <a:pPr lvl="1" algn="l">
              <a:defRPr sz="2000" b="0">
                <a:solidFill>
                  <a:srgbClr val="222222"/>
                </a:solidFill>
              </a:defRPr>
            </a:pPr>
            <a:r>
              <a:t>Sketch validation and testing steps for pipelines and models</a:t>
            </a:r>
          </a:p>
          <a:p>
            <a:pPr lvl="1" algn="l">
              <a:defRPr sz="2000" b="0">
                <a:solidFill>
                  <a:srgbClr val="222222"/>
                </a:solidFill>
              </a:defRPr>
            </a:pPr>
            <a:r>
              <a:t>Explain how environment promotion will be automated and controlled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7.4 Presenting and Reflecting on MLOps Designs</a:t>
            </a:r>
          </a:p>
        </p:txBody>
      </p:sp>
      <p:sp>
        <p:nvSpPr>
          <p:cNvPr id="3" name="Content Placeholder 2"/>
          <p:cNvSpPr>
            <a:spLocks noGrp="1"/>
          </p:cNvSpPr>
          <p:nvPr>
            <p:ph idx="1"/>
          </p:nvPr>
        </p:nvSpPr>
        <p:spPr/>
        <p:txBody>
          <a:bodyPr/>
          <a:lstStyle/>
          <a:p/>
          <a:p>
            <a:pPr lvl="1" algn="l">
              <a:defRPr sz="2000" b="0">
                <a:solidFill>
                  <a:srgbClr val="222222"/>
                </a:solidFill>
              </a:defRPr>
            </a:pPr>
            <a:r>
              <a:t>Present architectural choices and justify key trade‑offs</a:t>
            </a:r>
          </a:p>
          <a:p>
            <a:pPr lvl="1" algn="l">
              <a:defRPr sz="2000" b="0">
                <a:solidFill>
                  <a:srgbClr val="222222"/>
                </a:solidFill>
              </a:defRPr>
            </a:pPr>
            <a:r>
              <a:t>Discuss how monitoring and governance are integrated</a:t>
            </a:r>
          </a:p>
          <a:p>
            <a:pPr lvl="1" algn="l">
              <a:defRPr sz="2000" b="0">
                <a:solidFill>
                  <a:srgbClr val="222222"/>
                </a:solidFill>
              </a:defRPr>
            </a:pPr>
            <a:r>
              <a:t>Reflect on limitations, risks, and open questions</a:t>
            </a:r>
          </a:p>
          <a:p>
            <a:pPr lvl="1" algn="l">
              <a:defRPr sz="2000" b="0">
                <a:solidFill>
                  <a:srgbClr val="222222"/>
                </a:solidFill>
              </a:defRPr>
            </a:pPr>
            <a:r>
              <a:t>Capture lessons learned and next steps for real‑world adoption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600" b="1">
                <a:solidFill>
                  <a:srgbClr val="0B3D91"/>
                </a:solidFill>
              </a:defRPr>
            </a:pPr>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